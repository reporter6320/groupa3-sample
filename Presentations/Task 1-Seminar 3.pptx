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12192000" cy="6858000"/>
  <p:notesSz cx="6858000" cy="9144000"/>
  <p:defaultTextStyle>
    <a:defPPr>
      <a:defRPr lang="sv-S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8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DE6C8-AB1D-4204-BC9C-3366B0BF04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4088" y="889820"/>
            <a:ext cx="9989574" cy="3598606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7B9009-EE50-4EE5-B6EB-CD6EC83D3F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4088" y="4488426"/>
            <a:ext cx="6991776" cy="1302774"/>
          </a:xfrm>
        </p:spPr>
        <p:txBody>
          <a:bodyPr anchor="b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C8667E-058A-436F-B8EA-5B3A99D43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1EADE-8E88-4C7C-8AC5-FB148DE4940E}" type="datetime1">
              <a:rPr lang="en-US" smtClean="0"/>
              <a:t>11/9/2025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80305-1AD7-482D-BFFD-6CDB83AB3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5762A1-52E9-402D-B65E-DF193E44CE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52299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87CA6-BFD9-4CB1-8892-F6B062E82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CDA8C3-9C0C-4E52-9A62-E4DB159E6B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C3EC35-E02F-41FF-9232-F90692A90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B6794-849E-4626-908B-D15793550EFB}" type="datetime1">
              <a:rPr lang="en-US" smtClean="0"/>
              <a:t>11/9/2025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D13D38-5DF1-443B-8A12-71E834FDC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5E644A-4A37-4757-9809-5B035E287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53420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6578B-CD85-4BF1-A729-E8E8079B5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5383" y="1709738"/>
            <a:ext cx="10632067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8448C1-C13F-4826-8347-EEB00A6643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5383" y="4589463"/>
            <a:ext cx="10632067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06546A-957F-4C4D-9744-1177AD258E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B64E7-5594-42A3-ADBF-E95A7ACEAD64}" type="datetime1">
              <a:rPr lang="en-US" smtClean="0"/>
              <a:t>11/9/2025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DB149C-CC63-4E3A-A83D-EF637EB51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B94775-7982-41EC-B584-D51224D38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182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E4BD8-507D-48E4-A624-F16A741C3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A07E4-3A39-457C-A059-7DFB6039D9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04088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141E17-47CE-4A78-B0FA-0E9786DA67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81344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F02C13-D3ED-4044-9716-F29D79A184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62B0B-D248-4FFB-8695-AD7FA4B1284A}" type="datetime1">
              <a:rPr lang="en-US" smtClean="0"/>
              <a:t>11/9/2025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F334AD-FB29-4355-B5CF-85E61B4F3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5AA154-790C-4774-9C21-8C543E733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32587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7DD35-7673-4F88-86B0-634883B5E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7" y="929147"/>
            <a:ext cx="10689336" cy="7984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C820D7-3E0B-47C6-A583-C4C839C5AF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4088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839A7B-97D5-400F-B802-A0FF28FE9F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04088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E0ECA2-DBF1-4681-9DFA-93AFD1B371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81344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0EBBBB-517F-4ED7-9E51-CF0F7590B4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81344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511B5C7-1E37-478F-B4B0-C7202FFE4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78EFB-9159-4510-B73F-4F0409ADE937}" type="datetime1">
              <a:rPr lang="en-US" smtClean="0"/>
              <a:t>11/9/2025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53F7EF-507C-4CB3-86C5-8B34FFFC1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E3DEA6-E4EB-4C2A-8B4F-55EC965B6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94629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32964-A933-4B98-A141-A4B316DAF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684C9D-23DA-42B0-9DD3-7592F72E8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C9412-2452-4BED-A324-9D8C115361AD}" type="datetime1">
              <a:rPr lang="en-US" smtClean="0"/>
              <a:t>11/9/2025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BF8F05-876F-49D8-AE30-5BB2A91EC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3D20DA-9260-4577-BB51-789570A24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55938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2C1F24-E0A1-45A7-8EF5-92CD97993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18F62-D251-40E8-A23C-F4CFE9FEAB41}" type="datetime1">
              <a:rPr lang="en-US" smtClean="0"/>
              <a:t>11/9/2025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021C19-210E-46B0-9036-5D8AECC92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880FEF-487E-44DF-8615-DF2210419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83698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568EE-74C8-43A6-90BC-2DDD965CF6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9848"/>
            <a:ext cx="4093599" cy="131673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1C35AC-CAE3-48CF-A3E4-A075C9FDD7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1069848"/>
            <a:ext cx="6172200" cy="479120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9D03EA-5FAD-4609-A2B8-624E426847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1176"/>
            <a:ext cx="4093599" cy="331927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58D2EA-2191-4216-B64D-067BDFE12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76144-149E-4874-93A5-554A0357CF82}" type="datetime1">
              <a:rPr lang="en-US" smtClean="0"/>
              <a:t>11/9/2025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042128-DAB4-481C-BEE6-3523E8E88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50E382-C500-4A4C-A7C6-43860383A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17238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FE98B-EACF-4251-A8AF-0D9EDD17C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6800"/>
            <a:ext cx="4103431" cy="131752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05F473-761A-4002-AF70-9FF878D013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1066800"/>
            <a:ext cx="6172200" cy="47942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0C2E6A-F834-4540-BB00-E13CB45DC3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2700"/>
            <a:ext cx="4103431" cy="33162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C38EAB-AD63-415C-B263-BA1D8FBE3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A65D8-0540-4835-AE5C-25D29DBA01BE}" type="datetime1">
              <a:rPr lang="en-US" smtClean="0"/>
              <a:t>11/9/2025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2E5541-B6DE-45E8-BCFE-0DFC4F574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B78D45-289B-46AF-8CB9-E6150BEA1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38408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359C1-C098-4BF4-A55D-782F4E606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343C7E-1E8B-4D38-9B81-1AA2A8978E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A70B00-53AE-4D3F-91BE-A8D789ED9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C8B9C-477D-492A-96AD-1FC2CC997A73}" type="datetime1">
              <a:rPr lang="en-US" smtClean="0"/>
              <a:t>11/9/2025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647FC7-8124-4F70-A849-B6BCC5189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7CEBE4-50DC-47DB-B699-CCC024336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67740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B418279-D3B8-4C6A-AB74-9DE3777712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42322" y="997974"/>
            <a:ext cx="2349043" cy="498495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8F733C-9309-4197-BACA-207CDC8935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68927" y="997973"/>
            <a:ext cx="8473395" cy="498495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ACD4D0-5BE6-412D-B08B-5DFFD5935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D3AED5-E26D-4E29-B1B3-7847B6779594}" type="datetime1">
              <a:rPr lang="en-US" smtClean="0"/>
              <a:t>11/9/2025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021651-B786-4A39-A10F-F5231D0A2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504D2D-9379-40DE-9F45-3004BE54F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74697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A362AC-B59F-4AC7-B279-57DDD5336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6042DB-75BD-4EC1-B6D9-8A72EF940C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0635" y="2221992"/>
            <a:ext cx="10691265" cy="37398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DD1378-7C96-4079-B44C-3D86B46575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69448" y="6356350"/>
            <a:ext cx="25495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fld id="{E31BA835-12AC-4E8F-955A-EA3F4DE2791F}" type="datetime1">
              <a:rPr lang="en-US" smtClean="0"/>
              <a:t>11/9/2025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9B6B78-577F-43F5-BAEE-BF72484C98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04088" y="6356350"/>
            <a:ext cx="45397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CC75B8-AF8F-4D8A-9B3D-D1951A64BA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19012" y="6356350"/>
            <a:ext cx="67235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/>
                </a:solidFill>
              </a:defRPr>
            </a:lvl1pPr>
          </a:lstStyle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64F9B95-9045-48D2-B9F3-2927E98F54AA}"/>
              </a:ext>
            </a:extLst>
          </p:cNvPr>
          <p:cNvCxnSpPr>
            <a:cxnSpLocks/>
          </p:cNvCxnSpPr>
          <p:nvPr/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85AA86F-6A4D-4BCB-A045-D992CDC2959B}"/>
              </a:ext>
            </a:extLst>
          </p:cNvPr>
          <p:cNvCxnSpPr>
            <a:cxnSpLocks/>
          </p:cNvCxnSpPr>
          <p:nvPr/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749289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89" r:id="rId6"/>
    <p:sldLayoutId id="2147483685" r:id="rId7"/>
    <p:sldLayoutId id="2147483686" r:id="rId8"/>
    <p:sldLayoutId id="2147483687" r:id="rId9"/>
    <p:sldLayoutId id="2147483688" r:id="rId10"/>
    <p:sldLayoutId id="2147483690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kern="1200" cap="all" spc="3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3E93247-6229-44AB-A550-739E971E6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ubrik 1">
            <a:extLst>
              <a:ext uri="{FF2B5EF4-FFF2-40B4-BE49-F238E27FC236}">
                <a16:creationId xmlns:a16="http://schemas.microsoft.com/office/drawing/2014/main" id="{9F698481-DC83-DED0-01B7-A26E31AEC5A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3400" y="908651"/>
            <a:ext cx="4937004" cy="4058682"/>
          </a:xfrm>
        </p:spPr>
        <p:txBody>
          <a:bodyPr anchor="t">
            <a:normAutofit/>
          </a:bodyPr>
          <a:lstStyle/>
          <a:p>
            <a:r>
              <a:rPr lang="sv-SE" sz="6500"/>
              <a:t>Task 1-Seminar 3</a:t>
            </a:r>
          </a:p>
        </p:txBody>
      </p:sp>
      <p:sp>
        <p:nvSpPr>
          <p:cNvPr id="3" name="Underrubrik 2">
            <a:extLst>
              <a:ext uri="{FF2B5EF4-FFF2-40B4-BE49-F238E27FC236}">
                <a16:creationId xmlns:a16="http://schemas.microsoft.com/office/drawing/2014/main" id="{EBAB18C1-F562-6C92-85F4-CCF3B7555EA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3400" y="5103862"/>
            <a:ext cx="4172757" cy="845487"/>
          </a:xfrm>
        </p:spPr>
        <p:txBody>
          <a:bodyPr anchor="b">
            <a:normAutofit/>
          </a:bodyPr>
          <a:lstStyle/>
          <a:p>
            <a:r>
              <a:rPr lang="sv-SE" b="1" dirty="0"/>
              <a:t>The </a:t>
            </a:r>
            <a:r>
              <a:rPr lang="sv-SE" b="1" dirty="0" err="1"/>
              <a:t>EUxPancreas</a:t>
            </a:r>
            <a:r>
              <a:rPr lang="sv-SE" b="1" dirty="0"/>
              <a:t> </a:t>
            </a:r>
            <a:r>
              <a:rPr lang="sv-SE" b="1" dirty="0" err="1"/>
              <a:t>Cohort</a:t>
            </a:r>
            <a:r>
              <a:rPr lang="sv-SE" b="1" dirty="0"/>
              <a:t> </a:t>
            </a:r>
            <a:r>
              <a:rPr lang="sv-SE" b="1" dirty="0" err="1"/>
              <a:t>Study</a:t>
            </a:r>
            <a:endParaRPr lang="sv-SE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E2E603F-4A95-4FE8-BB06-211DFD75DB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6383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>
            <a:extLst>
              <a:ext uri="{FF2B5EF4-FFF2-40B4-BE49-F238E27FC236}">
                <a16:creationId xmlns:a16="http://schemas.microsoft.com/office/drawing/2014/main" id="{8F677841-F355-2A0E-8EFC-5D699613BBA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5417" r="33264"/>
          <a:stretch>
            <a:fillRect/>
          </a:stretch>
        </p:blipFill>
        <p:spPr>
          <a:xfrm>
            <a:off x="6326272" y="10"/>
            <a:ext cx="5865727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00520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61" name="Rectangle 1055">
            <a:extLst>
              <a:ext uri="{FF2B5EF4-FFF2-40B4-BE49-F238E27FC236}">
                <a16:creationId xmlns:a16="http://schemas.microsoft.com/office/drawing/2014/main" id="{578EB459-3385-4BF6-A9E1-154CBA2510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ubrik 1">
            <a:extLst>
              <a:ext uri="{FF2B5EF4-FFF2-40B4-BE49-F238E27FC236}">
                <a16:creationId xmlns:a16="http://schemas.microsoft.com/office/drawing/2014/main" id="{9563DD86-AAEB-C988-016D-C2FABBC45A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088" y="909637"/>
            <a:ext cx="4392302" cy="1316736"/>
          </a:xfrm>
        </p:spPr>
        <p:txBody>
          <a:bodyPr>
            <a:normAutofit/>
          </a:bodyPr>
          <a:lstStyle/>
          <a:p>
            <a:r>
              <a:rPr lang="sv-SE" b="1" i="1" dirty="0" err="1"/>
              <a:t>Explore</a:t>
            </a:r>
            <a:r>
              <a:rPr lang="sv-SE" b="1" i="1" dirty="0"/>
              <a:t> the </a:t>
            </a:r>
            <a:r>
              <a:rPr lang="sv-SE" b="1" i="1" dirty="0" err="1"/>
              <a:t>dataset</a:t>
            </a:r>
            <a:r>
              <a:rPr lang="sv-SE" b="1" i="1" dirty="0"/>
              <a:t>: </a:t>
            </a:r>
            <a:endParaRPr lang="sv-SE" dirty="0"/>
          </a:p>
        </p:txBody>
      </p:sp>
      <p:cxnSp>
        <p:nvCxnSpPr>
          <p:cNvPr id="1062" name="Straight Connector 1057">
            <a:extLst>
              <a:ext uri="{FF2B5EF4-FFF2-40B4-BE49-F238E27FC236}">
                <a16:creationId xmlns:a16="http://schemas.microsoft.com/office/drawing/2014/main" id="{B37A8173-5995-449D-8387-03E42038B9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1" name="Content Placeholder 1033">
            <a:extLst>
              <a:ext uri="{FF2B5EF4-FFF2-40B4-BE49-F238E27FC236}">
                <a16:creationId xmlns:a16="http://schemas.microsoft.com/office/drawing/2014/main" id="{9F16234B-1D06-A544-2EBB-8EAB641AE0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088" y="2226373"/>
            <a:ext cx="4392302" cy="3721985"/>
          </a:xfrm>
        </p:spPr>
        <p:txBody>
          <a:bodyPr>
            <a:normAutofit/>
          </a:bodyPr>
          <a:lstStyle/>
          <a:p>
            <a:r>
              <a:rPr lang="en-US" dirty="0"/>
              <a:t>The dataset contained 30 observations across 8 variables with no missing data. </a:t>
            </a:r>
          </a:p>
        </p:txBody>
      </p:sp>
      <p:pic>
        <p:nvPicPr>
          <p:cNvPr id="1026" name="Picture 2" descr="En bild som visar text, skärmbild, Teckensnitt, nummer&#10;&#10;AI-genererat innehåll kan vara felaktigt.">
            <a:extLst>
              <a:ext uri="{FF2B5EF4-FFF2-40B4-BE49-F238E27FC236}">
                <a16:creationId xmlns:a16="http://schemas.microsoft.com/office/drawing/2014/main" id="{599ED9B2-F947-4074-3038-BBCDE360AB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400709" y="2937929"/>
            <a:ext cx="2109607" cy="4113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En bild som visar text, skärmbild, Teckensnitt, linje&#10;&#10;AI-genererat innehåll kan vara felaktigt.">
            <a:extLst>
              <a:ext uri="{FF2B5EF4-FFF2-40B4-BE49-F238E27FC236}">
                <a16:creationId xmlns:a16="http://schemas.microsoft.com/office/drawing/2014/main" id="{9D1A7A79-601F-8A61-A0F6-F23FDFA062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400709" y="3585732"/>
            <a:ext cx="2109607" cy="3955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En bild som visar text, skärmbild, Teckensnitt, nummer&#10;&#10;AI-genererat innehåll kan vara felaktigt.">
            <a:extLst>
              <a:ext uri="{FF2B5EF4-FFF2-40B4-BE49-F238E27FC236}">
                <a16:creationId xmlns:a16="http://schemas.microsoft.com/office/drawing/2014/main" id="{E236685B-8E2E-8CF9-8662-51800BC570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739530" y="2420676"/>
            <a:ext cx="3652370" cy="20909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060" name="Straight Connector 1059">
            <a:extLst>
              <a:ext uri="{FF2B5EF4-FFF2-40B4-BE49-F238E27FC236}">
                <a16:creationId xmlns:a16="http://schemas.microsoft.com/office/drawing/2014/main" id="{F807C003-86ED-40E4-BC07-74FB68F286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856458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72" name="Straight Connector 2071">
            <a:extLst>
              <a:ext uri="{FF2B5EF4-FFF2-40B4-BE49-F238E27FC236}">
                <a16:creationId xmlns:a16="http://schemas.microsoft.com/office/drawing/2014/main" id="{F64F9B95-9045-48D2-B9F3-2927E98F54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74" name="Straight Connector 2073">
            <a:extLst>
              <a:ext uri="{FF2B5EF4-FFF2-40B4-BE49-F238E27FC236}">
                <a16:creationId xmlns:a16="http://schemas.microsoft.com/office/drawing/2014/main" id="{085AA86F-6A4D-4BCB-A045-D992CDC295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2076" name="Rectangle 2075">
            <a:extLst>
              <a:ext uri="{FF2B5EF4-FFF2-40B4-BE49-F238E27FC236}">
                <a16:creationId xmlns:a16="http://schemas.microsoft.com/office/drawing/2014/main" id="{33E93247-6229-44AB-A550-739E971E6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ubrik 1">
            <a:extLst>
              <a:ext uri="{FF2B5EF4-FFF2-40B4-BE49-F238E27FC236}">
                <a16:creationId xmlns:a16="http://schemas.microsoft.com/office/drawing/2014/main" id="{E65F68F1-390E-85FD-59E6-1A39F1E482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69770" y="5852162"/>
            <a:ext cx="5965190" cy="746854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b="1" i="1" dirty="0"/>
              <a:t>Explore the dataset: </a:t>
            </a:r>
            <a:endParaRPr lang="en-US" dirty="0"/>
          </a:p>
        </p:txBody>
      </p:sp>
      <p:sp>
        <p:nvSpPr>
          <p:cNvPr id="4" name="textruta 3">
            <a:extLst>
              <a:ext uri="{FF2B5EF4-FFF2-40B4-BE49-F238E27FC236}">
                <a16:creationId xmlns:a16="http://schemas.microsoft.com/office/drawing/2014/main" id="{C511C7BD-387F-3F2C-47E5-5F8CC92B7693}"/>
              </a:ext>
            </a:extLst>
          </p:cNvPr>
          <p:cNvSpPr txBox="1"/>
          <p:nvPr/>
        </p:nvSpPr>
        <p:spPr>
          <a:xfrm>
            <a:off x="8045583" y="5850988"/>
            <a:ext cx="2153787" cy="74685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r">
              <a:lnSpc>
                <a:spcPct val="110000"/>
              </a:lnSpc>
              <a:spcBef>
                <a:spcPts val="1000"/>
              </a:spcBef>
            </a:pPr>
            <a:r>
              <a:rPr lang="en-US" sz="2000" dirty="0"/>
              <a:t> nonnumerical values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A43F10C5-9013-F324-98E0-B3D7FFD84158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969770" y="1414750"/>
            <a:ext cx="8252460" cy="41881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078" name="Straight Connector 2077">
            <a:extLst>
              <a:ext uri="{FF2B5EF4-FFF2-40B4-BE49-F238E27FC236}">
                <a16:creationId xmlns:a16="http://schemas.microsoft.com/office/drawing/2014/main" id="{EE2E603F-4A95-4FE8-BB06-211DFD75DB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969770" y="5719083"/>
            <a:ext cx="82296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17926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83" name="Rectangle 3082">
            <a:extLst>
              <a:ext uri="{FF2B5EF4-FFF2-40B4-BE49-F238E27FC236}">
                <a16:creationId xmlns:a16="http://schemas.microsoft.com/office/drawing/2014/main" id="{E53615EE-C559-4E03-999B-5477F1626F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ubrik 1">
            <a:extLst>
              <a:ext uri="{FF2B5EF4-FFF2-40B4-BE49-F238E27FC236}">
                <a16:creationId xmlns:a16="http://schemas.microsoft.com/office/drawing/2014/main" id="{66C86B3C-5ADE-0383-6A05-51621A6EFB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088" y="909637"/>
            <a:ext cx="5958216" cy="1316736"/>
          </a:xfrm>
        </p:spPr>
        <p:txBody>
          <a:bodyPr>
            <a:normAutofit/>
          </a:bodyPr>
          <a:lstStyle/>
          <a:p>
            <a:r>
              <a:rPr lang="en-US" b="1" i="1" dirty="0"/>
              <a:t>Explore the dataset: </a:t>
            </a:r>
            <a:endParaRPr lang="sv-SE" dirty="0"/>
          </a:p>
        </p:txBody>
      </p:sp>
      <p:cxnSp>
        <p:nvCxnSpPr>
          <p:cNvPr id="3085" name="Straight Connector 3084">
            <a:extLst>
              <a:ext uri="{FF2B5EF4-FFF2-40B4-BE49-F238E27FC236}">
                <a16:creationId xmlns:a16="http://schemas.microsoft.com/office/drawing/2014/main" id="{799A8EBD-049C-48E6-97ED-C9102D78FC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2376"/>
            <a:ext cx="57150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80" name="Content Placeholder 3079">
            <a:extLst>
              <a:ext uri="{FF2B5EF4-FFF2-40B4-BE49-F238E27FC236}">
                <a16:creationId xmlns:a16="http://schemas.microsoft.com/office/drawing/2014/main" id="{6A10CF50-D7CF-911F-08FE-BD882CE180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088" y="2235251"/>
            <a:ext cx="5958216" cy="3713109"/>
          </a:xfrm>
        </p:spPr>
        <p:txBody>
          <a:bodyPr>
            <a:normAutofit/>
          </a:bodyPr>
          <a:lstStyle/>
          <a:p>
            <a:r>
              <a:rPr lang="en-US" dirty="0"/>
              <a:t>The correlation plot suggests that </a:t>
            </a:r>
            <a:r>
              <a:rPr lang="en-US" dirty="0" err="1"/>
              <a:t>AgeGroup</a:t>
            </a:r>
            <a:r>
              <a:rPr lang="en-US" dirty="0"/>
              <a:t> has a strong positive association with </a:t>
            </a:r>
            <a:r>
              <a:rPr lang="en-US" dirty="0" err="1"/>
              <a:t>NewCases</a:t>
            </a:r>
            <a:r>
              <a:rPr lang="en-US" dirty="0"/>
              <a:t>, while </a:t>
            </a:r>
            <a:r>
              <a:rPr lang="en-US" dirty="0" err="1"/>
              <a:t>CLIstd</a:t>
            </a:r>
            <a:r>
              <a:rPr lang="en-US" dirty="0"/>
              <a:t> (composite lifestyle index) is negatively correlated, suggesting protective effects of healthier lifestyles</a:t>
            </a:r>
          </a:p>
        </p:txBody>
      </p:sp>
      <p:pic>
        <p:nvPicPr>
          <p:cNvPr id="3076" name="Picture 4">
            <a:extLst>
              <a:ext uri="{FF2B5EF4-FFF2-40B4-BE49-F238E27FC236}">
                <a16:creationId xmlns:a16="http://schemas.microsoft.com/office/drawing/2014/main" id="{EEE1C6BE-9914-1782-B063-5D94B613FB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315200" y="978175"/>
            <a:ext cx="4076700" cy="20791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3087" name="Straight Connector 3086">
            <a:extLst>
              <a:ext uri="{FF2B5EF4-FFF2-40B4-BE49-F238E27FC236}">
                <a16:creationId xmlns:a16="http://schemas.microsoft.com/office/drawing/2014/main" id="{07AB7C5C-C091-4C25-B1BD-93E2F6948C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38546"/>
            <a:ext cx="57150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074" name="Picture 2">
            <a:extLst>
              <a:ext uri="{FF2B5EF4-FFF2-40B4-BE49-F238E27FC236}">
                <a16:creationId xmlns:a16="http://schemas.microsoft.com/office/drawing/2014/main" id="{11DF8E0E-84BB-3FEC-90BF-482DAC1959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315200" y="4217658"/>
            <a:ext cx="4076700" cy="1305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110280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118" name="Straight Connector 4117">
            <a:extLst>
              <a:ext uri="{FF2B5EF4-FFF2-40B4-BE49-F238E27FC236}">
                <a16:creationId xmlns:a16="http://schemas.microsoft.com/office/drawing/2014/main" id="{F64F9B95-9045-48D2-B9F3-2927E98F54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20" name="Straight Connector 4119">
            <a:extLst>
              <a:ext uri="{FF2B5EF4-FFF2-40B4-BE49-F238E27FC236}">
                <a16:creationId xmlns:a16="http://schemas.microsoft.com/office/drawing/2014/main" id="{085AA86F-6A4D-4BCB-A045-D992CDC295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4122" name="Rectangle 4121">
            <a:extLst>
              <a:ext uri="{FF2B5EF4-FFF2-40B4-BE49-F238E27FC236}">
                <a16:creationId xmlns:a16="http://schemas.microsoft.com/office/drawing/2014/main" id="{341BFA31-6544-45C2-9DA0-9E1C5E0B19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ubrik 1">
            <a:extLst>
              <a:ext uri="{FF2B5EF4-FFF2-40B4-BE49-F238E27FC236}">
                <a16:creationId xmlns:a16="http://schemas.microsoft.com/office/drawing/2014/main" id="{8349DD5F-BAF5-F101-E241-5629043A69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7700" y="871759"/>
            <a:ext cx="10925176" cy="112887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5400" b="1" i="1" dirty="0"/>
              <a:t>Explore the dataset: </a:t>
            </a:r>
            <a:endParaRPr lang="en-US" sz="5400" dirty="0"/>
          </a:p>
        </p:txBody>
      </p:sp>
      <p:cxnSp>
        <p:nvCxnSpPr>
          <p:cNvPr id="4124" name="Straight Connector 4123">
            <a:extLst>
              <a:ext uri="{FF2B5EF4-FFF2-40B4-BE49-F238E27FC236}">
                <a16:creationId xmlns:a16="http://schemas.microsoft.com/office/drawing/2014/main" id="{DC36F877-5419-44C1-A2CD-376BDDDC3E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098" name="Picture 2">
            <a:extLst>
              <a:ext uri="{FF2B5EF4-FFF2-40B4-BE49-F238E27FC236}">
                <a16:creationId xmlns:a16="http://schemas.microsoft.com/office/drawing/2014/main" id="{804E40CA-CE71-34FF-068E-E8B9B2411ACE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00099" y="3036171"/>
            <a:ext cx="5085200" cy="27332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>
            <a:extLst>
              <a:ext uri="{FF2B5EF4-FFF2-40B4-BE49-F238E27FC236}">
                <a16:creationId xmlns:a16="http://schemas.microsoft.com/office/drawing/2014/main" id="{75398D4B-8AC3-0133-8C3E-5194C35A16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253514" y="3101369"/>
            <a:ext cx="5128862" cy="26028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4126" name="Straight Connector 4125">
            <a:extLst>
              <a:ext uri="{FF2B5EF4-FFF2-40B4-BE49-F238E27FC236}">
                <a16:creationId xmlns:a16="http://schemas.microsoft.com/office/drawing/2014/main" id="{44B21692-652C-4371-95C5-05248EF342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7890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631781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138" name="Straight Connector 5137">
            <a:extLst>
              <a:ext uri="{FF2B5EF4-FFF2-40B4-BE49-F238E27FC236}">
                <a16:creationId xmlns:a16="http://schemas.microsoft.com/office/drawing/2014/main" id="{F64F9B95-9045-48D2-B9F3-2927E98F54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40" name="Straight Connector 5139">
            <a:extLst>
              <a:ext uri="{FF2B5EF4-FFF2-40B4-BE49-F238E27FC236}">
                <a16:creationId xmlns:a16="http://schemas.microsoft.com/office/drawing/2014/main" id="{085AA86F-6A4D-4BCB-A045-D992CDC295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5142" name="Rectangle 5141">
            <a:extLst>
              <a:ext uri="{FF2B5EF4-FFF2-40B4-BE49-F238E27FC236}">
                <a16:creationId xmlns:a16="http://schemas.microsoft.com/office/drawing/2014/main" id="{33E93247-6229-44AB-A550-739E971E6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ubrik 1">
            <a:extLst>
              <a:ext uri="{FF2B5EF4-FFF2-40B4-BE49-F238E27FC236}">
                <a16:creationId xmlns:a16="http://schemas.microsoft.com/office/drawing/2014/main" id="{3508ED6E-044D-4208-9870-E1E182E8EE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899024"/>
            <a:ext cx="3076032" cy="3914947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b="1" i="1" dirty="0"/>
              <a:t>Explore the dataset:</a:t>
            </a:r>
            <a:endParaRPr lang="en-US" dirty="0"/>
          </a:p>
        </p:txBody>
      </p:sp>
      <p:cxnSp>
        <p:nvCxnSpPr>
          <p:cNvPr id="5144" name="Straight Connector 5143">
            <a:extLst>
              <a:ext uri="{FF2B5EF4-FFF2-40B4-BE49-F238E27FC236}">
                <a16:creationId xmlns:a16="http://schemas.microsoft.com/office/drawing/2014/main" id="{EE2E603F-4A95-4FE8-BB06-211DFD75DB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3716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122" name="Picture 2">
            <a:extLst>
              <a:ext uri="{FF2B5EF4-FFF2-40B4-BE49-F238E27FC236}">
                <a16:creationId xmlns:a16="http://schemas.microsoft.com/office/drawing/2014/main" id="{522E1B75-0544-3DB7-8AD8-CB5C07998667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038600" y="1452802"/>
            <a:ext cx="7353299" cy="39523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428649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182" name="Straight Connector 6176">
            <a:extLst>
              <a:ext uri="{FF2B5EF4-FFF2-40B4-BE49-F238E27FC236}">
                <a16:creationId xmlns:a16="http://schemas.microsoft.com/office/drawing/2014/main" id="{F64F9B95-9045-48D2-B9F3-2927E98F54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84" name="Straight Connector 6178">
            <a:extLst>
              <a:ext uri="{FF2B5EF4-FFF2-40B4-BE49-F238E27FC236}">
                <a16:creationId xmlns:a16="http://schemas.microsoft.com/office/drawing/2014/main" id="{085AA86F-6A4D-4BCB-A045-D992CDC295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6181" name="Rectangle 6180">
            <a:extLst>
              <a:ext uri="{FF2B5EF4-FFF2-40B4-BE49-F238E27FC236}">
                <a16:creationId xmlns:a16="http://schemas.microsoft.com/office/drawing/2014/main" id="{33E93247-6229-44AB-A550-739E971E6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ubrik 1">
            <a:extLst>
              <a:ext uri="{FF2B5EF4-FFF2-40B4-BE49-F238E27FC236}">
                <a16:creationId xmlns:a16="http://schemas.microsoft.com/office/drawing/2014/main" id="{6D75622E-E69C-4B4D-05F4-4EE5AD34AD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42630" y="448181"/>
            <a:ext cx="7445661" cy="1146939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5400" b="1" i="1"/>
              <a:t>Explore the dataset:</a:t>
            </a:r>
            <a:endParaRPr lang="en-US" sz="5400"/>
          </a:p>
        </p:txBody>
      </p:sp>
      <p:sp>
        <p:nvSpPr>
          <p:cNvPr id="6172" name="Content Placeholder 6160">
            <a:extLst>
              <a:ext uri="{FF2B5EF4-FFF2-40B4-BE49-F238E27FC236}">
                <a16:creationId xmlns:a16="http://schemas.microsoft.com/office/drawing/2014/main" id="{F3754AD4-1AA5-DD70-D8BF-6BAD1B31BD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0634" y="661358"/>
            <a:ext cx="2228409" cy="3529642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 algn="r">
              <a:buNone/>
            </a:pPr>
            <a:r>
              <a:rPr lang="en-US" dirty="0" err="1"/>
              <a:t>NewCases</a:t>
            </a:r>
            <a:r>
              <a:rPr lang="en-US" dirty="0"/>
              <a:t> are right-skewed, supporting Poisson modeling.</a:t>
            </a:r>
            <a:br>
              <a:rPr lang="en-US" dirty="0"/>
            </a:br>
            <a:endParaRPr lang="en-US" dirty="0"/>
          </a:p>
        </p:txBody>
      </p:sp>
      <p:cxnSp>
        <p:nvCxnSpPr>
          <p:cNvPr id="6183" name="Straight Connector 6182">
            <a:extLst>
              <a:ext uri="{FF2B5EF4-FFF2-40B4-BE49-F238E27FC236}">
                <a16:creationId xmlns:a16="http://schemas.microsoft.com/office/drawing/2014/main" id="{F9600FFC-92AF-4AD3-9595-B0E23476BD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3195590" y="661358"/>
            <a:ext cx="0" cy="576072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146" name="Picture 2" descr="En bild som visar skärmbild, text, diagram, Rektangel&#10;&#10;AI-genererat innehåll kan vara felaktigt.">
            <a:extLst>
              <a:ext uri="{FF2B5EF4-FFF2-40B4-BE49-F238E27FC236}">
                <a16:creationId xmlns:a16="http://schemas.microsoft.com/office/drawing/2014/main" id="{64E39D57-B2DE-BCBA-F20E-AF2149E38D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734996" y="1748634"/>
            <a:ext cx="7339808" cy="45690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960893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8DACA0C3-B5D2-BA2D-E415-D86024C2F3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 err="1"/>
              <a:t>Summary</a:t>
            </a:r>
            <a:r>
              <a:rPr lang="sv-SE" dirty="0"/>
              <a:t> </a:t>
            </a:r>
            <a:r>
              <a:rPr lang="sv-SE" dirty="0" err="1"/>
              <a:t>of</a:t>
            </a:r>
            <a:r>
              <a:rPr lang="sv-SE" dirty="0"/>
              <a:t> </a:t>
            </a:r>
            <a:r>
              <a:rPr lang="sv-SE" dirty="0" err="1"/>
              <a:t>exploration</a:t>
            </a:r>
            <a:endParaRPr lang="sv-SE" dirty="0"/>
          </a:p>
        </p:txBody>
      </p: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717AE0EF-6F7E-D70F-5CD1-AFEA8EC55C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NewCases</a:t>
            </a:r>
            <a:r>
              <a:rPr lang="en-US" dirty="0"/>
              <a:t> follows a count distribution</a:t>
            </a:r>
          </a:p>
          <a:p>
            <a:r>
              <a:rPr lang="en-US" dirty="0"/>
              <a:t>Higher age groups showed significantly higher incidence rates</a:t>
            </a:r>
          </a:p>
          <a:p>
            <a:r>
              <a:rPr lang="en-US" dirty="0"/>
              <a:t>Healthier lifestyle scores (</a:t>
            </a:r>
            <a:r>
              <a:rPr lang="en-US" dirty="0" err="1"/>
              <a:t>CLIstd</a:t>
            </a:r>
            <a:r>
              <a:rPr lang="en-US" dirty="0"/>
              <a:t>) were negatively associated with new cases</a:t>
            </a:r>
          </a:p>
          <a:p>
            <a:r>
              <a:rPr lang="en-US" dirty="0"/>
              <a:t>Regional differences were observed in median BMI</a:t>
            </a:r>
          </a:p>
        </p:txBody>
      </p:sp>
    </p:spTree>
    <p:extLst>
      <p:ext uri="{BB962C8B-B14F-4D97-AF65-F5344CB8AC3E}">
        <p14:creationId xmlns:p14="http://schemas.microsoft.com/office/powerpoint/2010/main" val="41351874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660EB578-C970-4186-B93C-45851BBC6E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ubrik 1">
            <a:extLst>
              <a:ext uri="{FF2B5EF4-FFF2-40B4-BE49-F238E27FC236}">
                <a16:creationId xmlns:a16="http://schemas.microsoft.com/office/drawing/2014/main" id="{E2898719-9232-C521-3AFA-A9E737D94E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66968" y="914400"/>
            <a:ext cx="6627924" cy="1307592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1900" b="1" i="1" dirty="0"/>
              <a:t>Develop a model to examine the trends in new cases of pancreatic cancer across the recorded population variables and </a:t>
            </a:r>
            <a:r>
              <a:rPr lang="en-US" sz="1900" b="1" i="1" dirty="0" err="1"/>
              <a:t>Analyse</a:t>
            </a:r>
            <a:r>
              <a:rPr lang="en-US" sz="1900" b="1" i="1" dirty="0"/>
              <a:t> the model outputs and examine model performance:</a:t>
            </a:r>
            <a:endParaRPr lang="sv-SE" sz="1900" dirty="0"/>
          </a:p>
        </p:txBody>
      </p:sp>
      <p:pic>
        <p:nvPicPr>
          <p:cNvPr id="5" name="Picture 4" descr="Kemiska formler skrivs på papper">
            <a:extLst>
              <a:ext uri="{FF2B5EF4-FFF2-40B4-BE49-F238E27FC236}">
                <a16:creationId xmlns:a16="http://schemas.microsoft.com/office/drawing/2014/main" id="{77854FF1-C828-1B1F-D6CF-FBBBAB0A648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2567" r="33024" b="1"/>
          <a:stretch>
            <a:fillRect/>
          </a:stretch>
        </p:blipFill>
        <p:spPr>
          <a:xfrm>
            <a:off x="20" y="-17929"/>
            <a:ext cx="4206220" cy="6875929"/>
          </a:xfrm>
          <a:prstGeom prst="rect">
            <a:avLst/>
          </a:prstGeom>
        </p:spPr>
      </p:pic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CDF57B02-07BB-407B-BB36-06D9C64A67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917665" y="722376"/>
            <a:ext cx="6476356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090767AB-20D6-4ED1-CDD7-3C1E02DA3B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66968" y="2221992"/>
            <a:ext cx="6627924" cy="3739896"/>
          </a:xfrm>
        </p:spPr>
        <p:txBody>
          <a:bodyPr>
            <a:normAutofit/>
          </a:bodyPr>
          <a:lstStyle/>
          <a:p>
            <a:r>
              <a:rPr lang="en-US" dirty="0"/>
              <a:t>Since the outcome variable (</a:t>
            </a:r>
            <a:r>
              <a:rPr lang="en-US" dirty="0" err="1"/>
              <a:t>NewCases</a:t>
            </a:r>
            <a:r>
              <a:rPr lang="en-US" dirty="0"/>
              <a:t>) represents count data and is approximately Poisson-distributed, we used a Poisson GLM with a log link. The population size was included as an offset to account for varying subgroup sizes</a:t>
            </a:r>
            <a:endParaRPr lang="sv-SE" dirty="0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C6855964-C920-48EB-8804-74291211C8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917665" y="6144768"/>
            <a:ext cx="6476356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103784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193" name="Rectangle 7180">
            <a:extLst>
              <a:ext uri="{FF2B5EF4-FFF2-40B4-BE49-F238E27FC236}">
                <a16:creationId xmlns:a16="http://schemas.microsoft.com/office/drawing/2014/main" id="{578EB459-3385-4BF6-A9E1-154CBA2510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ubrik 1">
            <a:extLst>
              <a:ext uri="{FF2B5EF4-FFF2-40B4-BE49-F238E27FC236}">
                <a16:creationId xmlns:a16="http://schemas.microsoft.com/office/drawing/2014/main" id="{9AA28D3A-BFFA-5199-B00E-5557CC938F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909637"/>
            <a:ext cx="4397556" cy="1316736"/>
          </a:xfrm>
        </p:spPr>
        <p:txBody>
          <a:bodyPr>
            <a:normAutofit/>
          </a:bodyPr>
          <a:lstStyle/>
          <a:p>
            <a:r>
              <a:rPr lang="sv-SE"/>
              <a:t>Model 1</a:t>
            </a:r>
            <a:endParaRPr lang="sv-SE" dirty="0"/>
          </a:p>
        </p:txBody>
      </p:sp>
      <p:cxnSp>
        <p:nvCxnSpPr>
          <p:cNvPr id="7194" name="Straight Connector 7182">
            <a:extLst>
              <a:ext uri="{FF2B5EF4-FFF2-40B4-BE49-F238E27FC236}">
                <a16:creationId xmlns:a16="http://schemas.microsoft.com/office/drawing/2014/main" id="{1DC20223-0542-4FF7-8F2F-136889161E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6383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78" name="Content Placeholder 7177">
            <a:extLst>
              <a:ext uri="{FF2B5EF4-FFF2-40B4-BE49-F238E27FC236}">
                <a16:creationId xmlns:a16="http://schemas.microsoft.com/office/drawing/2014/main" id="{5E22552A-2932-573C-F0F0-1D700B2E43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4088" y="2226373"/>
            <a:ext cx="4397554" cy="3983928"/>
          </a:xfrm>
        </p:spPr>
        <p:txBody>
          <a:bodyPr>
            <a:normAutofit/>
          </a:bodyPr>
          <a:lstStyle/>
          <a:p>
            <a:r>
              <a:rPr lang="en-US" dirty="0"/>
              <a:t>All predictors were included. </a:t>
            </a:r>
            <a:r>
              <a:rPr lang="en-US" dirty="0" err="1"/>
              <a:t>AgeGroup</a:t>
            </a:r>
            <a:r>
              <a:rPr lang="en-US" dirty="0"/>
              <a:t> and </a:t>
            </a:r>
            <a:r>
              <a:rPr lang="en-US" dirty="0" err="1"/>
              <a:t>CLIstd</a:t>
            </a:r>
            <a:r>
              <a:rPr lang="en-US" dirty="0"/>
              <a:t> were significant (p &lt; 0.05), while BMI, region and </a:t>
            </a:r>
            <a:r>
              <a:rPr lang="en-US" dirty="0" err="1"/>
              <a:t>SmokingPrevalence</a:t>
            </a:r>
            <a:r>
              <a:rPr lang="en-US" dirty="0"/>
              <a:t> were not</a:t>
            </a:r>
          </a:p>
          <a:p>
            <a:r>
              <a:rPr lang="en-US" dirty="0" err="1"/>
              <a:t>DHARMa</a:t>
            </a:r>
            <a:r>
              <a:rPr lang="en-US" dirty="0"/>
              <a:t> residual diagnostics showed no overdispersion and a uniform distribution of simulated residuals, indicating a good model fit.</a:t>
            </a:r>
          </a:p>
        </p:txBody>
      </p:sp>
      <p:pic>
        <p:nvPicPr>
          <p:cNvPr id="7174" name="Picture 6" descr="En bild som visar text, diagram, Teckensnitt, skärmbild&#10;&#10;AI-genererat innehåll kan vara felaktigt.">
            <a:extLst>
              <a:ext uri="{FF2B5EF4-FFF2-40B4-BE49-F238E27FC236}">
                <a16:creationId xmlns:a16="http://schemas.microsoft.com/office/drawing/2014/main" id="{7BE833AF-A096-6006-D742-DE1ECF48DC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727208" y="737055"/>
            <a:ext cx="2659223" cy="1961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0" name="Picture 2" descr="En bild som visar text, skärmbild, Teckensnitt, nummer&#10;&#10;AI-genererat innehåll kan vara felaktigt.">
            <a:extLst>
              <a:ext uri="{FF2B5EF4-FFF2-40B4-BE49-F238E27FC236}">
                <a16:creationId xmlns:a16="http://schemas.microsoft.com/office/drawing/2014/main" id="{49F2C648-F6C3-C5AD-70BE-AB0FCE2DFF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732678" y="723900"/>
            <a:ext cx="2230144" cy="19848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2" name="Picture 4" descr="En bild som visar text, skärmbild, Teckensnitt, linje&#10;&#10;AI-genererat innehåll kan vara felaktigt.">
            <a:extLst>
              <a:ext uri="{FF2B5EF4-FFF2-40B4-BE49-F238E27FC236}">
                <a16:creationId xmlns:a16="http://schemas.microsoft.com/office/drawing/2014/main" id="{9FE50D74-F120-5F2D-2363-5F45A50C7B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714999" y="2983043"/>
            <a:ext cx="5676901" cy="10076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679417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207" name="Rectangle 8202">
            <a:extLst>
              <a:ext uri="{FF2B5EF4-FFF2-40B4-BE49-F238E27FC236}">
                <a16:creationId xmlns:a16="http://schemas.microsoft.com/office/drawing/2014/main" id="{578EB459-3385-4BF6-A9E1-154CBA2510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ubrik 1">
            <a:extLst>
              <a:ext uri="{FF2B5EF4-FFF2-40B4-BE49-F238E27FC236}">
                <a16:creationId xmlns:a16="http://schemas.microsoft.com/office/drawing/2014/main" id="{01A31A50-E081-87A7-E0F7-31E5C6C248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909637"/>
            <a:ext cx="4397556" cy="1316736"/>
          </a:xfrm>
        </p:spPr>
        <p:txBody>
          <a:bodyPr>
            <a:normAutofit/>
          </a:bodyPr>
          <a:lstStyle/>
          <a:p>
            <a:r>
              <a:rPr lang="sv-SE" dirty="0" err="1"/>
              <a:t>Model</a:t>
            </a:r>
            <a:r>
              <a:rPr lang="sv-SE" dirty="0"/>
              <a:t> 2</a:t>
            </a:r>
          </a:p>
        </p:txBody>
      </p:sp>
      <p:cxnSp>
        <p:nvCxnSpPr>
          <p:cNvPr id="8208" name="Straight Connector 8204">
            <a:extLst>
              <a:ext uri="{FF2B5EF4-FFF2-40B4-BE49-F238E27FC236}">
                <a16:creationId xmlns:a16="http://schemas.microsoft.com/office/drawing/2014/main" id="{1DC20223-0542-4FF7-8F2F-136889161E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6383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858A463C-48DF-E7F5-E28F-BD5367ED97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4088" y="2226373"/>
            <a:ext cx="4397554" cy="3983928"/>
          </a:xfrm>
        </p:spPr>
        <p:txBody>
          <a:bodyPr>
            <a:normAutofit/>
          </a:bodyPr>
          <a:lstStyle/>
          <a:p>
            <a:r>
              <a:rPr lang="en-US" dirty="0"/>
              <a:t>Only </a:t>
            </a:r>
            <a:r>
              <a:rPr lang="en-US" dirty="0" err="1"/>
              <a:t>AgeGroup</a:t>
            </a:r>
            <a:r>
              <a:rPr lang="en-US" dirty="0"/>
              <a:t> were significant (p &lt; 0.05), while BMI, sex, region, </a:t>
            </a:r>
            <a:r>
              <a:rPr lang="en-US" dirty="0" err="1"/>
              <a:t>CLIstd</a:t>
            </a:r>
            <a:r>
              <a:rPr lang="en-US" dirty="0"/>
              <a:t>, </a:t>
            </a:r>
            <a:r>
              <a:rPr lang="en-US" dirty="0" err="1"/>
              <a:t>SmokingPrevalence</a:t>
            </a:r>
            <a:r>
              <a:rPr lang="en-US" dirty="0"/>
              <a:t> and the interaction term were not significant. </a:t>
            </a:r>
            <a:r>
              <a:rPr lang="en-US" dirty="0" err="1"/>
              <a:t>DHARMa</a:t>
            </a:r>
            <a:r>
              <a:rPr lang="en-US" dirty="0"/>
              <a:t> residual diagnostics showed no overdispersion and a uniform distribution of simulated residuals, indicating a good model fit.</a:t>
            </a:r>
            <a:br>
              <a:rPr lang="en-US" dirty="0"/>
            </a:br>
            <a:endParaRPr lang="sv-SE" dirty="0"/>
          </a:p>
        </p:txBody>
      </p:sp>
      <p:pic>
        <p:nvPicPr>
          <p:cNvPr id="8198" name="Picture 6" descr="En bild som visar text, diagram, Teckensnitt, linje&#10;&#10;AI-genererat innehåll kan vara felaktigt.">
            <a:extLst>
              <a:ext uri="{FF2B5EF4-FFF2-40B4-BE49-F238E27FC236}">
                <a16:creationId xmlns:a16="http://schemas.microsoft.com/office/drawing/2014/main" id="{B40E8EEB-ED87-2A89-5110-52469D2B11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727208" y="1042865"/>
            <a:ext cx="2659223" cy="16553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194" name="Picture 2" descr="En bild som visar text, skärmbild, Teckensnitt, dokument&#10;&#10;AI-genererat innehåll kan vara felaktigt.">
            <a:extLst>
              <a:ext uri="{FF2B5EF4-FFF2-40B4-BE49-F238E27FC236}">
                <a16:creationId xmlns:a16="http://schemas.microsoft.com/office/drawing/2014/main" id="{FD432A68-9DB0-170D-3C0F-B9B2E5EC9A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732678" y="723900"/>
            <a:ext cx="2281411" cy="19848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196" name="Picture 4" descr="En bild som visar text, skärmbild, Teckensnitt, algebra&#10;&#10;AI-genererat innehåll kan vara felaktigt.">
            <a:extLst>
              <a:ext uri="{FF2B5EF4-FFF2-40B4-BE49-F238E27FC236}">
                <a16:creationId xmlns:a16="http://schemas.microsoft.com/office/drawing/2014/main" id="{D2DA3568-6790-FEA9-11AD-506385759B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714999" y="2983043"/>
            <a:ext cx="5676901" cy="9650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241427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229" name="Rectangle 9228">
            <a:extLst>
              <a:ext uri="{FF2B5EF4-FFF2-40B4-BE49-F238E27FC236}">
                <a16:creationId xmlns:a16="http://schemas.microsoft.com/office/drawing/2014/main" id="{578EB459-3385-4BF6-A9E1-154CBA2510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ubrik 1">
            <a:extLst>
              <a:ext uri="{FF2B5EF4-FFF2-40B4-BE49-F238E27FC236}">
                <a16:creationId xmlns:a16="http://schemas.microsoft.com/office/drawing/2014/main" id="{6E4B6715-5F4F-55B8-8046-92E0EBC6D4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909637"/>
            <a:ext cx="4397556" cy="1316736"/>
          </a:xfrm>
        </p:spPr>
        <p:txBody>
          <a:bodyPr>
            <a:normAutofit/>
          </a:bodyPr>
          <a:lstStyle/>
          <a:p>
            <a:r>
              <a:rPr lang="sv-SE" dirty="0" err="1"/>
              <a:t>Model</a:t>
            </a:r>
            <a:r>
              <a:rPr lang="sv-SE" dirty="0"/>
              <a:t> 3</a:t>
            </a:r>
          </a:p>
        </p:txBody>
      </p:sp>
      <p:cxnSp>
        <p:nvCxnSpPr>
          <p:cNvPr id="9231" name="Straight Connector 9230">
            <a:extLst>
              <a:ext uri="{FF2B5EF4-FFF2-40B4-BE49-F238E27FC236}">
                <a16:creationId xmlns:a16="http://schemas.microsoft.com/office/drawing/2014/main" id="{1DC20223-0542-4FF7-8F2F-136889161E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6383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226" name="Content Placeholder 9225">
            <a:extLst>
              <a:ext uri="{FF2B5EF4-FFF2-40B4-BE49-F238E27FC236}">
                <a16:creationId xmlns:a16="http://schemas.microsoft.com/office/drawing/2014/main" id="{C6AB7948-EEE3-67EF-608A-8BA3E18943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4088" y="2226373"/>
            <a:ext cx="4397554" cy="3983928"/>
          </a:xfrm>
        </p:spPr>
        <p:txBody>
          <a:bodyPr>
            <a:normAutofit/>
          </a:bodyPr>
          <a:lstStyle/>
          <a:p>
            <a:r>
              <a:rPr lang="en-US" dirty="0"/>
              <a:t>In Model 3, </a:t>
            </a:r>
            <a:r>
              <a:rPr lang="en-US" dirty="0" err="1"/>
              <a:t>AgeGroup</a:t>
            </a:r>
            <a:r>
              <a:rPr lang="en-US" dirty="0"/>
              <a:t>, BMI and </a:t>
            </a:r>
            <a:r>
              <a:rPr lang="en-US" dirty="0" err="1"/>
              <a:t>SmokingPrevalence</a:t>
            </a:r>
            <a:r>
              <a:rPr lang="en-US" dirty="0"/>
              <a:t> were significant (p &lt; 0.05), while, sex, </a:t>
            </a:r>
            <a:r>
              <a:rPr lang="en-US" dirty="0" err="1"/>
              <a:t>CLIstd</a:t>
            </a:r>
            <a:r>
              <a:rPr lang="en-US" dirty="0"/>
              <a:t>,  and the interaction term were not significant. </a:t>
            </a:r>
          </a:p>
          <a:p>
            <a:r>
              <a:rPr lang="en-US" dirty="0"/>
              <a:t>The residuals seem normally distributed but we get some quantile deviation indicating a worse fit. </a:t>
            </a:r>
          </a:p>
        </p:txBody>
      </p:sp>
      <p:pic>
        <p:nvPicPr>
          <p:cNvPr id="9222" name="Picture 6" descr="En bild som visar text, diagram, skärmbild, linje&#10;&#10;AI-genererat innehåll kan vara felaktigt.">
            <a:extLst>
              <a:ext uri="{FF2B5EF4-FFF2-40B4-BE49-F238E27FC236}">
                <a16:creationId xmlns:a16="http://schemas.microsoft.com/office/drawing/2014/main" id="{0C436624-D5AC-130D-A469-D463D8618C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727208" y="1042865"/>
            <a:ext cx="2659223" cy="16553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18" name="Picture 2" descr="En bild som visar text, skärmbild, Teckensnitt, nummer&#10;&#10;AI-genererat innehåll kan vara felaktigt.">
            <a:extLst>
              <a:ext uri="{FF2B5EF4-FFF2-40B4-BE49-F238E27FC236}">
                <a16:creationId xmlns:a16="http://schemas.microsoft.com/office/drawing/2014/main" id="{2A906057-6C4B-6696-4D98-AA7A97FEFB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732678" y="1026770"/>
            <a:ext cx="2659223" cy="16819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20" name="Picture 4" descr="En bild som visar text, skärmbild, Teckensnitt, algebra&#10;&#10;AI-genererat innehåll kan vara felaktigt.">
            <a:extLst>
              <a:ext uri="{FF2B5EF4-FFF2-40B4-BE49-F238E27FC236}">
                <a16:creationId xmlns:a16="http://schemas.microsoft.com/office/drawing/2014/main" id="{77F6524E-37A2-62BD-5091-B6F69E0150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714999" y="2983043"/>
            <a:ext cx="5676901" cy="9366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4352570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253" name="Rectangle 10252">
            <a:extLst>
              <a:ext uri="{FF2B5EF4-FFF2-40B4-BE49-F238E27FC236}">
                <a16:creationId xmlns:a16="http://schemas.microsoft.com/office/drawing/2014/main" id="{578EB459-3385-4BF6-A9E1-154CBA2510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ubrik 1">
            <a:extLst>
              <a:ext uri="{FF2B5EF4-FFF2-40B4-BE49-F238E27FC236}">
                <a16:creationId xmlns:a16="http://schemas.microsoft.com/office/drawing/2014/main" id="{5DE035A1-BC0E-747F-01C3-2840163ABD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909637"/>
            <a:ext cx="4397556" cy="1316736"/>
          </a:xfrm>
        </p:spPr>
        <p:txBody>
          <a:bodyPr>
            <a:normAutofit/>
          </a:bodyPr>
          <a:lstStyle/>
          <a:p>
            <a:r>
              <a:rPr lang="sv-SE" dirty="0" err="1"/>
              <a:t>Model</a:t>
            </a:r>
            <a:r>
              <a:rPr lang="sv-SE" dirty="0"/>
              <a:t> 4</a:t>
            </a:r>
          </a:p>
        </p:txBody>
      </p:sp>
      <p:cxnSp>
        <p:nvCxnSpPr>
          <p:cNvPr id="10255" name="Straight Connector 10254">
            <a:extLst>
              <a:ext uri="{FF2B5EF4-FFF2-40B4-BE49-F238E27FC236}">
                <a16:creationId xmlns:a16="http://schemas.microsoft.com/office/drawing/2014/main" id="{1DC20223-0542-4FF7-8F2F-136889161E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6383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50" name="Content Placeholder 10249">
            <a:extLst>
              <a:ext uri="{FF2B5EF4-FFF2-40B4-BE49-F238E27FC236}">
                <a16:creationId xmlns:a16="http://schemas.microsoft.com/office/drawing/2014/main" id="{40D6BA0D-6451-A24A-BB39-1BFD404F1E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4088" y="2226373"/>
            <a:ext cx="4397554" cy="3983928"/>
          </a:xfrm>
        </p:spPr>
        <p:txBody>
          <a:bodyPr>
            <a:normAutofit/>
          </a:bodyPr>
          <a:lstStyle/>
          <a:p>
            <a:r>
              <a:rPr lang="en-US" dirty="0"/>
              <a:t>In Model 4, </a:t>
            </a:r>
            <a:r>
              <a:rPr lang="en-US" dirty="0" err="1"/>
              <a:t>AgeGroup</a:t>
            </a:r>
            <a:r>
              <a:rPr lang="en-US" dirty="0"/>
              <a:t> and </a:t>
            </a:r>
            <a:r>
              <a:rPr lang="en-US" dirty="0" err="1"/>
              <a:t>SmokingPrevalence</a:t>
            </a:r>
            <a:r>
              <a:rPr lang="en-US" dirty="0"/>
              <a:t> were significant (p &lt; 0.05), while sex, BMI, region, </a:t>
            </a:r>
            <a:r>
              <a:rPr lang="en-US" dirty="0" err="1"/>
              <a:t>CLIstd</a:t>
            </a:r>
            <a:r>
              <a:rPr lang="en-US" dirty="0"/>
              <a:t>,  and the interaction term were not significant.  </a:t>
            </a:r>
          </a:p>
          <a:p>
            <a:r>
              <a:rPr lang="en-US" dirty="0"/>
              <a:t>There is no overdispersion, but the residuals seem less normally distributed and we get some quantile deviation indicating a worse fit. </a:t>
            </a:r>
          </a:p>
        </p:txBody>
      </p:sp>
      <p:pic>
        <p:nvPicPr>
          <p:cNvPr id="10246" name="Picture 6" descr="En bild som visar text, skärmbild, diagram, Teckensnitt&#10;&#10;AI-genererat innehåll kan vara felaktigt.">
            <a:extLst>
              <a:ext uri="{FF2B5EF4-FFF2-40B4-BE49-F238E27FC236}">
                <a16:creationId xmlns:a16="http://schemas.microsoft.com/office/drawing/2014/main" id="{C129ECB6-5D58-D938-CD50-B5B8F1E02A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727208" y="1042865"/>
            <a:ext cx="2659223" cy="16553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42" name="Picture 2" descr="En bild som visar text, skärmbild, Teckensnitt, nummer&#10;&#10;AI-genererat innehåll kan vara felaktigt.">
            <a:extLst>
              <a:ext uri="{FF2B5EF4-FFF2-40B4-BE49-F238E27FC236}">
                <a16:creationId xmlns:a16="http://schemas.microsoft.com/office/drawing/2014/main" id="{9FAD21A2-71CC-B885-F3A5-55CAF8D780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732678" y="953640"/>
            <a:ext cx="2659223" cy="17550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44" name="Picture 4" descr="En bild som visar text, skärmbild, Teckensnitt, linje&#10;&#10;AI-genererat innehåll kan vara felaktigt.">
            <a:extLst>
              <a:ext uri="{FF2B5EF4-FFF2-40B4-BE49-F238E27FC236}">
                <a16:creationId xmlns:a16="http://schemas.microsoft.com/office/drawing/2014/main" id="{1EA5165D-8807-DEE3-171B-8007B4E082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714999" y="2983043"/>
            <a:ext cx="5676901" cy="9650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6964032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273" name="Rectangle 11272">
            <a:extLst>
              <a:ext uri="{FF2B5EF4-FFF2-40B4-BE49-F238E27FC236}">
                <a16:creationId xmlns:a16="http://schemas.microsoft.com/office/drawing/2014/main" id="{E49D7415-2F11-44C2-B6AA-13A25B6814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ubrik 1">
            <a:extLst>
              <a:ext uri="{FF2B5EF4-FFF2-40B4-BE49-F238E27FC236}">
                <a16:creationId xmlns:a16="http://schemas.microsoft.com/office/drawing/2014/main" id="{B4BDD39E-B333-7647-D5EB-B06E77BB1F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914399"/>
            <a:ext cx="5239272" cy="1621147"/>
          </a:xfrm>
        </p:spPr>
        <p:txBody>
          <a:bodyPr>
            <a:normAutofit/>
          </a:bodyPr>
          <a:lstStyle/>
          <a:p>
            <a:r>
              <a:rPr lang="sv-SE" dirty="0"/>
              <a:t>Matrix </a:t>
            </a:r>
            <a:r>
              <a:rPr lang="sv-SE" dirty="0" err="1"/>
              <a:t>of</a:t>
            </a:r>
            <a:r>
              <a:rPr lang="sv-SE" dirty="0"/>
              <a:t> </a:t>
            </a:r>
            <a:r>
              <a:rPr lang="sv-SE" dirty="0" err="1"/>
              <a:t>model</a:t>
            </a:r>
            <a:r>
              <a:rPr lang="sv-SE" dirty="0"/>
              <a:t> </a:t>
            </a:r>
            <a:r>
              <a:rPr lang="sv-SE" dirty="0" err="1"/>
              <a:t>paramters</a:t>
            </a:r>
            <a:endParaRPr lang="sv-SE" dirty="0"/>
          </a:p>
        </p:txBody>
      </p:sp>
      <p:cxnSp>
        <p:nvCxnSpPr>
          <p:cNvPr id="11275" name="Straight Connector 1">
            <a:extLst>
              <a:ext uri="{FF2B5EF4-FFF2-40B4-BE49-F238E27FC236}">
                <a16:creationId xmlns:a16="http://schemas.microsoft.com/office/drawing/2014/main" id="{7D3DF08D-8EDA-0FB3-59D9-B692F2ADD1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4672" y="722376"/>
            <a:ext cx="16383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266" name="Picture 2" descr="En bild som visar text, Teckensnitt, skärmbild, vit&#10;&#10;AI-genererat innehåll kan vara felaktigt.">
            <a:extLst>
              <a:ext uri="{FF2B5EF4-FFF2-40B4-BE49-F238E27FC236}">
                <a16:creationId xmlns:a16="http://schemas.microsoft.com/office/drawing/2014/main" id="{99D10EE0-CE20-B0EE-32AC-64D1537491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04672" y="4761594"/>
            <a:ext cx="5138688" cy="14014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270" name="Content Placeholder 11269">
            <a:extLst>
              <a:ext uri="{FF2B5EF4-FFF2-40B4-BE49-F238E27FC236}">
                <a16:creationId xmlns:a16="http://schemas.microsoft.com/office/drawing/2014/main" id="{ADDEFE59-0A1C-9A39-54E3-235A9C0A4A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46176" y="914399"/>
            <a:ext cx="5138688" cy="5248657"/>
          </a:xfrm>
        </p:spPr>
        <p:txBody>
          <a:bodyPr>
            <a:normAutofit/>
          </a:bodyPr>
          <a:lstStyle/>
          <a:p>
            <a:r>
              <a:rPr lang="en-US" dirty="0"/>
              <a:t>AIC evaluates how well your model fits the data while penalizing complexity (the number of parameters).</a:t>
            </a:r>
          </a:p>
          <a:p>
            <a:r>
              <a:rPr lang="en-US" dirty="0"/>
              <a:t>BIC - Similar to AIC but penalizes complexity more strongly,</a:t>
            </a:r>
          </a:p>
          <a:p>
            <a:r>
              <a:rPr lang="en-US" dirty="0"/>
              <a:t>R^2 - The proportion of variation in the response variable that your model explains.</a:t>
            </a:r>
          </a:p>
          <a:p>
            <a:endParaRPr lang="en-US" dirty="0"/>
          </a:p>
          <a:p>
            <a:r>
              <a:rPr lang="en-US" dirty="0"/>
              <a:t>We see good Model 3 and Model 4 have the best performance. </a:t>
            </a:r>
          </a:p>
          <a:p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021954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309" name="Rectangle 12308">
            <a:extLst>
              <a:ext uri="{FF2B5EF4-FFF2-40B4-BE49-F238E27FC236}">
                <a16:creationId xmlns:a16="http://schemas.microsoft.com/office/drawing/2014/main" id="{E53615EE-C559-4E03-999B-5477F1626F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ubrik 1">
            <a:extLst>
              <a:ext uri="{FF2B5EF4-FFF2-40B4-BE49-F238E27FC236}">
                <a16:creationId xmlns:a16="http://schemas.microsoft.com/office/drawing/2014/main" id="{8AE28222-61E8-96FC-9BE6-958E16FCCF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088" y="909637"/>
            <a:ext cx="5958216" cy="1316736"/>
          </a:xfrm>
        </p:spPr>
        <p:txBody>
          <a:bodyPr>
            <a:normAutofit/>
          </a:bodyPr>
          <a:lstStyle/>
          <a:p>
            <a:r>
              <a:rPr lang="sv-SE"/>
              <a:t>Lasso</a:t>
            </a:r>
            <a:endParaRPr lang="sv-SE" dirty="0"/>
          </a:p>
        </p:txBody>
      </p:sp>
      <p:cxnSp>
        <p:nvCxnSpPr>
          <p:cNvPr id="12311" name="Straight Connector 12310">
            <a:extLst>
              <a:ext uri="{FF2B5EF4-FFF2-40B4-BE49-F238E27FC236}">
                <a16:creationId xmlns:a16="http://schemas.microsoft.com/office/drawing/2014/main" id="{799A8EBD-049C-48E6-97ED-C9102D78FC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2376"/>
            <a:ext cx="57150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304" name="Content Placeholder 12293">
            <a:extLst>
              <a:ext uri="{FF2B5EF4-FFF2-40B4-BE49-F238E27FC236}">
                <a16:creationId xmlns:a16="http://schemas.microsoft.com/office/drawing/2014/main" id="{178BF19B-6E17-80A9-B60A-D18AD65B50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088" y="2235251"/>
            <a:ext cx="5958216" cy="3713109"/>
          </a:xfrm>
        </p:spPr>
        <p:txBody>
          <a:bodyPr>
            <a:normAutofit/>
          </a:bodyPr>
          <a:lstStyle/>
          <a:p>
            <a:r>
              <a:rPr lang="en-US" dirty="0"/>
              <a:t>We applied LASSO regularization to identify the most relevant predictors and reduce potential multicollinearity between correlated variables</a:t>
            </a:r>
          </a:p>
          <a:p>
            <a:endParaRPr lang="en-US" dirty="0"/>
          </a:p>
          <a:p>
            <a:r>
              <a:rPr lang="en-US" dirty="0"/>
              <a:t>LASSO selected </a:t>
            </a:r>
            <a:r>
              <a:rPr lang="en-US" dirty="0" err="1"/>
              <a:t>AgeGroup</a:t>
            </a:r>
            <a:r>
              <a:rPr lang="en-US" dirty="0"/>
              <a:t> and </a:t>
            </a:r>
            <a:r>
              <a:rPr lang="en-US" dirty="0" err="1"/>
              <a:t>CLIstd</a:t>
            </a:r>
            <a:r>
              <a:rPr lang="en-US" dirty="0"/>
              <a:t> as main predictors, supporting previous GLM findings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12292" name="Picture 4" descr="En bild som visar text, linje, diagram, Graf&#10;&#10;AI-genererat innehåll kan vara felaktigt.">
            <a:extLst>
              <a:ext uri="{FF2B5EF4-FFF2-40B4-BE49-F238E27FC236}">
                <a16:creationId xmlns:a16="http://schemas.microsoft.com/office/drawing/2014/main" id="{4B07F75C-D9E0-E082-7895-3C6A711918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315200" y="748861"/>
            <a:ext cx="4076700" cy="25377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2313" name="Straight Connector 12312">
            <a:extLst>
              <a:ext uri="{FF2B5EF4-FFF2-40B4-BE49-F238E27FC236}">
                <a16:creationId xmlns:a16="http://schemas.microsoft.com/office/drawing/2014/main" id="{07AB7C5C-C091-4C25-B1BD-93E2F6948C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38546"/>
            <a:ext cx="57150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290" name="Picture 2" descr="En bild som visar text, skärmbild, Teckensnitt&#10;&#10;AI-genererat innehåll kan vara felaktigt.">
            <a:extLst>
              <a:ext uri="{FF2B5EF4-FFF2-40B4-BE49-F238E27FC236}">
                <a16:creationId xmlns:a16="http://schemas.microsoft.com/office/drawing/2014/main" id="{9542E1DE-5403-DFC6-0759-2979106EF2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315200" y="3734241"/>
            <a:ext cx="4076700" cy="22727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301691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321" name="Rectangle 13320">
            <a:extLst>
              <a:ext uri="{FF2B5EF4-FFF2-40B4-BE49-F238E27FC236}">
                <a16:creationId xmlns:a16="http://schemas.microsoft.com/office/drawing/2014/main" id="{E49D7415-2F11-44C2-B6AA-13A25B6814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ubrik 1">
            <a:extLst>
              <a:ext uri="{FF2B5EF4-FFF2-40B4-BE49-F238E27FC236}">
                <a16:creationId xmlns:a16="http://schemas.microsoft.com/office/drawing/2014/main" id="{B7836189-6232-22AE-ABE4-07C0AB7837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088" y="909637"/>
            <a:ext cx="6400800" cy="1307592"/>
          </a:xfrm>
        </p:spPr>
        <p:txBody>
          <a:bodyPr>
            <a:normAutofit/>
          </a:bodyPr>
          <a:lstStyle/>
          <a:p>
            <a:r>
              <a:rPr lang="sv-SE" dirty="0"/>
              <a:t>Lasso</a:t>
            </a:r>
          </a:p>
        </p:txBody>
      </p:sp>
      <p:cxnSp>
        <p:nvCxnSpPr>
          <p:cNvPr id="13323" name="Straight Connector 13322">
            <a:extLst>
              <a:ext uri="{FF2B5EF4-FFF2-40B4-BE49-F238E27FC236}">
                <a16:creationId xmlns:a16="http://schemas.microsoft.com/office/drawing/2014/main" id="{8E813B4C-6731-0B72-5252-A79AB0E20B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4672" y="723900"/>
            <a:ext cx="10588752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318" name="Content Placeholder 13317">
            <a:extLst>
              <a:ext uri="{FF2B5EF4-FFF2-40B4-BE49-F238E27FC236}">
                <a16:creationId xmlns:a16="http://schemas.microsoft.com/office/drawing/2014/main" id="{92ABA1F9-1038-4C62-93BD-5DC3814363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088" y="2221992"/>
            <a:ext cx="6400800" cy="3739896"/>
          </a:xfrm>
        </p:spPr>
        <p:txBody>
          <a:bodyPr>
            <a:normAutofit/>
          </a:bodyPr>
          <a:lstStyle/>
          <a:p>
            <a:r>
              <a:rPr lang="en-US" dirty="0"/>
              <a:t>In the LASSO model, the interaction term (</a:t>
            </a:r>
            <a:r>
              <a:rPr lang="en-US" dirty="0" err="1"/>
              <a:t>CLIstd:BMImedian</a:t>
            </a:r>
            <a:r>
              <a:rPr lang="en-US" dirty="0"/>
              <a:t>) was penalized to zero, </a:t>
            </a:r>
          </a:p>
          <a:p>
            <a:r>
              <a:rPr lang="en-US" dirty="0"/>
              <a:t>However, in model 4, including this interaction improved model fit </a:t>
            </a:r>
          </a:p>
          <a:p>
            <a:r>
              <a:rPr lang="en-US" dirty="0"/>
              <a:t>This difference arises because LASSO prioritizes model simplicity and generalization, whereas standard regression prioritizes in-sample explanatory power.</a:t>
            </a:r>
          </a:p>
        </p:txBody>
      </p:sp>
      <p:pic>
        <p:nvPicPr>
          <p:cNvPr id="13314" name="Picture 2" descr="En bild som visar text, skärmbild, Teckensnitt, nummer&#10;&#10;AI-genererat innehåll kan vara felaktigt.">
            <a:extLst>
              <a:ext uri="{FF2B5EF4-FFF2-40B4-BE49-F238E27FC236}">
                <a16:creationId xmlns:a16="http://schemas.microsoft.com/office/drawing/2014/main" id="{7777DA4D-62A1-B6CD-C2B7-E8DCE180C0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487920" y="3361295"/>
            <a:ext cx="3903980" cy="26449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3325" name="Straight Connector 13324">
            <a:extLst>
              <a:ext uri="{FF2B5EF4-FFF2-40B4-BE49-F238E27FC236}">
                <a16:creationId xmlns:a16="http://schemas.microsoft.com/office/drawing/2014/main" id="{6E0E8146-6E65-2E6C-0C86-547E3C9254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9065" y="6145599"/>
            <a:ext cx="10582835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8679930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345" name="Rectangle 14344">
            <a:extLst>
              <a:ext uri="{FF2B5EF4-FFF2-40B4-BE49-F238E27FC236}">
                <a16:creationId xmlns:a16="http://schemas.microsoft.com/office/drawing/2014/main" id="{E49D7415-2F11-44C2-B6AA-13A25B6814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ubrik 1">
            <a:extLst>
              <a:ext uri="{FF2B5EF4-FFF2-40B4-BE49-F238E27FC236}">
                <a16:creationId xmlns:a16="http://schemas.microsoft.com/office/drawing/2014/main" id="{11984DF6-AC4D-B494-5820-501C1CE75D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088" y="909637"/>
            <a:ext cx="6400800" cy="1307592"/>
          </a:xfrm>
        </p:spPr>
        <p:txBody>
          <a:bodyPr>
            <a:normAutofit/>
          </a:bodyPr>
          <a:lstStyle/>
          <a:p>
            <a:r>
              <a:rPr lang="sv-SE" dirty="0" err="1"/>
              <a:t>Elastic</a:t>
            </a:r>
            <a:r>
              <a:rPr lang="sv-SE" dirty="0"/>
              <a:t> </a:t>
            </a:r>
            <a:r>
              <a:rPr lang="sv-SE" dirty="0" err="1"/>
              <a:t>net</a:t>
            </a:r>
            <a:r>
              <a:rPr lang="sv-SE" dirty="0"/>
              <a:t> </a:t>
            </a:r>
          </a:p>
        </p:txBody>
      </p:sp>
      <p:cxnSp>
        <p:nvCxnSpPr>
          <p:cNvPr id="14347" name="Straight Connector 14346">
            <a:extLst>
              <a:ext uri="{FF2B5EF4-FFF2-40B4-BE49-F238E27FC236}">
                <a16:creationId xmlns:a16="http://schemas.microsoft.com/office/drawing/2014/main" id="{8E813B4C-6731-0B72-5252-A79AB0E20B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4672" y="723900"/>
            <a:ext cx="10588752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342" name="Content Placeholder 14341">
            <a:extLst>
              <a:ext uri="{FF2B5EF4-FFF2-40B4-BE49-F238E27FC236}">
                <a16:creationId xmlns:a16="http://schemas.microsoft.com/office/drawing/2014/main" id="{1A377A4A-EEF6-1F86-4A81-2B107CA1D4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088" y="2221992"/>
            <a:ext cx="6400800" cy="3739896"/>
          </a:xfrm>
        </p:spPr>
        <p:txBody>
          <a:bodyPr>
            <a:normAutofit/>
          </a:bodyPr>
          <a:lstStyle/>
          <a:p>
            <a:r>
              <a:rPr lang="en-US" dirty="0"/>
              <a:t>If we try an elastic net we  can see that the model actually keeps the interaction term, however it is practically zero. </a:t>
            </a:r>
          </a:p>
        </p:txBody>
      </p:sp>
      <p:pic>
        <p:nvPicPr>
          <p:cNvPr id="14338" name="Picture 2" descr="En bild som visar text, skärmbild, Teckensnitt&#10;&#10;AI-genererat innehåll kan vara felaktigt.">
            <a:extLst>
              <a:ext uri="{FF2B5EF4-FFF2-40B4-BE49-F238E27FC236}">
                <a16:creationId xmlns:a16="http://schemas.microsoft.com/office/drawing/2014/main" id="{71FC27AC-0365-F715-96E2-93A89EC218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487920" y="2795219"/>
            <a:ext cx="3903980" cy="32110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4349" name="Straight Connector 14348">
            <a:extLst>
              <a:ext uri="{FF2B5EF4-FFF2-40B4-BE49-F238E27FC236}">
                <a16:creationId xmlns:a16="http://schemas.microsoft.com/office/drawing/2014/main" id="{6E0E8146-6E65-2E6C-0C86-547E3C9254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9065" y="6145599"/>
            <a:ext cx="10582835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705290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367" name="Rectangle 15366">
            <a:extLst>
              <a:ext uri="{FF2B5EF4-FFF2-40B4-BE49-F238E27FC236}">
                <a16:creationId xmlns:a16="http://schemas.microsoft.com/office/drawing/2014/main" id="{E49D7415-2F11-44C2-B6AA-13A25B6814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ubrik 1">
            <a:extLst>
              <a:ext uri="{FF2B5EF4-FFF2-40B4-BE49-F238E27FC236}">
                <a16:creationId xmlns:a16="http://schemas.microsoft.com/office/drawing/2014/main" id="{364CCB36-9CFC-B842-4F0F-A1C53C0355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914400"/>
            <a:ext cx="10780776" cy="1180210"/>
          </a:xfrm>
        </p:spPr>
        <p:txBody>
          <a:bodyPr>
            <a:normAutofit/>
          </a:bodyPr>
          <a:lstStyle/>
          <a:p>
            <a:r>
              <a:rPr lang="sv-SE" dirty="0" err="1"/>
              <a:t>Prediction</a:t>
            </a:r>
            <a:endParaRPr lang="sv-SE" dirty="0"/>
          </a:p>
        </p:txBody>
      </p:sp>
      <p:cxnSp>
        <p:nvCxnSpPr>
          <p:cNvPr id="15369" name="Straight Connector 15368">
            <a:extLst>
              <a:ext uri="{FF2B5EF4-FFF2-40B4-BE49-F238E27FC236}">
                <a16:creationId xmlns:a16="http://schemas.microsoft.com/office/drawing/2014/main" id="{4E495065-8864-87FB-2BCC-254769963E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4672" y="722376"/>
            <a:ext cx="16383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362" name="Picture 2">
            <a:extLst>
              <a:ext uri="{FF2B5EF4-FFF2-40B4-BE49-F238E27FC236}">
                <a16:creationId xmlns:a16="http://schemas.microsoft.com/office/drawing/2014/main" id="{800BD1D0-F420-F232-BB08-F80F021BE3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00098" y="2708241"/>
            <a:ext cx="5549902" cy="34548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654CD4BD-6864-CFB5-6F27-EEB077E020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64960" y="2346960"/>
            <a:ext cx="4819903" cy="3775456"/>
          </a:xfrm>
        </p:spPr>
        <p:txBody>
          <a:bodyPr>
            <a:normAutofit/>
          </a:bodyPr>
          <a:lstStyle/>
          <a:p>
            <a:r>
              <a:rPr lang="en-US" dirty="0"/>
              <a:t>Finally we use the two best models (4 and 5) to see how well they can predict new cases in pancreatic cancer. </a:t>
            </a:r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232230426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B626E6C6-05B5-DA42-F49F-99FF8AD009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 err="1"/>
              <a:t>SUmmary</a:t>
            </a:r>
            <a:endParaRPr lang="sv-SE" dirty="0"/>
          </a:p>
        </p:txBody>
      </p: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7DC97D68-B2C8-8F50-12FB-3DDF952F10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Overall, this analysis highlights the strong influence of age and lifestyle on pancreatic cancer incidence and suggests that promoting healthier lifestyles could have a measurable impact on reducing cancer risk. </a:t>
            </a:r>
          </a:p>
          <a:p>
            <a:r>
              <a:rPr lang="en-US" dirty="0"/>
              <a:t>However, given the cross-sectional design, causality cannot be established, and future research should extend these findings using longitudinal data and additional behavioral or genetic covariates.</a:t>
            </a:r>
          </a:p>
          <a:p>
            <a:pPr marL="0" indent="0">
              <a:buNone/>
            </a:pPr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385562808"/>
      </p:ext>
    </p:extLst>
  </p:cSld>
  <p:clrMapOvr>
    <a:masterClrMapping/>
  </p:clrMapOvr>
</p:sld>
</file>

<file path=ppt/theme/theme1.xml><?xml version="1.0" encoding="utf-8"?>
<a:theme xmlns:a="http://schemas.openxmlformats.org/drawingml/2006/main" name="ChronicleVTI">
  <a:themeElements>
    <a:clrScheme name="Chronicle">
      <a:dk1>
        <a:srgbClr val="000000"/>
      </a:dk1>
      <a:lt1>
        <a:srgbClr val="FFFFFF"/>
      </a:lt1>
      <a:dk2>
        <a:srgbClr val="1C1C32"/>
      </a:dk2>
      <a:lt2>
        <a:srgbClr val="F8F4F1"/>
      </a:lt2>
      <a:accent1>
        <a:srgbClr val="734B67"/>
      </a:accent1>
      <a:accent2>
        <a:srgbClr val="959EBB"/>
      </a:accent2>
      <a:accent3>
        <a:srgbClr val="596781"/>
      </a:accent3>
      <a:accent4>
        <a:srgbClr val="7F6E8C"/>
      </a:accent4>
      <a:accent5>
        <a:srgbClr val="DB9A8F"/>
      </a:accent5>
      <a:accent6>
        <a:srgbClr val="C29AB1"/>
      </a:accent6>
      <a:hlink>
        <a:srgbClr val="778BA2"/>
      </a:hlink>
      <a:folHlink>
        <a:srgbClr val="A27C99"/>
      </a:folHlink>
    </a:clrScheme>
    <a:fontScheme name="Univers Calisto">
      <a:majorFont>
        <a:latin typeface="Univers Condensed"/>
        <a:ea typeface=""/>
        <a:cs typeface=""/>
      </a:majorFont>
      <a:minorFont>
        <a:latin typeface="Calisto M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 w="12700" cap="flat" cmpd="sng" algn="ctr">
          <a:noFill/>
          <a:prstDash val="solid"/>
          <a:miter lim="800000"/>
        </a:ln>
        <a:effectLst/>
        <a:extLst>
          <a:ext uri="{91240B29-F687-4F45-9708-019B960494DF}">
            <a14:hiddenLine xmlns:a14="http://schemas.microsoft.com/office/drawing/2010/main" w="12700" cap="flat" cmpd="sng" algn="ctr">
              <a:solidFill>
                <a:schemeClr val="accent1">
                  <a:shade val="50000"/>
                </a:schemeClr>
              </a:solidFill>
              <a:prstDash val="solid"/>
              <a:miter lim="800000"/>
            </a14:hiddenLine>
          </a:ext>
        </a:extLst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ChronicleVTI" id="{508E4D90-5116-4BF0-876B-3F422DD1F65F}" vid="{AA21DC3D-92A8-43A4-8358-ED428371CD5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66</TotalTime>
  <Words>647</Words>
  <Application>Microsoft Office PowerPoint</Application>
  <PresentationFormat>Bredbild</PresentationFormat>
  <Paragraphs>53</Paragraphs>
  <Slides>19</Slides>
  <Notes>0</Notes>
  <HiddenSlides>0</HiddenSlides>
  <MMClips>0</MMClips>
  <ScaleCrop>false</ScaleCrop>
  <HeadingPairs>
    <vt:vector size="6" baseType="variant">
      <vt:variant>
        <vt:lpstr>Använt teckensnitt</vt:lpstr>
      </vt:variant>
      <vt:variant>
        <vt:i4>3</vt:i4>
      </vt:variant>
      <vt:variant>
        <vt:lpstr>Tema</vt:lpstr>
      </vt:variant>
      <vt:variant>
        <vt:i4>1</vt:i4>
      </vt:variant>
      <vt:variant>
        <vt:lpstr>Bildrubriker</vt:lpstr>
      </vt:variant>
      <vt:variant>
        <vt:i4>19</vt:i4>
      </vt:variant>
    </vt:vector>
  </HeadingPairs>
  <TitlesOfParts>
    <vt:vector size="23" baseType="lpstr">
      <vt:lpstr>Arial</vt:lpstr>
      <vt:lpstr>Calisto MT</vt:lpstr>
      <vt:lpstr>Univers Condensed</vt:lpstr>
      <vt:lpstr>ChronicleVTI</vt:lpstr>
      <vt:lpstr>Task 1-Seminar 3</vt:lpstr>
      <vt:lpstr>Explore the dataset: </vt:lpstr>
      <vt:lpstr>Explore the dataset: </vt:lpstr>
      <vt:lpstr>Explore the dataset: </vt:lpstr>
      <vt:lpstr>Explore the dataset: </vt:lpstr>
      <vt:lpstr>Explore the dataset:</vt:lpstr>
      <vt:lpstr>Explore the dataset:</vt:lpstr>
      <vt:lpstr>Summary of exploration</vt:lpstr>
      <vt:lpstr>Develop a model to examine the trends in new cases of pancreatic cancer across the recorded population variables and Analyse the model outputs and examine model performance:</vt:lpstr>
      <vt:lpstr>Model 1</vt:lpstr>
      <vt:lpstr>Model 2</vt:lpstr>
      <vt:lpstr>Model 3</vt:lpstr>
      <vt:lpstr>Model 4</vt:lpstr>
      <vt:lpstr>Matrix of model paramters</vt:lpstr>
      <vt:lpstr>Lasso</vt:lpstr>
      <vt:lpstr>Lasso</vt:lpstr>
      <vt:lpstr>Elastic net </vt:lpstr>
      <vt:lpstr>Prediction</vt:lpstr>
      <vt:lpstr>SUmmary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Mert Affan</dc:creator>
  <cp:lastModifiedBy>Mert Affan</cp:lastModifiedBy>
  <cp:revision>3</cp:revision>
  <dcterms:created xsi:type="dcterms:W3CDTF">2025-11-09T10:53:54Z</dcterms:created>
  <dcterms:modified xsi:type="dcterms:W3CDTF">2025-11-09T11:59:56Z</dcterms:modified>
</cp:coreProperties>
</file>
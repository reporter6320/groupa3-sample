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29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342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258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46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59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369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723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840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774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46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4928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F698481-DC83-DED0-01B7-A26E31AEC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r>
              <a:rPr lang="sv-SE" sz="6500"/>
              <a:t>Task 1-Seminar 3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EBAB18C1-F562-6C92-85F4-CCF3B7555E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rmAutofit/>
          </a:bodyPr>
          <a:lstStyle/>
          <a:p>
            <a:r>
              <a:rPr lang="sv-SE" b="1" dirty="0"/>
              <a:t>The </a:t>
            </a:r>
            <a:r>
              <a:rPr lang="sv-SE" b="1" dirty="0" err="1"/>
              <a:t>EUxPancreas</a:t>
            </a:r>
            <a:r>
              <a:rPr lang="sv-SE" b="1" dirty="0"/>
              <a:t> </a:t>
            </a:r>
            <a:r>
              <a:rPr lang="sv-SE" b="1" dirty="0" err="1"/>
              <a:t>Cohort</a:t>
            </a:r>
            <a:r>
              <a:rPr lang="sv-SE" b="1" dirty="0"/>
              <a:t> </a:t>
            </a:r>
            <a:r>
              <a:rPr lang="sv-SE" b="1" dirty="0" err="1"/>
              <a:t>Study</a:t>
            </a:r>
            <a:endParaRPr lang="sv-SE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8F677841-F355-2A0E-8EFC-5D699613BB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17" r="33264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052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61" name="Rectangle 1055">
            <a:extLst>
              <a:ext uri="{FF2B5EF4-FFF2-40B4-BE49-F238E27FC236}">
                <a16:creationId xmlns:a16="http://schemas.microsoft.com/office/drawing/2014/main" id="{578EB459-3385-4BF6-A9E1-154CBA251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563DD86-AAEB-C988-016D-C2FABBC45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4392302" cy="1316736"/>
          </a:xfrm>
        </p:spPr>
        <p:txBody>
          <a:bodyPr>
            <a:normAutofit/>
          </a:bodyPr>
          <a:lstStyle/>
          <a:p>
            <a:r>
              <a:rPr lang="sv-SE" b="1" i="1" dirty="0" err="1"/>
              <a:t>Explore</a:t>
            </a:r>
            <a:r>
              <a:rPr lang="sv-SE" b="1" i="1" dirty="0"/>
              <a:t> the </a:t>
            </a:r>
            <a:r>
              <a:rPr lang="sv-SE" b="1" i="1" dirty="0" err="1"/>
              <a:t>dataset</a:t>
            </a:r>
            <a:r>
              <a:rPr lang="sv-SE" b="1" i="1" dirty="0"/>
              <a:t>: </a:t>
            </a:r>
            <a:endParaRPr lang="sv-SE" dirty="0"/>
          </a:p>
        </p:txBody>
      </p:sp>
      <p:cxnSp>
        <p:nvCxnSpPr>
          <p:cNvPr id="1062" name="Straight Connector 1057">
            <a:extLst>
              <a:ext uri="{FF2B5EF4-FFF2-40B4-BE49-F238E27FC236}">
                <a16:creationId xmlns:a16="http://schemas.microsoft.com/office/drawing/2014/main" id="{B37A8173-5995-449D-8387-03E42038B9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1" name="Content Placeholder 1033">
            <a:extLst>
              <a:ext uri="{FF2B5EF4-FFF2-40B4-BE49-F238E27FC236}">
                <a16:creationId xmlns:a16="http://schemas.microsoft.com/office/drawing/2014/main" id="{9F16234B-1D06-A544-2EBB-8EAB641AE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6373"/>
            <a:ext cx="4392302" cy="3721985"/>
          </a:xfrm>
        </p:spPr>
        <p:txBody>
          <a:bodyPr>
            <a:normAutofit/>
          </a:bodyPr>
          <a:lstStyle/>
          <a:p>
            <a:r>
              <a:rPr lang="en-US" dirty="0"/>
              <a:t>The dataset contained 30 observations across 8 variables with no missing data. </a:t>
            </a:r>
          </a:p>
        </p:txBody>
      </p:sp>
      <p:pic>
        <p:nvPicPr>
          <p:cNvPr id="1026" name="Picture 2" descr="En bild som visar text, skärmbild, Teckensnitt, nummer&#10;&#10;AI-genererat innehåll kan vara felaktigt.">
            <a:extLst>
              <a:ext uri="{FF2B5EF4-FFF2-40B4-BE49-F238E27FC236}">
                <a16:creationId xmlns:a16="http://schemas.microsoft.com/office/drawing/2014/main" id="{599ED9B2-F947-4074-3038-BBCDE360AB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00709" y="2937929"/>
            <a:ext cx="2109607" cy="411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En bild som visar text, skärmbild, Teckensnitt, linje&#10;&#10;AI-genererat innehåll kan vara felaktigt.">
            <a:extLst>
              <a:ext uri="{FF2B5EF4-FFF2-40B4-BE49-F238E27FC236}">
                <a16:creationId xmlns:a16="http://schemas.microsoft.com/office/drawing/2014/main" id="{9D1A7A79-601F-8A61-A0F6-F23FDFA062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00709" y="3585732"/>
            <a:ext cx="2109607" cy="395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n bild som visar text, skärmbild, Teckensnitt, nummer&#10;&#10;AI-genererat innehåll kan vara felaktigt.">
            <a:extLst>
              <a:ext uri="{FF2B5EF4-FFF2-40B4-BE49-F238E27FC236}">
                <a16:creationId xmlns:a16="http://schemas.microsoft.com/office/drawing/2014/main" id="{E236685B-8E2E-8CF9-8662-51800BC57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739530" y="2420676"/>
            <a:ext cx="3652370" cy="2090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60" name="Straight Connector 1059">
            <a:extLst>
              <a:ext uri="{FF2B5EF4-FFF2-40B4-BE49-F238E27FC236}">
                <a16:creationId xmlns:a16="http://schemas.microsoft.com/office/drawing/2014/main" id="{F807C003-86ED-40E4-BC07-74FB68F286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6458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2" name="Straight Connector 2071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Straight Connector 2073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76" name="Rectangle 207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65F68F1-390E-85FD-59E6-1A39F1E48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9770" y="5852162"/>
            <a:ext cx="5965190" cy="74685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i="1" dirty="0"/>
              <a:t>Explore the dataset: </a:t>
            </a:r>
            <a:endParaRPr lang="en-US" dirty="0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511C7BD-387F-3F2C-47E5-5F8CC92B7693}"/>
              </a:ext>
            </a:extLst>
          </p:cNvPr>
          <p:cNvSpPr txBox="1"/>
          <p:nvPr/>
        </p:nvSpPr>
        <p:spPr>
          <a:xfrm>
            <a:off x="8045583" y="5850988"/>
            <a:ext cx="2153787" cy="7468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lnSpc>
                <a:spcPct val="110000"/>
              </a:lnSpc>
              <a:spcBef>
                <a:spcPts val="1000"/>
              </a:spcBef>
            </a:pPr>
            <a:r>
              <a:rPr lang="en-US" sz="2000" dirty="0"/>
              <a:t> nonnumerical values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3F10C5-9013-F324-98E0-B3D7FFD8415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69770" y="1414750"/>
            <a:ext cx="8252460" cy="4188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78" name="Straight Connector 2077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69770" y="5719083"/>
            <a:ext cx="8229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92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3" name="Rectangle 3082">
            <a:extLst>
              <a:ext uri="{FF2B5EF4-FFF2-40B4-BE49-F238E27FC236}">
                <a16:creationId xmlns:a16="http://schemas.microsoft.com/office/drawing/2014/main" id="{E53615EE-C559-4E03-999B-5477F1626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66C86B3C-5ADE-0383-6A05-51621A6EF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5958216" cy="1316736"/>
          </a:xfrm>
        </p:spPr>
        <p:txBody>
          <a:bodyPr>
            <a:normAutofit/>
          </a:bodyPr>
          <a:lstStyle/>
          <a:p>
            <a:r>
              <a:rPr lang="en-US" b="1" i="1" dirty="0"/>
              <a:t>Explore the dataset: </a:t>
            </a:r>
            <a:endParaRPr lang="sv-SE" dirty="0"/>
          </a:p>
        </p:txBody>
      </p:sp>
      <p:cxnSp>
        <p:nvCxnSpPr>
          <p:cNvPr id="3085" name="Straight Connector 3084">
            <a:extLst>
              <a:ext uri="{FF2B5EF4-FFF2-40B4-BE49-F238E27FC236}">
                <a16:creationId xmlns:a16="http://schemas.microsoft.com/office/drawing/2014/main" id="{799A8EBD-049C-48E6-97ED-C9102D78FC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2376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0" name="Content Placeholder 3079">
            <a:extLst>
              <a:ext uri="{FF2B5EF4-FFF2-40B4-BE49-F238E27FC236}">
                <a16:creationId xmlns:a16="http://schemas.microsoft.com/office/drawing/2014/main" id="{6A10CF50-D7CF-911F-08FE-BD882CE18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35251"/>
            <a:ext cx="5958216" cy="3713109"/>
          </a:xfrm>
        </p:spPr>
        <p:txBody>
          <a:bodyPr>
            <a:normAutofit/>
          </a:bodyPr>
          <a:lstStyle/>
          <a:p>
            <a:r>
              <a:rPr lang="en-US" dirty="0"/>
              <a:t>The correlation plot suggests that </a:t>
            </a:r>
            <a:r>
              <a:rPr lang="en-US" dirty="0" err="1"/>
              <a:t>AgeGroup</a:t>
            </a:r>
            <a:r>
              <a:rPr lang="en-US" dirty="0"/>
              <a:t> has a strong positive association with </a:t>
            </a:r>
            <a:r>
              <a:rPr lang="en-US" dirty="0" err="1"/>
              <a:t>NewCases</a:t>
            </a:r>
            <a:r>
              <a:rPr lang="en-US" dirty="0"/>
              <a:t>, while </a:t>
            </a:r>
            <a:r>
              <a:rPr lang="en-US" dirty="0" err="1"/>
              <a:t>CLIstd</a:t>
            </a:r>
            <a:r>
              <a:rPr lang="en-US" dirty="0"/>
              <a:t> (composite lifestyle index) is negatively correlated, suggesting protective effects of healthier lifestyles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EEE1C6BE-9914-1782-B063-5D94B613FB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315200" y="978175"/>
            <a:ext cx="4076700" cy="2079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087" name="Straight Connector 3086">
            <a:extLst>
              <a:ext uri="{FF2B5EF4-FFF2-40B4-BE49-F238E27FC236}">
                <a16:creationId xmlns:a16="http://schemas.microsoft.com/office/drawing/2014/main" id="{07AB7C5C-C091-4C25-B1BD-93E2F6948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8546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>
            <a:extLst>
              <a:ext uri="{FF2B5EF4-FFF2-40B4-BE49-F238E27FC236}">
                <a16:creationId xmlns:a16="http://schemas.microsoft.com/office/drawing/2014/main" id="{11DF8E0E-84BB-3FEC-90BF-482DAC1959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315200" y="4217658"/>
            <a:ext cx="4076700" cy="130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1028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18" name="Straight Connector 411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0" name="Straight Connector 411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122" name="Rectangle 4121">
            <a:extLst>
              <a:ext uri="{FF2B5EF4-FFF2-40B4-BE49-F238E27FC236}">
                <a16:creationId xmlns:a16="http://schemas.microsoft.com/office/drawing/2014/main" id="{341BFA31-6544-45C2-9DA0-9E1C5E0B1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349DD5F-BAF5-F101-E241-5629043A6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10925176" cy="11288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i="1" dirty="0"/>
              <a:t>Explore the dataset: </a:t>
            </a:r>
            <a:endParaRPr lang="en-US" sz="5400" dirty="0"/>
          </a:p>
        </p:txBody>
      </p:sp>
      <p:cxnSp>
        <p:nvCxnSpPr>
          <p:cNvPr id="4124" name="Straight Connector 4123">
            <a:extLst>
              <a:ext uri="{FF2B5EF4-FFF2-40B4-BE49-F238E27FC236}">
                <a16:creationId xmlns:a16="http://schemas.microsoft.com/office/drawing/2014/main" id="{DC36F877-5419-44C1-A2CD-376BDDDC3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98" name="Picture 2">
            <a:extLst>
              <a:ext uri="{FF2B5EF4-FFF2-40B4-BE49-F238E27FC236}">
                <a16:creationId xmlns:a16="http://schemas.microsoft.com/office/drawing/2014/main" id="{804E40CA-CE71-34FF-068E-E8B9B2411AC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0099" y="3036171"/>
            <a:ext cx="5085200" cy="2733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75398D4B-8AC3-0133-8C3E-5194C35A16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53514" y="3101369"/>
            <a:ext cx="5128862" cy="2602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26" name="Straight Connector 4125">
            <a:extLst>
              <a:ext uri="{FF2B5EF4-FFF2-40B4-BE49-F238E27FC236}">
                <a16:creationId xmlns:a16="http://schemas.microsoft.com/office/drawing/2014/main" id="{44B21692-652C-4371-95C5-05248EF34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7890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31781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38" name="Straight Connector 513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0" name="Straight Connector 513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5142" name="Rectangle 514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508ED6E-044D-4208-9870-E1E182E8E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i="1" dirty="0"/>
              <a:t>Explore the dataset:</a:t>
            </a:r>
            <a:endParaRPr lang="en-US" dirty="0"/>
          </a:p>
        </p:txBody>
      </p:sp>
      <p:cxnSp>
        <p:nvCxnSpPr>
          <p:cNvPr id="5144" name="Straight Connector 514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>
            <a:extLst>
              <a:ext uri="{FF2B5EF4-FFF2-40B4-BE49-F238E27FC236}">
                <a16:creationId xmlns:a16="http://schemas.microsoft.com/office/drawing/2014/main" id="{522E1B75-0544-3DB7-8AD8-CB5C0799866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38600" y="1452802"/>
            <a:ext cx="7353299" cy="3952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28649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82" name="Straight Connector 6176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4" name="Straight Connector 617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6181" name="Rectangle 6180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6D75622E-E69C-4B4D-05F4-4EE5AD34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2630" y="448181"/>
            <a:ext cx="7445661" cy="114693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i="1"/>
              <a:t>Explore the dataset:</a:t>
            </a:r>
            <a:endParaRPr lang="en-US" sz="5400"/>
          </a:p>
        </p:txBody>
      </p:sp>
      <p:sp>
        <p:nvSpPr>
          <p:cNvPr id="6172" name="Content Placeholder 6160">
            <a:extLst>
              <a:ext uri="{FF2B5EF4-FFF2-40B4-BE49-F238E27FC236}">
                <a16:creationId xmlns:a16="http://schemas.microsoft.com/office/drawing/2014/main" id="{F3754AD4-1AA5-DD70-D8BF-6BAD1B31B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0634" y="661358"/>
            <a:ext cx="2228409" cy="352964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dirty="0" err="1"/>
              <a:t>NewCases</a:t>
            </a:r>
            <a:r>
              <a:rPr lang="en-US" dirty="0"/>
              <a:t> are right-skewed, supporting Poisson modeling.</a:t>
            </a:r>
            <a:br>
              <a:rPr lang="en-US" dirty="0"/>
            </a:br>
            <a:endParaRPr lang="en-US" dirty="0"/>
          </a:p>
        </p:txBody>
      </p:sp>
      <p:cxnSp>
        <p:nvCxnSpPr>
          <p:cNvPr id="6183" name="Straight Connector 6182">
            <a:extLst>
              <a:ext uri="{FF2B5EF4-FFF2-40B4-BE49-F238E27FC236}">
                <a16:creationId xmlns:a16="http://schemas.microsoft.com/office/drawing/2014/main" id="{F9600FFC-92AF-4AD3-9595-B0E23476B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3195590" y="661358"/>
            <a:ext cx="0" cy="576072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En bild som visar skärmbild, text, diagram, Rektangel&#10;&#10;AI-genererat innehåll kan vara felaktigt.">
            <a:extLst>
              <a:ext uri="{FF2B5EF4-FFF2-40B4-BE49-F238E27FC236}">
                <a16:creationId xmlns:a16="http://schemas.microsoft.com/office/drawing/2014/main" id="{64E39D57-B2DE-BCBA-F20E-AF2149E38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734996" y="1748634"/>
            <a:ext cx="7339808" cy="4569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6089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DACA0C3-B5D2-BA2D-E415-D86024C2F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Summary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exploration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17AE0EF-6F7E-D70F-5CD1-AFEA8EC55C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NewCases</a:t>
            </a:r>
            <a:r>
              <a:rPr lang="en-US" dirty="0"/>
              <a:t> follows a count distribution</a:t>
            </a:r>
          </a:p>
          <a:p>
            <a:r>
              <a:rPr lang="en-US" dirty="0"/>
              <a:t>Higher age groups showed significantly higher incidence rates</a:t>
            </a:r>
          </a:p>
          <a:p>
            <a:r>
              <a:rPr lang="en-US" dirty="0"/>
              <a:t>Healthier lifestyle scores (</a:t>
            </a:r>
            <a:r>
              <a:rPr lang="en-US" dirty="0" err="1"/>
              <a:t>CLIstd</a:t>
            </a:r>
            <a:r>
              <a:rPr lang="en-US" dirty="0"/>
              <a:t>) were negatively associated with new cases</a:t>
            </a:r>
          </a:p>
          <a:p>
            <a:r>
              <a:rPr lang="en-US" dirty="0"/>
              <a:t>Regional differences were observed in median BMI</a:t>
            </a:r>
          </a:p>
        </p:txBody>
      </p:sp>
    </p:spTree>
    <p:extLst>
      <p:ext uri="{BB962C8B-B14F-4D97-AF65-F5344CB8AC3E}">
        <p14:creationId xmlns:p14="http://schemas.microsoft.com/office/powerpoint/2010/main" val="413518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60EB578-C970-4186-B93C-45851BBC6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2898719-9232-C521-3AFA-A9E737D94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68" y="914400"/>
            <a:ext cx="6627924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900" b="1" i="1" dirty="0"/>
              <a:t>Develop a model to examine the trends in new cases of pancreatic cancer across the recorded population variables and </a:t>
            </a:r>
            <a:r>
              <a:rPr lang="en-US" sz="1900" b="1" i="1" dirty="0" err="1"/>
              <a:t>Analyse</a:t>
            </a:r>
            <a:r>
              <a:rPr lang="en-US" sz="1900" b="1" i="1" dirty="0"/>
              <a:t> the model outputs and examine model performance:</a:t>
            </a:r>
            <a:endParaRPr lang="sv-SE" sz="1900" dirty="0"/>
          </a:p>
        </p:txBody>
      </p:sp>
      <p:pic>
        <p:nvPicPr>
          <p:cNvPr id="5" name="Picture 4" descr="Kemiska formler skrivs på papper">
            <a:extLst>
              <a:ext uri="{FF2B5EF4-FFF2-40B4-BE49-F238E27FC236}">
                <a16:creationId xmlns:a16="http://schemas.microsoft.com/office/drawing/2014/main" id="{77854FF1-C828-1B1F-D6CF-FBBBAB0A64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567" r="33024" b="1"/>
          <a:stretch>
            <a:fillRect/>
          </a:stretch>
        </p:blipFill>
        <p:spPr>
          <a:xfrm>
            <a:off x="20" y="-17929"/>
            <a:ext cx="4206220" cy="687592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DF57B02-07BB-407B-BB36-06D9C64A6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17665" y="722376"/>
            <a:ext cx="6476356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090767AB-20D6-4ED1-CDD7-3C1E02DA3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6968" y="2221992"/>
            <a:ext cx="6627924" cy="3739896"/>
          </a:xfrm>
        </p:spPr>
        <p:txBody>
          <a:bodyPr>
            <a:normAutofit/>
          </a:bodyPr>
          <a:lstStyle/>
          <a:p>
            <a:r>
              <a:rPr lang="en-US" dirty="0"/>
              <a:t>Since the outcome variable (</a:t>
            </a:r>
            <a:r>
              <a:rPr lang="en-US" dirty="0" err="1"/>
              <a:t>NewCases</a:t>
            </a:r>
            <a:r>
              <a:rPr lang="en-US" dirty="0"/>
              <a:t>) represents count data and is approximately Poisson-distributed, we used a Poisson GLM with a log link. The population size was included as an offset to account for varying subgroup sizes</a:t>
            </a:r>
            <a:endParaRPr lang="sv-SE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6855964-C920-48EB-8804-74291211C8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17665" y="6144768"/>
            <a:ext cx="647635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378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93" name="Rectangle 7180">
            <a:extLst>
              <a:ext uri="{FF2B5EF4-FFF2-40B4-BE49-F238E27FC236}">
                <a16:creationId xmlns:a16="http://schemas.microsoft.com/office/drawing/2014/main" id="{578EB459-3385-4BF6-A9E1-154CBA251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AA28D3A-BFFA-5199-B00E-5557CC938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09637"/>
            <a:ext cx="4397556" cy="1316736"/>
          </a:xfrm>
        </p:spPr>
        <p:txBody>
          <a:bodyPr>
            <a:normAutofit/>
          </a:bodyPr>
          <a:lstStyle/>
          <a:p>
            <a:r>
              <a:rPr lang="sv-SE"/>
              <a:t>Model 1</a:t>
            </a:r>
            <a:endParaRPr lang="sv-SE" dirty="0"/>
          </a:p>
        </p:txBody>
      </p:sp>
      <p:cxnSp>
        <p:nvCxnSpPr>
          <p:cNvPr id="7194" name="Straight Connector 7182">
            <a:extLst>
              <a:ext uri="{FF2B5EF4-FFF2-40B4-BE49-F238E27FC236}">
                <a16:creationId xmlns:a16="http://schemas.microsoft.com/office/drawing/2014/main" id="{1DC20223-0542-4FF7-8F2F-136889161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78" name="Content Placeholder 7177">
            <a:extLst>
              <a:ext uri="{FF2B5EF4-FFF2-40B4-BE49-F238E27FC236}">
                <a16:creationId xmlns:a16="http://schemas.microsoft.com/office/drawing/2014/main" id="{5E22552A-2932-573C-F0F0-1D700B2E4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26373"/>
            <a:ext cx="4397554" cy="3983928"/>
          </a:xfrm>
        </p:spPr>
        <p:txBody>
          <a:bodyPr>
            <a:normAutofit/>
          </a:bodyPr>
          <a:lstStyle/>
          <a:p>
            <a:r>
              <a:rPr lang="en-US" dirty="0"/>
              <a:t>All predictors were included. </a:t>
            </a:r>
            <a:r>
              <a:rPr lang="en-US" dirty="0" err="1"/>
              <a:t>AgeGroup</a:t>
            </a:r>
            <a:r>
              <a:rPr lang="en-US" dirty="0"/>
              <a:t> and </a:t>
            </a:r>
            <a:r>
              <a:rPr lang="en-US" dirty="0" err="1"/>
              <a:t>CLIstd</a:t>
            </a:r>
            <a:r>
              <a:rPr lang="en-US" dirty="0"/>
              <a:t> were significant (p &lt; 0.05), while BMI, region and </a:t>
            </a:r>
            <a:r>
              <a:rPr lang="en-US" dirty="0" err="1"/>
              <a:t>SmokingPrevalence</a:t>
            </a:r>
            <a:r>
              <a:rPr lang="en-US" dirty="0"/>
              <a:t> were not</a:t>
            </a:r>
          </a:p>
          <a:p>
            <a:r>
              <a:rPr lang="en-US" dirty="0" err="1"/>
              <a:t>DHARMa</a:t>
            </a:r>
            <a:r>
              <a:rPr lang="en-US" dirty="0"/>
              <a:t> residual diagnostics showed no overdispersion and a uniform distribution of simulated residuals, indicating a good model fit.</a:t>
            </a:r>
          </a:p>
        </p:txBody>
      </p:sp>
      <p:pic>
        <p:nvPicPr>
          <p:cNvPr id="7174" name="Picture 6" descr="En bild som visar text, diagram, Teckensnitt, skärmbild&#10;&#10;AI-genererat innehåll kan vara felaktigt.">
            <a:extLst>
              <a:ext uri="{FF2B5EF4-FFF2-40B4-BE49-F238E27FC236}">
                <a16:creationId xmlns:a16="http://schemas.microsoft.com/office/drawing/2014/main" id="{7BE833AF-A096-6006-D742-DE1ECF48D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27208" y="737055"/>
            <a:ext cx="2659223" cy="1961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 descr="En bild som visar text, skärmbild, Teckensnitt, nummer&#10;&#10;AI-genererat innehåll kan vara felaktigt.">
            <a:extLst>
              <a:ext uri="{FF2B5EF4-FFF2-40B4-BE49-F238E27FC236}">
                <a16:creationId xmlns:a16="http://schemas.microsoft.com/office/drawing/2014/main" id="{49F2C648-F6C3-C5AD-70BE-AB0FCE2DFF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32678" y="723900"/>
            <a:ext cx="2230144" cy="1984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En bild som visar text, skärmbild, Teckensnitt, linje&#10;&#10;AI-genererat innehåll kan vara felaktigt.">
            <a:extLst>
              <a:ext uri="{FF2B5EF4-FFF2-40B4-BE49-F238E27FC236}">
                <a16:creationId xmlns:a16="http://schemas.microsoft.com/office/drawing/2014/main" id="{9FE50D74-F120-5F2D-2363-5F45A50C7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14999" y="2983043"/>
            <a:ext cx="5676901" cy="1007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7941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207" name="Rectangle 8202">
            <a:extLst>
              <a:ext uri="{FF2B5EF4-FFF2-40B4-BE49-F238E27FC236}">
                <a16:creationId xmlns:a16="http://schemas.microsoft.com/office/drawing/2014/main" id="{578EB459-3385-4BF6-A9E1-154CBA251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01A31A50-E081-87A7-E0F7-31E5C6C24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09637"/>
            <a:ext cx="4397556" cy="1316736"/>
          </a:xfrm>
        </p:spPr>
        <p:txBody>
          <a:bodyPr>
            <a:normAutofit/>
          </a:bodyPr>
          <a:lstStyle/>
          <a:p>
            <a:r>
              <a:rPr lang="sv-SE" dirty="0" err="1"/>
              <a:t>Model</a:t>
            </a:r>
            <a:r>
              <a:rPr lang="sv-SE" dirty="0"/>
              <a:t> 2</a:t>
            </a:r>
          </a:p>
        </p:txBody>
      </p:sp>
      <p:cxnSp>
        <p:nvCxnSpPr>
          <p:cNvPr id="8208" name="Straight Connector 8204">
            <a:extLst>
              <a:ext uri="{FF2B5EF4-FFF2-40B4-BE49-F238E27FC236}">
                <a16:creationId xmlns:a16="http://schemas.microsoft.com/office/drawing/2014/main" id="{1DC20223-0542-4FF7-8F2F-136889161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858A463C-48DF-E7F5-E28F-BD5367ED9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26373"/>
            <a:ext cx="4397554" cy="3983928"/>
          </a:xfrm>
        </p:spPr>
        <p:txBody>
          <a:bodyPr>
            <a:normAutofit/>
          </a:bodyPr>
          <a:lstStyle/>
          <a:p>
            <a:r>
              <a:rPr lang="en-US" dirty="0"/>
              <a:t>Only </a:t>
            </a:r>
            <a:r>
              <a:rPr lang="en-US" dirty="0" err="1"/>
              <a:t>AgeGroup</a:t>
            </a:r>
            <a:r>
              <a:rPr lang="en-US" dirty="0"/>
              <a:t> were significant (p &lt; 0.05), while BMI, sex, region, </a:t>
            </a:r>
            <a:r>
              <a:rPr lang="en-US" dirty="0" err="1"/>
              <a:t>CLIstd</a:t>
            </a:r>
            <a:r>
              <a:rPr lang="en-US" dirty="0"/>
              <a:t>, </a:t>
            </a:r>
            <a:r>
              <a:rPr lang="en-US" dirty="0" err="1"/>
              <a:t>SmokingPrevalence</a:t>
            </a:r>
            <a:r>
              <a:rPr lang="en-US" dirty="0"/>
              <a:t> and the interaction term were not significant. </a:t>
            </a:r>
            <a:r>
              <a:rPr lang="en-US" dirty="0" err="1"/>
              <a:t>DHARMa</a:t>
            </a:r>
            <a:r>
              <a:rPr lang="en-US" dirty="0"/>
              <a:t> residual diagnostics showed no overdispersion and a uniform distribution of simulated residuals, indicating a good model fit.</a:t>
            </a:r>
            <a:br>
              <a:rPr lang="en-US" dirty="0"/>
            </a:br>
            <a:endParaRPr lang="sv-SE" dirty="0"/>
          </a:p>
        </p:txBody>
      </p:sp>
      <p:pic>
        <p:nvPicPr>
          <p:cNvPr id="8198" name="Picture 6" descr="En bild som visar text, diagram, Teckensnitt, linje&#10;&#10;AI-genererat innehåll kan vara felaktigt.">
            <a:extLst>
              <a:ext uri="{FF2B5EF4-FFF2-40B4-BE49-F238E27FC236}">
                <a16:creationId xmlns:a16="http://schemas.microsoft.com/office/drawing/2014/main" id="{B40E8EEB-ED87-2A89-5110-52469D2B11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27208" y="1042865"/>
            <a:ext cx="2659223" cy="165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4" name="Picture 2" descr="En bild som visar text, skärmbild, Teckensnitt, dokument&#10;&#10;AI-genererat innehåll kan vara felaktigt.">
            <a:extLst>
              <a:ext uri="{FF2B5EF4-FFF2-40B4-BE49-F238E27FC236}">
                <a16:creationId xmlns:a16="http://schemas.microsoft.com/office/drawing/2014/main" id="{FD432A68-9DB0-170D-3C0F-B9B2E5EC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32678" y="723900"/>
            <a:ext cx="2281411" cy="1984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En bild som visar text, skärmbild, Teckensnitt, algebra&#10;&#10;AI-genererat innehåll kan vara felaktigt.">
            <a:extLst>
              <a:ext uri="{FF2B5EF4-FFF2-40B4-BE49-F238E27FC236}">
                <a16:creationId xmlns:a16="http://schemas.microsoft.com/office/drawing/2014/main" id="{D2DA3568-6790-FEA9-11AD-506385759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14999" y="2983043"/>
            <a:ext cx="5676901" cy="965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414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29" name="Rectangle 9228">
            <a:extLst>
              <a:ext uri="{FF2B5EF4-FFF2-40B4-BE49-F238E27FC236}">
                <a16:creationId xmlns:a16="http://schemas.microsoft.com/office/drawing/2014/main" id="{578EB459-3385-4BF6-A9E1-154CBA251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6E4B6715-5F4F-55B8-8046-92E0EBC6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09637"/>
            <a:ext cx="4397556" cy="1316736"/>
          </a:xfrm>
        </p:spPr>
        <p:txBody>
          <a:bodyPr>
            <a:normAutofit/>
          </a:bodyPr>
          <a:lstStyle/>
          <a:p>
            <a:r>
              <a:rPr lang="sv-SE" dirty="0" err="1"/>
              <a:t>Model</a:t>
            </a:r>
            <a:r>
              <a:rPr lang="sv-SE" dirty="0"/>
              <a:t> 3</a:t>
            </a:r>
          </a:p>
        </p:txBody>
      </p:sp>
      <p:cxnSp>
        <p:nvCxnSpPr>
          <p:cNvPr id="9231" name="Straight Connector 9230">
            <a:extLst>
              <a:ext uri="{FF2B5EF4-FFF2-40B4-BE49-F238E27FC236}">
                <a16:creationId xmlns:a16="http://schemas.microsoft.com/office/drawing/2014/main" id="{1DC20223-0542-4FF7-8F2F-136889161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26" name="Content Placeholder 9225">
            <a:extLst>
              <a:ext uri="{FF2B5EF4-FFF2-40B4-BE49-F238E27FC236}">
                <a16:creationId xmlns:a16="http://schemas.microsoft.com/office/drawing/2014/main" id="{C6AB7948-EEE3-67EF-608A-8BA3E1894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26373"/>
            <a:ext cx="4397554" cy="3983928"/>
          </a:xfrm>
        </p:spPr>
        <p:txBody>
          <a:bodyPr>
            <a:normAutofit/>
          </a:bodyPr>
          <a:lstStyle/>
          <a:p>
            <a:r>
              <a:rPr lang="en-US" dirty="0"/>
              <a:t>In Model 3, </a:t>
            </a:r>
            <a:r>
              <a:rPr lang="en-US" dirty="0" err="1"/>
              <a:t>AgeGroup</a:t>
            </a:r>
            <a:r>
              <a:rPr lang="en-US" dirty="0"/>
              <a:t>, BMI and </a:t>
            </a:r>
            <a:r>
              <a:rPr lang="en-US" dirty="0" err="1"/>
              <a:t>SmokingPrevalence</a:t>
            </a:r>
            <a:r>
              <a:rPr lang="en-US" dirty="0"/>
              <a:t> were significant (p &lt; 0.05), while, sex, </a:t>
            </a:r>
            <a:r>
              <a:rPr lang="en-US" dirty="0" err="1"/>
              <a:t>CLIstd</a:t>
            </a:r>
            <a:r>
              <a:rPr lang="en-US" dirty="0"/>
              <a:t>,  and the interaction term were not significant. </a:t>
            </a:r>
          </a:p>
          <a:p>
            <a:r>
              <a:rPr lang="en-US" dirty="0"/>
              <a:t>The residuals seem normally distributed but we get some quantile deviation indicating a worse fit. </a:t>
            </a:r>
          </a:p>
        </p:txBody>
      </p:sp>
      <p:pic>
        <p:nvPicPr>
          <p:cNvPr id="9222" name="Picture 6" descr="En bild som visar text, diagram, skärmbild, linje&#10;&#10;AI-genererat innehåll kan vara felaktigt.">
            <a:extLst>
              <a:ext uri="{FF2B5EF4-FFF2-40B4-BE49-F238E27FC236}">
                <a16:creationId xmlns:a16="http://schemas.microsoft.com/office/drawing/2014/main" id="{0C436624-D5AC-130D-A469-D463D8618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27208" y="1042865"/>
            <a:ext cx="2659223" cy="165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 descr="En bild som visar text, skärmbild, Teckensnitt, nummer&#10;&#10;AI-genererat innehåll kan vara felaktigt.">
            <a:extLst>
              <a:ext uri="{FF2B5EF4-FFF2-40B4-BE49-F238E27FC236}">
                <a16:creationId xmlns:a16="http://schemas.microsoft.com/office/drawing/2014/main" id="{2A906057-6C4B-6696-4D98-AA7A97FEF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32678" y="1026770"/>
            <a:ext cx="2659223" cy="1681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En bild som visar text, skärmbild, Teckensnitt, algebra&#10;&#10;AI-genererat innehåll kan vara felaktigt.">
            <a:extLst>
              <a:ext uri="{FF2B5EF4-FFF2-40B4-BE49-F238E27FC236}">
                <a16:creationId xmlns:a16="http://schemas.microsoft.com/office/drawing/2014/main" id="{77F6524E-37A2-62BD-5091-B6F69E0150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14999" y="2983043"/>
            <a:ext cx="5676901" cy="936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35257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53" name="Rectangle 10252">
            <a:extLst>
              <a:ext uri="{FF2B5EF4-FFF2-40B4-BE49-F238E27FC236}">
                <a16:creationId xmlns:a16="http://schemas.microsoft.com/office/drawing/2014/main" id="{578EB459-3385-4BF6-A9E1-154CBA251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5DE035A1-BC0E-747F-01C3-2840163AB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09637"/>
            <a:ext cx="4397556" cy="1316736"/>
          </a:xfrm>
        </p:spPr>
        <p:txBody>
          <a:bodyPr>
            <a:normAutofit/>
          </a:bodyPr>
          <a:lstStyle/>
          <a:p>
            <a:r>
              <a:rPr lang="sv-SE" dirty="0" err="1"/>
              <a:t>Model</a:t>
            </a:r>
            <a:r>
              <a:rPr lang="sv-SE" dirty="0"/>
              <a:t> 4</a:t>
            </a:r>
          </a:p>
        </p:txBody>
      </p:sp>
      <p:cxnSp>
        <p:nvCxnSpPr>
          <p:cNvPr id="10255" name="Straight Connector 10254">
            <a:extLst>
              <a:ext uri="{FF2B5EF4-FFF2-40B4-BE49-F238E27FC236}">
                <a16:creationId xmlns:a16="http://schemas.microsoft.com/office/drawing/2014/main" id="{1DC20223-0542-4FF7-8F2F-136889161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0" name="Content Placeholder 10249">
            <a:extLst>
              <a:ext uri="{FF2B5EF4-FFF2-40B4-BE49-F238E27FC236}">
                <a16:creationId xmlns:a16="http://schemas.microsoft.com/office/drawing/2014/main" id="{40D6BA0D-6451-A24A-BB39-1BFD404F1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26373"/>
            <a:ext cx="4397554" cy="3983928"/>
          </a:xfrm>
        </p:spPr>
        <p:txBody>
          <a:bodyPr>
            <a:normAutofit/>
          </a:bodyPr>
          <a:lstStyle/>
          <a:p>
            <a:r>
              <a:rPr lang="en-US" dirty="0"/>
              <a:t>In Model 4, </a:t>
            </a:r>
            <a:r>
              <a:rPr lang="en-US" dirty="0" err="1"/>
              <a:t>AgeGroup</a:t>
            </a:r>
            <a:r>
              <a:rPr lang="en-US" dirty="0"/>
              <a:t> and </a:t>
            </a:r>
            <a:r>
              <a:rPr lang="en-US" dirty="0" err="1"/>
              <a:t>SmokingPrevalence</a:t>
            </a:r>
            <a:r>
              <a:rPr lang="en-US" dirty="0"/>
              <a:t> were significant (p &lt; 0.05), while sex, BMI, region, </a:t>
            </a:r>
            <a:r>
              <a:rPr lang="en-US" dirty="0" err="1"/>
              <a:t>CLIstd</a:t>
            </a:r>
            <a:r>
              <a:rPr lang="en-US" dirty="0"/>
              <a:t>,  and the interaction term were not significant.  </a:t>
            </a:r>
          </a:p>
          <a:p>
            <a:r>
              <a:rPr lang="en-US" dirty="0"/>
              <a:t>There is no overdispersion, but the residuals seem less normally distributed and we get some quantile deviation indicating a worse fit. </a:t>
            </a:r>
          </a:p>
        </p:txBody>
      </p:sp>
      <p:pic>
        <p:nvPicPr>
          <p:cNvPr id="10246" name="Picture 6" descr="En bild som visar text, skärmbild, diagram, Teckensnitt&#10;&#10;AI-genererat innehåll kan vara felaktigt.">
            <a:extLst>
              <a:ext uri="{FF2B5EF4-FFF2-40B4-BE49-F238E27FC236}">
                <a16:creationId xmlns:a16="http://schemas.microsoft.com/office/drawing/2014/main" id="{C129ECB6-5D58-D938-CD50-B5B8F1E02A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27208" y="1042865"/>
            <a:ext cx="2659223" cy="165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2" name="Picture 2" descr="En bild som visar text, skärmbild, Teckensnitt, nummer&#10;&#10;AI-genererat innehåll kan vara felaktigt.">
            <a:extLst>
              <a:ext uri="{FF2B5EF4-FFF2-40B4-BE49-F238E27FC236}">
                <a16:creationId xmlns:a16="http://schemas.microsoft.com/office/drawing/2014/main" id="{9FAD21A2-71CC-B885-F3A5-55CAF8D78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32678" y="953640"/>
            <a:ext cx="2659223" cy="1755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En bild som visar text, skärmbild, Teckensnitt, linje&#10;&#10;AI-genererat innehåll kan vara felaktigt.">
            <a:extLst>
              <a:ext uri="{FF2B5EF4-FFF2-40B4-BE49-F238E27FC236}">
                <a16:creationId xmlns:a16="http://schemas.microsoft.com/office/drawing/2014/main" id="{1EA5165D-8807-DEE3-171B-8007B4E08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14999" y="2983043"/>
            <a:ext cx="5676901" cy="965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9640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273" name="Rectangle 11272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B4BDD39E-B333-7647-D5EB-B06E77BB1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399"/>
            <a:ext cx="5239272" cy="1621147"/>
          </a:xfrm>
        </p:spPr>
        <p:txBody>
          <a:bodyPr>
            <a:normAutofit/>
          </a:bodyPr>
          <a:lstStyle/>
          <a:p>
            <a:r>
              <a:rPr lang="sv-SE" dirty="0"/>
              <a:t>Matrix </a:t>
            </a:r>
            <a:r>
              <a:rPr lang="sv-SE" dirty="0" err="1"/>
              <a:t>of</a:t>
            </a:r>
            <a:r>
              <a:rPr lang="sv-SE" dirty="0"/>
              <a:t> </a:t>
            </a:r>
            <a:r>
              <a:rPr lang="sv-SE" dirty="0" err="1"/>
              <a:t>model</a:t>
            </a:r>
            <a:r>
              <a:rPr lang="sv-SE" dirty="0"/>
              <a:t> </a:t>
            </a:r>
            <a:r>
              <a:rPr lang="sv-SE" dirty="0" err="1"/>
              <a:t>paramters</a:t>
            </a:r>
            <a:endParaRPr lang="sv-SE" dirty="0"/>
          </a:p>
        </p:txBody>
      </p:sp>
      <p:cxnSp>
        <p:nvCxnSpPr>
          <p:cNvPr id="11275" name="Straight Connector 1">
            <a:extLst>
              <a:ext uri="{FF2B5EF4-FFF2-40B4-BE49-F238E27FC236}">
                <a16:creationId xmlns:a16="http://schemas.microsoft.com/office/drawing/2014/main" id="{7D3DF08D-8EDA-0FB3-59D9-B692F2ADD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66" name="Picture 2" descr="En bild som visar text, Teckensnitt, skärmbild, vit&#10;&#10;AI-genererat innehåll kan vara felaktigt.">
            <a:extLst>
              <a:ext uri="{FF2B5EF4-FFF2-40B4-BE49-F238E27FC236}">
                <a16:creationId xmlns:a16="http://schemas.microsoft.com/office/drawing/2014/main" id="{99D10EE0-CE20-B0EE-32AC-64D153749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4672" y="4761594"/>
            <a:ext cx="5138688" cy="1401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270" name="Content Placeholder 11269">
            <a:extLst>
              <a:ext uri="{FF2B5EF4-FFF2-40B4-BE49-F238E27FC236}">
                <a16:creationId xmlns:a16="http://schemas.microsoft.com/office/drawing/2014/main" id="{ADDEFE59-0A1C-9A39-54E3-235A9C0A4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6176" y="914399"/>
            <a:ext cx="5138688" cy="5248657"/>
          </a:xfrm>
        </p:spPr>
        <p:txBody>
          <a:bodyPr>
            <a:normAutofit/>
          </a:bodyPr>
          <a:lstStyle/>
          <a:p>
            <a:r>
              <a:rPr lang="en-US" dirty="0"/>
              <a:t>AIC evaluates how well your model fits the data while penalizing complexity (the number of parameters).</a:t>
            </a:r>
          </a:p>
          <a:p>
            <a:r>
              <a:rPr lang="en-US" dirty="0"/>
              <a:t>BIC - Similar to AIC but penalizes complexity more strongly,</a:t>
            </a:r>
          </a:p>
          <a:p>
            <a:r>
              <a:rPr lang="en-US" dirty="0"/>
              <a:t>R^2 - The proportion of variation in the response variable that your model explains.</a:t>
            </a:r>
          </a:p>
          <a:p>
            <a:endParaRPr lang="en-US" dirty="0"/>
          </a:p>
          <a:p>
            <a:r>
              <a:rPr lang="en-US" dirty="0"/>
              <a:t>We see good Model 3 and Model 4 have the best performance.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219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309" name="Rectangle 12308">
            <a:extLst>
              <a:ext uri="{FF2B5EF4-FFF2-40B4-BE49-F238E27FC236}">
                <a16:creationId xmlns:a16="http://schemas.microsoft.com/office/drawing/2014/main" id="{E53615EE-C559-4E03-999B-5477F1626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AE28222-61E8-96FC-9BE6-958E16FC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5958216" cy="1316736"/>
          </a:xfrm>
        </p:spPr>
        <p:txBody>
          <a:bodyPr>
            <a:normAutofit/>
          </a:bodyPr>
          <a:lstStyle/>
          <a:p>
            <a:r>
              <a:rPr lang="sv-SE"/>
              <a:t>Lasso</a:t>
            </a:r>
            <a:endParaRPr lang="sv-SE" dirty="0"/>
          </a:p>
        </p:txBody>
      </p:sp>
      <p:cxnSp>
        <p:nvCxnSpPr>
          <p:cNvPr id="12311" name="Straight Connector 12310">
            <a:extLst>
              <a:ext uri="{FF2B5EF4-FFF2-40B4-BE49-F238E27FC236}">
                <a16:creationId xmlns:a16="http://schemas.microsoft.com/office/drawing/2014/main" id="{799A8EBD-049C-48E6-97ED-C9102D78FC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2376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04" name="Content Placeholder 12293">
            <a:extLst>
              <a:ext uri="{FF2B5EF4-FFF2-40B4-BE49-F238E27FC236}">
                <a16:creationId xmlns:a16="http://schemas.microsoft.com/office/drawing/2014/main" id="{178BF19B-6E17-80A9-B60A-D18AD65B5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35251"/>
            <a:ext cx="5958216" cy="3713109"/>
          </a:xfrm>
        </p:spPr>
        <p:txBody>
          <a:bodyPr>
            <a:normAutofit/>
          </a:bodyPr>
          <a:lstStyle/>
          <a:p>
            <a:r>
              <a:rPr lang="en-US" dirty="0"/>
              <a:t>We applied LASSO regularization to identify the most relevant predictors and reduce potential multicollinearity between correlated variables</a:t>
            </a:r>
          </a:p>
          <a:p>
            <a:endParaRPr lang="en-US" dirty="0"/>
          </a:p>
          <a:p>
            <a:r>
              <a:rPr lang="en-US" dirty="0"/>
              <a:t>LASSO selected </a:t>
            </a:r>
            <a:r>
              <a:rPr lang="en-US" dirty="0" err="1"/>
              <a:t>AgeGroup</a:t>
            </a:r>
            <a:r>
              <a:rPr lang="en-US" dirty="0"/>
              <a:t> and </a:t>
            </a:r>
            <a:r>
              <a:rPr lang="en-US" dirty="0" err="1"/>
              <a:t>CLIstd</a:t>
            </a:r>
            <a:r>
              <a:rPr lang="en-US" dirty="0"/>
              <a:t> as main predictors, supporting previous GLM findings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2292" name="Picture 4" descr="En bild som visar text, linje, diagram, Graf&#10;&#10;AI-genererat innehåll kan vara felaktigt.">
            <a:extLst>
              <a:ext uri="{FF2B5EF4-FFF2-40B4-BE49-F238E27FC236}">
                <a16:creationId xmlns:a16="http://schemas.microsoft.com/office/drawing/2014/main" id="{4B07F75C-D9E0-E082-7895-3C6A711918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315200" y="748861"/>
            <a:ext cx="4076700" cy="2537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313" name="Straight Connector 12312">
            <a:extLst>
              <a:ext uri="{FF2B5EF4-FFF2-40B4-BE49-F238E27FC236}">
                <a16:creationId xmlns:a16="http://schemas.microsoft.com/office/drawing/2014/main" id="{07AB7C5C-C091-4C25-B1BD-93E2F6948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8546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290" name="Picture 2" descr="En bild som visar text, skärmbild, Teckensnitt&#10;&#10;AI-genererat innehåll kan vara felaktigt.">
            <a:extLst>
              <a:ext uri="{FF2B5EF4-FFF2-40B4-BE49-F238E27FC236}">
                <a16:creationId xmlns:a16="http://schemas.microsoft.com/office/drawing/2014/main" id="{9542E1DE-5403-DFC6-0759-2979106EF2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315200" y="3734241"/>
            <a:ext cx="4076700" cy="227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016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321" name="Rectangle 1332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B7836189-6232-22AE-ABE4-07C0AB78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r>
              <a:rPr lang="sv-SE" dirty="0"/>
              <a:t>Lasso</a:t>
            </a:r>
          </a:p>
        </p:txBody>
      </p:sp>
      <p:cxnSp>
        <p:nvCxnSpPr>
          <p:cNvPr id="13323" name="Straight Connector 13322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8" name="Content Placeholder 13317">
            <a:extLst>
              <a:ext uri="{FF2B5EF4-FFF2-40B4-BE49-F238E27FC236}">
                <a16:creationId xmlns:a16="http://schemas.microsoft.com/office/drawing/2014/main" id="{92ABA1F9-1038-4C62-93BD-5DC381436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r>
              <a:rPr lang="en-US" dirty="0"/>
              <a:t>In the LASSO model, the interaction term (</a:t>
            </a:r>
            <a:r>
              <a:rPr lang="en-US" dirty="0" err="1"/>
              <a:t>CLIstd:BMImedian</a:t>
            </a:r>
            <a:r>
              <a:rPr lang="en-US" dirty="0"/>
              <a:t>) was penalized to zero, </a:t>
            </a:r>
          </a:p>
          <a:p>
            <a:r>
              <a:rPr lang="en-US" dirty="0"/>
              <a:t>However, in model 4, including this interaction improved model fit </a:t>
            </a:r>
          </a:p>
          <a:p>
            <a:r>
              <a:rPr lang="en-US" dirty="0"/>
              <a:t>This difference arises because LASSO prioritizes model simplicity and generalization, whereas standard regression prioritizes in-sample explanatory power.</a:t>
            </a:r>
          </a:p>
        </p:txBody>
      </p:sp>
      <p:pic>
        <p:nvPicPr>
          <p:cNvPr id="13314" name="Picture 2" descr="En bild som visar text, skärmbild, Teckensnitt, nummer&#10;&#10;AI-genererat innehåll kan vara felaktigt.">
            <a:extLst>
              <a:ext uri="{FF2B5EF4-FFF2-40B4-BE49-F238E27FC236}">
                <a16:creationId xmlns:a16="http://schemas.microsoft.com/office/drawing/2014/main" id="{7777DA4D-62A1-B6CD-C2B7-E8DCE180C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7920" y="3361295"/>
            <a:ext cx="3903980" cy="2644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325" name="Straight Connector 13324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6799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345" name="Rectangle 14344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11984DF6-AC4D-B494-5820-501C1CE75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r>
              <a:rPr lang="sv-SE" dirty="0" err="1"/>
              <a:t>Elastic</a:t>
            </a:r>
            <a:r>
              <a:rPr lang="sv-SE" dirty="0"/>
              <a:t> </a:t>
            </a:r>
            <a:r>
              <a:rPr lang="sv-SE" dirty="0" err="1"/>
              <a:t>net</a:t>
            </a:r>
            <a:r>
              <a:rPr lang="sv-SE" dirty="0"/>
              <a:t> </a:t>
            </a:r>
          </a:p>
        </p:txBody>
      </p:sp>
      <p:cxnSp>
        <p:nvCxnSpPr>
          <p:cNvPr id="14347" name="Straight Connector 14346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42" name="Content Placeholder 14341">
            <a:extLst>
              <a:ext uri="{FF2B5EF4-FFF2-40B4-BE49-F238E27FC236}">
                <a16:creationId xmlns:a16="http://schemas.microsoft.com/office/drawing/2014/main" id="{1A377A4A-EEF6-1F86-4A81-2B107CA1D4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r>
              <a:rPr lang="en-US" dirty="0"/>
              <a:t>If we try an elastic net we  can see that the model actually keeps the interaction term, however it is practically zero. </a:t>
            </a:r>
          </a:p>
        </p:txBody>
      </p:sp>
      <p:pic>
        <p:nvPicPr>
          <p:cNvPr id="14338" name="Picture 2" descr="En bild som visar text, skärmbild, Teckensnitt&#10;&#10;AI-genererat innehåll kan vara felaktigt.">
            <a:extLst>
              <a:ext uri="{FF2B5EF4-FFF2-40B4-BE49-F238E27FC236}">
                <a16:creationId xmlns:a16="http://schemas.microsoft.com/office/drawing/2014/main" id="{71FC27AC-0365-F715-96E2-93A89EC21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7920" y="2795219"/>
            <a:ext cx="3903980" cy="321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349" name="Straight Connector 14348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0529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367" name="Rectangle 15366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364CCB36-9CFC-B842-4F0F-A1C53C035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/>
          </a:bodyPr>
          <a:lstStyle/>
          <a:p>
            <a:r>
              <a:rPr lang="sv-SE" dirty="0" err="1"/>
              <a:t>Prediction</a:t>
            </a:r>
            <a:endParaRPr lang="sv-SE" dirty="0"/>
          </a:p>
        </p:txBody>
      </p:sp>
      <p:cxnSp>
        <p:nvCxnSpPr>
          <p:cNvPr id="15369" name="Straight Connector 15368">
            <a:extLst>
              <a:ext uri="{FF2B5EF4-FFF2-40B4-BE49-F238E27FC236}">
                <a16:creationId xmlns:a16="http://schemas.microsoft.com/office/drawing/2014/main" id="{4E495065-8864-87FB-2BCC-254769963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362" name="Picture 2">
            <a:extLst>
              <a:ext uri="{FF2B5EF4-FFF2-40B4-BE49-F238E27FC236}">
                <a16:creationId xmlns:a16="http://schemas.microsoft.com/office/drawing/2014/main" id="{800BD1D0-F420-F232-BB08-F80F021BE3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0098" y="2708241"/>
            <a:ext cx="5549902" cy="3454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654CD4BD-6864-CFB5-6F27-EEB077E020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4960" y="2346960"/>
            <a:ext cx="4819903" cy="3775456"/>
          </a:xfrm>
        </p:spPr>
        <p:txBody>
          <a:bodyPr>
            <a:normAutofit/>
          </a:bodyPr>
          <a:lstStyle/>
          <a:p>
            <a:r>
              <a:rPr lang="en-US" dirty="0"/>
              <a:t>Finally we use the two best models (4 and 5) to see how well they can predict new cases in pancreatic cancer.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322304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B626E6C6-05B5-DA42-F49F-99FF8AD0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/>
              <a:t>SUmmary</a:t>
            </a:r>
            <a:endParaRPr lang="sv-SE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7DC97D68-B2C8-8F50-12FB-3DDF952F10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Overall, this analysis highlights the strong influence of age and lifestyle on pancreatic cancer incidence and suggests that promoting healthier lifestyles could have a measurable impact on reducing cancer risk. </a:t>
            </a:r>
          </a:p>
          <a:p>
            <a:r>
              <a:rPr lang="en-US" dirty="0"/>
              <a:t>However, given the cross-sectional design, causality cannot be established, and future research should extend these findings using longitudinal data and additional behavioral or genetic covariates.</a:t>
            </a:r>
          </a:p>
          <a:p>
            <a:pPr marL="0" indent="0">
              <a:buNone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85562808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7312</TotalTime>
  <Words>647</Words>
  <Application>Microsoft Office PowerPoint</Application>
  <PresentationFormat>Bredbild</PresentationFormat>
  <Paragraphs>52</Paragraphs>
  <Slides>19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19</vt:i4>
      </vt:variant>
    </vt:vector>
  </HeadingPairs>
  <TitlesOfParts>
    <vt:vector size="23" baseType="lpstr">
      <vt:lpstr>Arial</vt:lpstr>
      <vt:lpstr>Calisto MT</vt:lpstr>
      <vt:lpstr>Univers Condensed</vt:lpstr>
      <vt:lpstr>ChronicleVTI</vt:lpstr>
      <vt:lpstr>Task 1-Seminar 3</vt:lpstr>
      <vt:lpstr>Explore the dataset: </vt:lpstr>
      <vt:lpstr>Explore the dataset: </vt:lpstr>
      <vt:lpstr>Explore the dataset: </vt:lpstr>
      <vt:lpstr>Explore the dataset: </vt:lpstr>
      <vt:lpstr>Explore the dataset:</vt:lpstr>
      <vt:lpstr>Explore the dataset:</vt:lpstr>
      <vt:lpstr>Summary of exploration</vt:lpstr>
      <vt:lpstr>Develop a model to examine the trends in new cases of pancreatic cancer across the recorded population variables and Analyse the model outputs and examine model performance:</vt:lpstr>
      <vt:lpstr>Model 1</vt:lpstr>
      <vt:lpstr>Model 2</vt:lpstr>
      <vt:lpstr>Model 3</vt:lpstr>
      <vt:lpstr>Model 4</vt:lpstr>
      <vt:lpstr>Matrix of model paramters</vt:lpstr>
      <vt:lpstr>Lasso</vt:lpstr>
      <vt:lpstr>Lasso</vt:lpstr>
      <vt:lpstr>Elastic net </vt:lpstr>
      <vt:lpstr>Prediction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Mert Affan</dc:creator>
  <cp:lastModifiedBy>Mert Affan</cp:lastModifiedBy>
  <cp:revision>4</cp:revision>
  <dcterms:created xsi:type="dcterms:W3CDTF">2025-11-09T10:53:54Z</dcterms:created>
  <dcterms:modified xsi:type="dcterms:W3CDTF">2025-11-23T12:59:02Z</dcterms:modified>
</cp:coreProperties>
</file>
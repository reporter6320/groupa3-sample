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52707" autoAdjust="0"/>
  </p:normalViewPr>
  <p:slideViewPr>
    <p:cSldViewPr snapToGrid="0">
      <p:cViewPr varScale="1">
        <p:scale>
          <a:sx n="33" d="100"/>
          <a:sy n="33" d="100"/>
        </p:scale>
        <p:origin x="194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huvu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Platshållare fö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8D9028-4DC3-4621-B47B-73346B88BFF8}" type="datetimeFigureOut">
              <a:rPr lang="sv-SE" smtClean="0"/>
              <a:t>2025-12-02</a:t>
            </a:fld>
            <a:endParaRPr lang="sv-SE"/>
          </a:p>
        </p:txBody>
      </p:sp>
      <p:sp>
        <p:nvSpPr>
          <p:cNvPr id="4" name="Platshållare för bildobjekt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v-SE"/>
          </a:p>
        </p:txBody>
      </p:sp>
      <p:sp>
        <p:nvSpPr>
          <p:cNvPr id="5" name="Platshållare för anteckninga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055B74-96E7-4975-AA82-4809AF4B9DE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7867028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055B74-96E7-4975-AA82-4809AF4B9DEA}" type="slidenum">
              <a:rPr lang="sv-SE" smtClean="0"/>
              <a:t>7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7438652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spaghetti plot of individual samples measured by both kits shows that Kit 2 consistently produces either systematically higher or lower values for each sample, suggesting a difference in spread</a:t>
            </a:r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055B74-96E7-4975-AA82-4809AF4B9DEA}" type="slidenum">
              <a:rPr lang="sv-SE" smtClean="0"/>
              <a:t>8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6717964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Plotting the standard deviation vs. the mean reveals no strong evidence of proportional heteroscedasticity, but we observe slightly wider variability at higher concentrations.</a:t>
            </a:r>
            <a:endParaRPr lang="en-US" b="0" dirty="0">
              <a:effectLst/>
            </a:endParaRPr>
          </a:p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hints that a regression-based agreement model may be more appropriate.</a:t>
            </a:r>
            <a:endParaRPr lang="en-US" b="0" dirty="0">
              <a:effectLst/>
            </a:endParaRPr>
          </a:p>
          <a:p>
            <a:br>
              <a:rPr lang="en-US" dirty="0"/>
            </a:br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055B74-96E7-4975-AA82-4809AF4B9DEA}" type="slidenum">
              <a:rPr lang="sv-SE" smtClean="0"/>
              <a:t>9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7379619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standard BA plot shows a downward trend in differences across the concentration range. This indicates: Proportional bias and violation of the constant-difference assumption which motivates trying a regression-based method.</a:t>
            </a:r>
          </a:p>
          <a:p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dirty="0"/>
              <a:t>The Bland–Altman method evaluates agreement between two measurement techniques by examining three key aspects.</a:t>
            </a:r>
            <a:br>
              <a:rPr lang="en-US" dirty="0"/>
            </a:br>
            <a:r>
              <a:rPr lang="en-US" dirty="0"/>
              <a:t>First, it quantifies the </a:t>
            </a:r>
            <a:r>
              <a:rPr lang="en-US" b="1" dirty="0"/>
              <a:t>systematic bias</a:t>
            </a:r>
            <a:r>
              <a:rPr lang="en-US" dirty="0"/>
              <a:t>, meaning the average difference between the two methods, which indicates whether one method consistently measures higher or lower than the other.</a:t>
            </a:r>
            <a:br>
              <a:rPr lang="en-US" dirty="0"/>
            </a:br>
            <a:r>
              <a:rPr lang="en-US" dirty="0"/>
              <a:t>Second, it provides </a:t>
            </a:r>
            <a:r>
              <a:rPr lang="en-US" b="1" dirty="0"/>
              <a:t>limits of agreement</a:t>
            </a:r>
            <a:r>
              <a:rPr lang="en-US" dirty="0"/>
              <a:t>, a range within which 95% of individual differences lie; this reflects the </a:t>
            </a:r>
            <a:r>
              <a:rPr lang="en-US" b="1" dirty="0"/>
              <a:t>random error and precision</a:t>
            </a:r>
            <a:r>
              <a:rPr lang="en-US" dirty="0"/>
              <a:t> of the methods and determines whether they can be used interchangeably for individual patients.</a:t>
            </a:r>
            <a:br>
              <a:rPr lang="en-US" dirty="0"/>
            </a:br>
            <a:r>
              <a:rPr lang="en-US" dirty="0"/>
              <a:t>Third, the Bland–Altman plot reveals </a:t>
            </a:r>
            <a:r>
              <a:rPr lang="en-US" b="1" dirty="0"/>
              <a:t>proportional bias</a:t>
            </a:r>
            <a:r>
              <a:rPr lang="en-US" dirty="0"/>
              <a:t>, showing whether the difference between methods changes with the magnitude of the measurement—something standard BA cannot correct, and which may indicate the need for </a:t>
            </a:r>
            <a:r>
              <a:rPr lang="en-US" b="1" dirty="0"/>
              <a:t>regression-based Bland–Altman</a:t>
            </a:r>
            <a:r>
              <a:rPr lang="en-US" dirty="0"/>
              <a:t> if a trend is present.</a:t>
            </a:r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055B74-96E7-4975-AA82-4809AF4B9DEA}" type="slidenum">
              <a:rPr lang="sv-SE" smtClean="0"/>
              <a:t>10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9644734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055B74-96E7-4975-AA82-4809AF4B9DEA}" type="slidenum">
              <a:rPr lang="sv-SE" smtClean="0"/>
              <a:t>11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6079921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055B74-96E7-4975-AA82-4809AF4B9DEA}" type="slidenum">
              <a:rPr lang="sv-SE" smtClean="0"/>
              <a:t>12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5356994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Rubrik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B0232C1E-60CB-FFF2-25D9-433A68B7C5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Underrubrik 2">
            <a:extLst>
              <a:ext uri="{FF2B5EF4-FFF2-40B4-BE49-F238E27FC236}">
                <a16:creationId xmlns:a16="http://schemas.microsoft.com/office/drawing/2014/main" id="{22B16CEE-8595-F6CA-B1E8-B1D9C908F2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v-SE"/>
              <a:t>Klicka här för att ändra mall för underrubrikformat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227A08E2-87E6-3AEE-749F-884A9478B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D13FB-205D-46ED-B71C-09BB9CF70240}" type="datetimeFigureOut">
              <a:rPr lang="sv-SE" smtClean="0"/>
              <a:t>2025-12-02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4C117206-4150-C156-4F50-65F9EA363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3DD2DA31-5EC8-030C-FF4D-5EEB67903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1D799-F7AD-446A-822E-8954EE531AF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939925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B229457C-138F-D40B-38C4-6DE577884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AD378D9C-2F6D-11DA-B670-71E53FAE68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CC081E14-C6A4-E503-7606-265E36BEF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D13FB-205D-46ED-B71C-09BB9CF70240}" type="datetimeFigureOut">
              <a:rPr lang="sv-SE" smtClean="0"/>
              <a:t>2025-12-02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ADE6C205-A4B4-6EE5-2969-FE7B3D199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7A0FB29D-59CB-C3DA-2548-EB0F1A06C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1D799-F7AD-446A-822E-8954EE531AF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4244117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vsnitts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527C8A5F-577E-F6BC-737B-D2BA691C7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039DB541-E981-15A4-82A7-1A6C1B9312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21148859-5F92-E8C7-723B-C134A72E8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D13FB-205D-46ED-B71C-09BB9CF70240}" type="datetimeFigureOut">
              <a:rPr lang="sv-SE" smtClean="0"/>
              <a:t>2025-12-02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18F4A0CB-287A-0CFB-B85E-A02AAA94E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8A1F71AE-5FE8-9208-DE1A-31D0637B9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1D799-F7AD-446A-822E-8954EE531AF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3632679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vå de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2F67A939-7945-CD94-DE05-0E256E050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6D92E243-8EE6-D79B-D55A-2E4B384081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innehåll 3">
            <a:extLst>
              <a:ext uri="{FF2B5EF4-FFF2-40B4-BE49-F238E27FC236}">
                <a16:creationId xmlns:a16="http://schemas.microsoft.com/office/drawing/2014/main" id="{A96A9E51-B9D2-5684-498E-F91A1FFF17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4185D2AA-964C-01CF-5178-48CCEB39F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D13FB-205D-46ED-B71C-09BB9CF70240}" type="datetimeFigureOut">
              <a:rPr lang="sv-SE" smtClean="0"/>
              <a:t>2025-12-02</a:t>
            </a:fld>
            <a:endParaRPr lang="sv-SE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0B8088CD-B5B2-714F-021D-B7254577A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220B77B3-74B6-0927-0237-AA5DAC283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1D799-F7AD-446A-822E-8954EE531AF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6932051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84CF3692-0E7E-138C-05AB-6723DB039F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8721645D-D6FC-1FCE-3182-DD852BF882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Platshållare för innehåll 3">
            <a:extLst>
              <a:ext uri="{FF2B5EF4-FFF2-40B4-BE49-F238E27FC236}">
                <a16:creationId xmlns:a16="http://schemas.microsoft.com/office/drawing/2014/main" id="{E45D6FB1-D72B-299E-CB14-BD464E67A1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5" name="Platshållare för text 4">
            <a:extLst>
              <a:ext uri="{FF2B5EF4-FFF2-40B4-BE49-F238E27FC236}">
                <a16:creationId xmlns:a16="http://schemas.microsoft.com/office/drawing/2014/main" id="{6F91CEA3-243B-39AE-25CA-03488897B4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6" name="Platshållare för innehåll 5">
            <a:extLst>
              <a:ext uri="{FF2B5EF4-FFF2-40B4-BE49-F238E27FC236}">
                <a16:creationId xmlns:a16="http://schemas.microsoft.com/office/drawing/2014/main" id="{CCEFF373-7D7D-6EDA-399C-7D1DC439BA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7" name="Platshållare för datum 6">
            <a:extLst>
              <a:ext uri="{FF2B5EF4-FFF2-40B4-BE49-F238E27FC236}">
                <a16:creationId xmlns:a16="http://schemas.microsoft.com/office/drawing/2014/main" id="{9F47B0D0-7400-D2E2-9FD2-2747464FF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D13FB-205D-46ED-B71C-09BB9CF70240}" type="datetimeFigureOut">
              <a:rPr lang="sv-SE" smtClean="0"/>
              <a:t>2025-12-02</a:t>
            </a:fld>
            <a:endParaRPr lang="sv-SE"/>
          </a:p>
        </p:txBody>
      </p:sp>
      <p:sp>
        <p:nvSpPr>
          <p:cNvPr id="8" name="Platshållare för sidfot 7">
            <a:extLst>
              <a:ext uri="{FF2B5EF4-FFF2-40B4-BE49-F238E27FC236}">
                <a16:creationId xmlns:a16="http://schemas.microsoft.com/office/drawing/2014/main" id="{BC865916-E96A-2FEB-705C-949630075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Platshållare för bildnummer 8">
            <a:extLst>
              <a:ext uri="{FF2B5EF4-FFF2-40B4-BE49-F238E27FC236}">
                <a16:creationId xmlns:a16="http://schemas.microsoft.com/office/drawing/2014/main" id="{D3656EF5-1211-A06E-4D48-5B558DC4D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1D799-F7AD-446A-822E-8954EE531AF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5154053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7B73EBEE-4F09-90D4-BACD-10297D5DA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8E186F47-3F2C-7225-55E4-BDEECD51E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D13FB-205D-46ED-B71C-09BB9CF70240}" type="datetimeFigureOut">
              <a:rPr lang="sv-SE" smtClean="0"/>
              <a:t>2025-12-02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E4395DC5-7150-3769-7986-C5776D827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758C744C-AD0F-0BC5-AE06-128FCE2FA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1D799-F7AD-446A-822E-8954EE531AF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9953388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datum 1">
            <a:extLst>
              <a:ext uri="{FF2B5EF4-FFF2-40B4-BE49-F238E27FC236}">
                <a16:creationId xmlns:a16="http://schemas.microsoft.com/office/drawing/2014/main" id="{FBCC5DD9-B82E-AFFB-9FA9-3969340A2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D13FB-205D-46ED-B71C-09BB9CF70240}" type="datetimeFigureOut">
              <a:rPr lang="sv-SE" smtClean="0"/>
              <a:t>2025-12-02</a:t>
            </a:fld>
            <a:endParaRPr lang="sv-SE"/>
          </a:p>
        </p:txBody>
      </p:sp>
      <p:sp>
        <p:nvSpPr>
          <p:cNvPr id="3" name="Platshållare för sidfot 2">
            <a:extLst>
              <a:ext uri="{FF2B5EF4-FFF2-40B4-BE49-F238E27FC236}">
                <a16:creationId xmlns:a16="http://schemas.microsoft.com/office/drawing/2014/main" id="{7AD4543A-76C6-9B84-D65D-F868C7964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4CE1316B-5A3E-9EC1-CF91-4422CC7A6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1D799-F7AD-446A-822E-8954EE531AF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0331416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ext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441A9FBF-5142-0583-2F84-43758C163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D11BB197-BF52-0F66-1C13-F92205F127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91F5C8CC-4858-87AF-7734-9D204FCA4D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2E16F265-1371-7846-BCFE-FFF90F941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D13FB-205D-46ED-B71C-09BB9CF70240}" type="datetimeFigureOut">
              <a:rPr lang="sv-SE" smtClean="0"/>
              <a:t>2025-12-02</a:t>
            </a:fld>
            <a:endParaRPr lang="sv-SE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1C8FD767-9197-3304-AF1D-A02659AB7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FCF725CF-0ACF-5DF9-FA03-177FE2784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1D799-F7AD-446A-822E-8954EE531AF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909552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90D73011-5DAF-3D99-F325-7906EEA29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bild 2">
            <a:extLst>
              <a:ext uri="{FF2B5EF4-FFF2-40B4-BE49-F238E27FC236}">
                <a16:creationId xmlns:a16="http://schemas.microsoft.com/office/drawing/2014/main" id="{CEF19E95-59F3-4CC1-2007-8E451B79A3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1DFE7DC0-41BB-325D-B2D9-9D183B15A2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83F92964-3E6A-B0A6-2EEB-EEC224FA4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D13FB-205D-46ED-B71C-09BB9CF70240}" type="datetimeFigureOut">
              <a:rPr lang="sv-SE" smtClean="0"/>
              <a:t>2025-12-02</a:t>
            </a:fld>
            <a:endParaRPr lang="sv-SE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B90B8A9A-0C91-A3BC-6B4A-61157274D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3929319A-424D-DA65-0B7A-0A99C2FF3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1D799-F7AD-446A-822E-8954EE531AF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2194332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Rubrik och lodrä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074F67E6-E346-83A5-091B-23669EAEB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lodrät text 2">
            <a:extLst>
              <a:ext uri="{FF2B5EF4-FFF2-40B4-BE49-F238E27FC236}">
                <a16:creationId xmlns:a16="http://schemas.microsoft.com/office/drawing/2014/main" id="{9821E2C4-CF1D-F689-6284-EA4E670EFD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612D3C5A-5D18-03AF-CE2E-8D2B1D0AA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D13FB-205D-46ED-B71C-09BB9CF70240}" type="datetimeFigureOut">
              <a:rPr lang="sv-SE" smtClean="0"/>
              <a:t>2025-12-02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D0861B4A-849C-6B45-E8B8-2EA871A01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D7F2775B-EDC2-E64E-E320-366E3B3DF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1D799-F7AD-446A-822E-8954EE531AF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162970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ät rubrik 1">
            <a:extLst>
              <a:ext uri="{FF2B5EF4-FFF2-40B4-BE49-F238E27FC236}">
                <a16:creationId xmlns:a16="http://schemas.microsoft.com/office/drawing/2014/main" id="{80EBC6F5-F2AA-E8BA-C9CB-7F0151CBFF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lodrät text 2">
            <a:extLst>
              <a:ext uri="{FF2B5EF4-FFF2-40B4-BE49-F238E27FC236}">
                <a16:creationId xmlns:a16="http://schemas.microsoft.com/office/drawing/2014/main" id="{6A75C7C7-26C8-035A-FDA9-86A29D0B6B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B1A2681E-7C5D-DAD4-057C-1D5ACEE05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D13FB-205D-46ED-B71C-09BB9CF70240}" type="datetimeFigureOut">
              <a:rPr lang="sv-SE" smtClean="0"/>
              <a:t>2025-12-02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966F689E-B33B-2097-781A-30DA76042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48ABA541-78BA-A2D4-EDE4-907FC293C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1D799-F7AD-446A-822E-8954EE531AF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448602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rubrik 1">
            <a:extLst>
              <a:ext uri="{FF2B5EF4-FFF2-40B4-BE49-F238E27FC236}">
                <a16:creationId xmlns:a16="http://schemas.microsoft.com/office/drawing/2014/main" id="{D7996A88-B0D4-3DB1-E6ED-246661AF8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E8AAC79E-264D-1A9A-A358-A50D43307C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8E581467-7924-BF7C-5770-2A3EE765CF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7D13FB-205D-46ED-B71C-09BB9CF70240}" type="datetimeFigureOut">
              <a:rPr lang="sv-SE" smtClean="0"/>
              <a:t>2025-12-02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746786C1-3B5D-EEB2-8E4F-D7CAAFB553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8D99148A-784C-3DBF-2341-C9EAFFEE52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E1D799-F7AD-446A-822E-8954EE531AF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1341159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7">
            <a:extLst>
              <a:ext uri="{FF2B5EF4-FFF2-40B4-BE49-F238E27FC236}">
                <a16:creationId xmlns:a16="http://schemas.microsoft.com/office/drawing/2014/main" id="{289ED1AA-8684-4D37-B208-8777E1A77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Graphic 33">
            <a:extLst>
              <a:ext uri="{FF2B5EF4-FFF2-40B4-BE49-F238E27FC236}">
                <a16:creationId xmlns:a16="http://schemas.microsoft.com/office/drawing/2014/main" id="{4180E01B-B1F4-437C-807D-1C930718E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10784" y="0"/>
            <a:ext cx="9570431" cy="6858000"/>
          </a:xfrm>
          <a:custGeom>
            <a:avLst/>
            <a:gdLst>
              <a:gd name="connsiteX0" fmla="*/ 7178288 w 7187261"/>
              <a:gd name="connsiteY0" fmla="*/ 2604802 h 5150263"/>
              <a:gd name="connsiteX1" fmla="*/ 7169335 w 7187261"/>
              <a:gd name="connsiteY1" fmla="*/ 2328577 h 5150263"/>
              <a:gd name="connsiteX2" fmla="*/ 7060845 w 7187261"/>
              <a:gd name="connsiteY2" fmla="*/ 1661160 h 5150263"/>
              <a:gd name="connsiteX3" fmla="*/ 6212263 w 7187261"/>
              <a:gd name="connsiteY3" fmla="*/ 243840 h 5150263"/>
              <a:gd name="connsiteX4" fmla="*/ 5953564 w 7187261"/>
              <a:gd name="connsiteY4" fmla="*/ 0 h 5150263"/>
              <a:gd name="connsiteX5" fmla="*/ 1408615 w 7187261"/>
              <a:gd name="connsiteY5" fmla="*/ 0 h 5150263"/>
              <a:gd name="connsiteX6" fmla="*/ 805111 w 7187261"/>
              <a:gd name="connsiteY6" fmla="*/ 676275 h 5150263"/>
              <a:gd name="connsiteX7" fmla="*/ 104928 w 7187261"/>
              <a:gd name="connsiteY7" fmla="*/ 2183035 h 5150263"/>
              <a:gd name="connsiteX8" fmla="*/ 51588 w 7187261"/>
              <a:gd name="connsiteY8" fmla="*/ 2400014 h 5150263"/>
              <a:gd name="connsiteX9" fmla="*/ 41301 w 7187261"/>
              <a:gd name="connsiteY9" fmla="*/ 2424208 h 5150263"/>
              <a:gd name="connsiteX10" fmla="*/ 119692 w 7187261"/>
              <a:gd name="connsiteY10" fmla="*/ 1834801 h 5150263"/>
              <a:gd name="connsiteX11" fmla="*/ 870071 w 7187261"/>
              <a:gd name="connsiteY11" fmla="*/ 462248 h 5150263"/>
              <a:gd name="connsiteX12" fmla="*/ 1389279 w 7187261"/>
              <a:gd name="connsiteY12" fmla="*/ 476 h 5150263"/>
              <a:gd name="connsiteX13" fmla="*/ 1320223 w 7187261"/>
              <a:gd name="connsiteY13" fmla="*/ 476 h 5150263"/>
              <a:gd name="connsiteX14" fmla="*/ 423158 w 7187261"/>
              <a:gd name="connsiteY14" fmla="*/ 989743 h 5150263"/>
              <a:gd name="connsiteX15" fmla="*/ 25585 w 7187261"/>
              <a:gd name="connsiteY15" fmla="*/ 2113693 h 5150263"/>
              <a:gd name="connsiteX16" fmla="*/ 2344 w 7187261"/>
              <a:gd name="connsiteY16" fmla="*/ 2725865 h 5150263"/>
              <a:gd name="connsiteX17" fmla="*/ 447256 w 7187261"/>
              <a:gd name="connsiteY17" fmla="*/ 4210717 h 5150263"/>
              <a:gd name="connsiteX18" fmla="*/ 1138962 w 7187261"/>
              <a:gd name="connsiteY18" fmla="*/ 4988910 h 5150263"/>
              <a:gd name="connsiteX19" fmla="*/ 1348512 w 7187261"/>
              <a:gd name="connsiteY19" fmla="*/ 5146834 h 5150263"/>
              <a:gd name="connsiteX20" fmla="*/ 1422712 w 7187261"/>
              <a:gd name="connsiteY20" fmla="*/ 5146834 h 5150263"/>
              <a:gd name="connsiteX21" fmla="*/ 480594 w 7187261"/>
              <a:gd name="connsiteY21" fmla="*/ 4187952 h 5150263"/>
              <a:gd name="connsiteX22" fmla="*/ 398679 w 7187261"/>
              <a:gd name="connsiteY22" fmla="*/ 4046125 h 5150263"/>
              <a:gd name="connsiteX23" fmla="*/ 411823 w 7187261"/>
              <a:gd name="connsiteY23" fmla="*/ 4053078 h 5150263"/>
              <a:gd name="connsiteX24" fmla="*/ 1439380 w 7187261"/>
              <a:gd name="connsiteY24" fmla="*/ 5147405 h 5150263"/>
              <a:gd name="connsiteX25" fmla="*/ 5710010 w 7187261"/>
              <a:gd name="connsiteY25" fmla="*/ 5150263 h 5150263"/>
              <a:gd name="connsiteX26" fmla="*/ 5999665 w 7187261"/>
              <a:gd name="connsiteY26" fmla="*/ 4910900 h 5150263"/>
              <a:gd name="connsiteX27" fmla="*/ 6954165 w 7187261"/>
              <a:gd name="connsiteY27" fmla="*/ 3545777 h 5150263"/>
              <a:gd name="connsiteX28" fmla="*/ 7137712 w 7187261"/>
              <a:gd name="connsiteY28" fmla="*/ 2799207 h 5150263"/>
              <a:gd name="connsiteX29" fmla="*/ 7142951 w 7187261"/>
              <a:gd name="connsiteY29" fmla="*/ 2754535 h 5150263"/>
              <a:gd name="connsiteX30" fmla="*/ 7149428 w 7187261"/>
              <a:gd name="connsiteY30" fmla="*/ 2774823 h 5150263"/>
              <a:gd name="connsiteX31" fmla="*/ 7066465 w 7187261"/>
              <a:gd name="connsiteY31" fmla="*/ 3465672 h 5150263"/>
              <a:gd name="connsiteX32" fmla="*/ 6452578 w 7187261"/>
              <a:gd name="connsiteY32" fmla="*/ 4552760 h 5150263"/>
              <a:gd name="connsiteX33" fmla="*/ 5752110 w 7187261"/>
              <a:gd name="connsiteY33" fmla="*/ 5150263 h 5150263"/>
              <a:gd name="connsiteX34" fmla="*/ 5827643 w 7187261"/>
              <a:gd name="connsiteY34" fmla="*/ 5150263 h 5150263"/>
              <a:gd name="connsiteX35" fmla="*/ 6642793 w 7187261"/>
              <a:gd name="connsiteY35" fmla="*/ 4389406 h 5150263"/>
              <a:gd name="connsiteX36" fmla="*/ 7102469 w 7187261"/>
              <a:gd name="connsiteY36" fmla="*/ 3490817 h 5150263"/>
              <a:gd name="connsiteX37" fmla="*/ 7187242 w 7187261"/>
              <a:gd name="connsiteY37" fmla="*/ 2990183 h 5150263"/>
              <a:gd name="connsiteX38" fmla="*/ 7178288 w 7187261"/>
              <a:gd name="connsiteY38" fmla="*/ 2604802 h 5150263"/>
              <a:gd name="connsiteX39" fmla="*/ 6342565 w 7187261"/>
              <a:gd name="connsiteY39" fmla="*/ 441389 h 5150263"/>
              <a:gd name="connsiteX40" fmla="*/ 7126567 w 7187261"/>
              <a:gd name="connsiteY40" fmla="*/ 2355056 h 5150263"/>
              <a:gd name="connsiteX41" fmla="*/ 6342565 w 7187261"/>
              <a:gd name="connsiteY41" fmla="*/ 441389 h 5150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7187261" h="5150263">
                <a:moveTo>
                  <a:pt x="7178288" y="2604802"/>
                </a:moveTo>
                <a:cubicBezTo>
                  <a:pt x="7168763" y="2513076"/>
                  <a:pt x="7174478" y="2420684"/>
                  <a:pt x="7169335" y="2328577"/>
                </a:cubicBezTo>
                <a:cubicBezTo>
                  <a:pt x="7156952" y="2102882"/>
                  <a:pt x="7120586" y="1879149"/>
                  <a:pt x="7060845" y="1661160"/>
                </a:cubicBezTo>
                <a:cubicBezTo>
                  <a:pt x="6910588" y="1121007"/>
                  <a:pt x="6617428" y="631374"/>
                  <a:pt x="6212263" y="243840"/>
                </a:cubicBezTo>
                <a:cubicBezTo>
                  <a:pt x="6126538" y="162496"/>
                  <a:pt x="6040813" y="80201"/>
                  <a:pt x="5953564" y="0"/>
                </a:cubicBezTo>
                <a:lnTo>
                  <a:pt x="1408615" y="0"/>
                </a:lnTo>
                <a:cubicBezTo>
                  <a:pt x="1180967" y="200316"/>
                  <a:pt x="978332" y="427387"/>
                  <a:pt x="805111" y="676275"/>
                </a:cubicBezTo>
                <a:cubicBezTo>
                  <a:pt x="481261" y="1136523"/>
                  <a:pt x="252089" y="1640872"/>
                  <a:pt x="104928" y="2183035"/>
                </a:cubicBezTo>
                <a:cubicBezTo>
                  <a:pt x="85878" y="2254853"/>
                  <a:pt x="69495" y="2327720"/>
                  <a:pt x="51588" y="2400014"/>
                </a:cubicBezTo>
                <a:cubicBezTo>
                  <a:pt x="49683" y="2407634"/>
                  <a:pt x="51588" y="2416969"/>
                  <a:pt x="41301" y="2424208"/>
                </a:cubicBezTo>
                <a:cubicBezTo>
                  <a:pt x="45900" y="2225469"/>
                  <a:pt x="72186" y="2027834"/>
                  <a:pt x="119692" y="1834801"/>
                </a:cubicBezTo>
                <a:cubicBezTo>
                  <a:pt x="247993" y="1310926"/>
                  <a:pt x="506121" y="857726"/>
                  <a:pt x="870071" y="462248"/>
                </a:cubicBezTo>
                <a:cubicBezTo>
                  <a:pt x="1027729" y="291823"/>
                  <a:pt x="1201617" y="137169"/>
                  <a:pt x="1389279" y="476"/>
                </a:cubicBezTo>
                <a:lnTo>
                  <a:pt x="1320223" y="476"/>
                </a:lnTo>
                <a:cubicBezTo>
                  <a:pt x="960844" y="274320"/>
                  <a:pt x="656330" y="599123"/>
                  <a:pt x="423158" y="989743"/>
                </a:cubicBezTo>
                <a:cubicBezTo>
                  <a:pt x="215608" y="1337596"/>
                  <a:pt x="80258" y="1711357"/>
                  <a:pt x="25585" y="2113693"/>
                </a:cubicBezTo>
                <a:cubicBezTo>
                  <a:pt x="-2705" y="2316480"/>
                  <a:pt x="-2228" y="2521077"/>
                  <a:pt x="2344" y="2725865"/>
                </a:cubicBezTo>
                <a:cubicBezTo>
                  <a:pt x="14155" y="3261932"/>
                  <a:pt x="170650" y="3754565"/>
                  <a:pt x="447256" y="4210717"/>
                </a:cubicBezTo>
                <a:cubicBezTo>
                  <a:pt x="629851" y="4511612"/>
                  <a:pt x="866356" y="4767167"/>
                  <a:pt x="1138962" y="4988910"/>
                </a:cubicBezTo>
                <a:cubicBezTo>
                  <a:pt x="1207161" y="5044345"/>
                  <a:pt x="1277008" y="5096990"/>
                  <a:pt x="1348512" y="5146834"/>
                </a:cubicBezTo>
                <a:lnTo>
                  <a:pt x="1422712" y="5146834"/>
                </a:lnTo>
                <a:cubicBezTo>
                  <a:pt x="1043426" y="4892802"/>
                  <a:pt x="724720" y="4577334"/>
                  <a:pt x="480594" y="4187952"/>
                </a:cubicBezTo>
                <a:cubicBezTo>
                  <a:pt x="452019" y="4141851"/>
                  <a:pt x="423444" y="4095179"/>
                  <a:pt x="398679" y="4046125"/>
                </a:cubicBezTo>
                <a:cubicBezTo>
                  <a:pt x="407442" y="4043267"/>
                  <a:pt x="409156" y="4048982"/>
                  <a:pt x="411823" y="4053078"/>
                </a:cubicBezTo>
                <a:cubicBezTo>
                  <a:pt x="683572" y="4484656"/>
                  <a:pt x="1033139" y="4842701"/>
                  <a:pt x="1439380" y="5147405"/>
                </a:cubicBezTo>
                <a:lnTo>
                  <a:pt x="5710010" y="5150263"/>
                </a:lnTo>
                <a:cubicBezTo>
                  <a:pt x="5810594" y="5075482"/>
                  <a:pt x="5907272" y="4995587"/>
                  <a:pt x="5999665" y="4910900"/>
                </a:cubicBezTo>
                <a:cubicBezTo>
                  <a:pt x="6418765" y="4526661"/>
                  <a:pt x="6746901" y="4078129"/>
                  <a:pt x="6954165" y="3545777"/>
                </a:cubicBezTo>
                <a:cubicBezTo>
                  <a:pt x="7048234" y="3306175"/>
                  <a:pt x="7109956" y="3055115"/>
                  <a:pt x="7137712" y="2799207"/>
                </a:cubicBezTo>
                <a:cubicBezTo>
                  <a:pt x="7139236" y="2784920"/>
                  <a:pt x="7141046" y="2770632"/>
                  <a:pt x="7142951" y="2754535"/>
                </a:cubicBezTo>
                <a:cubicBezTo>
                  <a:pt x="7151714" y="2760440"/>
                  <a:pt x="7149237" y="2768441"/>
                  <a:pt x="7149428" y="2774823"/>
                </a:cubicBezTo>
                <a:cubicBezTo>
                  <a:pt x="7156743" y="3007967"/>
                  <a:pt x="7128777" y="3240881"/>
                  <a:pt x="7066465" y="3465672"/>
                </a:cubicBezTo>
                <a:cubicBezTo>
                  <a:pt x="6952165" y="3878580"/>
                  <a:pt x="6737948" y="4235863"/>
                  <a:pt x="6452578" y="4552760"/>
                </a:cubicBezTo>
                <a:cubicBezTo>
                  <a:pt x="6244553" y="4783836"/>
                  <a:pt x="6008809" y="4980242"/>
                  <a:pt x="5752110" y="5150263"/>
                </a:cubicBezTo>
                <a:lnTo>
                  <a:pt x="5827643" y="5150263"/>
                </a:lnTo>
                <a:cubicBezTo>
                  <a:pt x="6136539" y="4938904"/>
                  <a:pt x="6412192" y="4689348"/>
                  <a:pt x="6642793" y="4389406"/>
                </a:cubicBezTo>
                <a:cubicBezTo>
                  <a:pt x="6851295" y="4118324"/>
                  <a:pt x="7009125" y="3820859"/>
                  <a:pt x="7102469" y="3490817"/>
                </a:cubicBezTo>
                <a:cubicBezTo>
                  <a:pt x="7148646" y="3327473"/>
                  <a:pt x="7177069" y="3159624"/>
                  <a:pt x="7187242" y="2990183"/>
                </a:cubicBezTo>
                <a:cubicBezTo>
                  <a:pt x="7187623" y="2984087"/>
                  <a:pt x="7182384" y="2642330"/>
                  <a:pt x="7178288" y="2604802"/>
                </a:cubicBezTo>
                <a:close/>
                <a:moveTo>
                  <a:pt x="6342565" y="441389"/>
                </a:moveTo>
                <a:cubicBezTo>
                  <a:pt x="6829797" y="986533"/>
                  <a:pt x="7091135" y="1624422"/>
                  <a:pt x="7126567" y="2355056"/>
                </a:cubicBezTo>
                <a:cubicBezTo>
                  <a:pt x="7001123" y="1661827"/>
                  <a:pt x="6756426" y="1017365"/>
                  <a:pt x="6342565" y="441389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A107F3E5-545F-AD11-247E-B40C5046A7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58716" y="955309"/>
            <a:ext cx="7074568" cy="2898975"/>
          </a:xfrm>
        </p:spPr>
        <p:txBody>
          <a:bodyPr>
            <a:normAutofit/>
          </a:bodyPr>
          <a:lstStyle/>
          <a:p>
            <a:r>
              <a:rPr lang="sv-SE" sz="6600">
                <a:solidFill>
                  <a:srgbClr val="FFFFFF"/>
                </a:solidFill>
              </a:rPr>
              <a:t>Task 2 – Seminar 4</a:t>
            </a:r>
          </a:p>
        </p:txBody>
      </p:sp>
      <p:sp>
        <p:nvSpPr>
          <p:cNvPr id="3" name="Underrubrik 2">
            <a:extLst>
              <a:ext uri="{FF2B5EF4-FFF2-40B4-BE49-F238E27FC236}">
                <a16:creationId xmlns:a16="http://schemas.microsoft.com/office/drawing/2014/main" id="{B6FC2632-198A-39B4-98BF-233555BD10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34916" y="4533813"/>
            <a:ext cx="6930189" cy="938463"/>
          </a:xfrm>
        </p:spPr>
        <p:txBody>
          <a:bodyPr>
            <a:normAutofit/>
          </a:bodyPr>
          <a:lstStyle/>
          <a:p>
            <a:r>
              <a:rPr lang="en-US" i="1">
                <a:solidFill>
                  <a:srgbClr val="FFFFFF"/>
                </a:solidFill>
              </a:rPr>
              <a:t>Cyfra 21-1 as a biomarker of non-small cell lung cancer</a:t>
            </a:r>
            <a:endParaRPr lang="sv-SE" i="1">
              <a:solidFill>
                <a:srgbClr val="FFFFFF"/>
              </a:solidFill>
            </a:endParaRPr>
          </a:p>
        </p:txBody>
      </p:sp>
      <p:sp>
        <p:nvSpPr>
          <p:cNvPr id="37" name="sketch line">
            <a:extLst>
              <a:ext uri="{FF2B5EF4-FFF2-40B4-BE49-F238E27FC236}">
                <a16:creationId xmlns:a16="http://schemas.microsoft.com/office/drawing/2014/main" id="{41F77738-2AF0-4750-A0C7-F97C2C1759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173498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563791 w 4243589"/>
              <a:gd name="connsiteY1" fmla="*/ 0 h 18288"/>
              <a:gd name="connsiteX2" fmla="*/ 1042710 w 4243589"/>
              <a:gd name="connsiteY2" fmla="*/ 0 h 18288"/>
              <a:gd name="connsiteX3" fmla="*/ 1564066 w 4243589"/>
              <a:gd name="connsiteY3" fmla="*/ 0 h 18288"/>
              <a:gd name="connsiteX4" fmla="*/ 2212729 w 4243589"/>
              <a:gd name="connsiteY4" fmla="*/ 0 h 18288"/>
              <a:gd name="connsiteX5" fmla="*/ 2776520 w 4243589"/>
              <a:gd name="connsiteY5" fmla="*/ 0 h 18288"/>
              <a:gd name="connsiteX6" fmla="*/ 3297875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637362 w 4243589"/>
              <a:gd name="connsiteY9" fmla="*/ 18288 h 18288"/>
              <a:gd name="connsiteX10" fmla="*/ 3116007 w 4243589"/>
              <a:gd name="connsiteY10" fmla="*/ 18288 h 18288"/>
              <a:gd name="connsiteX11" fmla="*/ 2424908 w 4243589"/>
              <a:gd name="connsiteY11" fmla="*/ 18288 h 18288"/>
              <a:gd name="connsiteX12" fmla="*/ 1861117 w 4243589"/>
              <a:gd name="connsiteY12" fmla="*/ 18288 h 18288"/>
              <a:gd name="connsiteX13" fmla="*/ 1382198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3675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Rectangle 1035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8" name="Rectangle 1037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1CEE4BA1-861E-5FB0-E929-E721C8F121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1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We start by exploring the data set. Which includes two different measurement kits.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49A637D-3677-0C43-4DE0-336168893D4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038600" y="1886977"/>
            <a:ext cx="7188199" cy="3080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41771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734FC31E-E402-568B-2CAA-D4DD51D39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sv-SE" sz="4800" dirty="0" err="1"/>
              <a:t>Normality</a:t>
            </a:r>
            <a:r>
              <a:rPr lang="sv-SE" sz="4800" dirty="0"/>
              <a:t> check</a:t>
            </a:r>
          </a:p>
        </p:txBody>
      </p:sp>
      <p:sp>
        <p:nvSpPr>
          <p:cNvPr id="2057" name="Rectangle 2056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9" name="Rectangle 2058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8D43ECCF-FB6C-204E-68F7-6C8C398E55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US" sz="2000"/>
              <a:t>We compute the differences for each measurement and visualize it using different plots. We continue with estimating the normality of the difference.</a:t>
            </a:r>
            <a:endParaRPr lang="sv-SE" sz="200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8A69154D-08B1-EC17-5A7F-90FDE11C6C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911532" y="2757667"/>
            <a:ext cx="5150277" cy="3167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61" name="Rectangle 2060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6577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9" name="Rectangle 3078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81A9238E-4C27-9B5B-60E1-422AC5DA4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Normality check</a:t>
            </a:r>
          </a:p>
        </p:txBody>
      </p:sp>
      <p:sp>
        <p:nvSpPr>
          <p:cNvPr id="3081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CB1304B1-0E7A-219E-A2F2-9358EF542AD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54296" y="1196790"/>
            <a:ext cx="7214616" cy="4436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69281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8" name="Rectangle 4107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8BDD794A-7E21-8A0B-E64E-A14566E53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Normality check </a:t>
            </a:r>
          </a:p>
        </p:txBody>
      </p:sp>
      <p:sp>
        <p:nvSpPr>
          <p:cNvPr id="4110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onnsiteX0" fmla="*/ 0 w 1554480"/>
              <a:gd name="connsiteY0" fmla="*/ 0 h 18288"/>
              <a:gd name="connsiteX1" fmla="*/ 549250 w 1554480"/>
              <a:gd name="connsiteY1" fmla="*/ 0 h 18288"/>
              <a:gd name="connsiteX2" fmla="*/ 1082954 w 1554480"/>
              <a:gd name="connsiteY2" fmla="*/ 0 h 18288"/>
              <a:gd name="connsiteX3" fmla="*/ 1554480 w 1554480"/>
              <a:gd name="connsiteY3" fmla="*/ 0 h 18288"/>
              <a:gd name="connsiteX4" fmla="*/ 1554480 w 1554480"/>
              <a:gd name="connsiteY4" fmla="*/ 18288 h 18288"/>
              <a:gd name="connsiteX5" fmla="*/ 1067410 w 1554480"/>
              <a:gd name="connsiteY5" fmla="*/ 18288 h 18288"/>
              <a:gd name="connsiteX6" fmla="*/ 549250 w 1554480"/>
              <a:gd name="connsiteY6" fmla="*/ 18288 h 18288"/>
              <a:gd name="connsiteX7" fmla="*/ 0 w 1554480"/>
              <a:gd name="connsiteY7" fmla="*/ 18288 h 18288"/>
              <a:gd name="connsiteX8" fmla="*/ 0 w 1554480"/>
              <a:gd name="connsiteY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ruta 4">
            <a:extLst>
              <a:ext uri="{FF2B5EF4-FFF2-40B4-BE49-F238E27FC236}">
                <a16:creationId xmlns:a16="http://schemas.microsoft.com/office/drawing/2014/main" id="{BE1D9750-80BA-F27A-E675-7052C6077578}"/>
              </a:ext>
            </a:extLst>
          </p:cNvPr>
          <p:cNvSpPr txBox="1"/>
          <p:nvPr/>
        </p:nvSpPr>
        <p:spPr>
          <a:xfrm>
            <a:off x="4654295" y="502920"/>
            <a:ext cx="6894576" cy="14630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b="0" i="0" u="none" strike="noStrike" dirty="0">
                <a:effectLst/>
              </a:rPr>
              <a:t>According to the normality test we should reject the hypothesis that the difference is normal. However, according to both the histogram and the </a:t>
            </a:r>
            <a:r>
              <a:rPr lang="en-US" sz="1900" b="0" i="0" u="none" strike="noStrike" dirty="0" err="1">
                <a:effectLst/>
              </a:rPr>
              <a:t>qq</a:t>
            </a:r>
            <a:r>
              <a:rPr lang="en-US" sz="1900" b="0" i="0" u="none" strike="noStrike" dirty="0">
                <a:effectLst/>
              </a:rPr>
              <a:t> plot we still assume normality.  Since approximate normality is something that the bland-</a:t>
            </a:r>
            <a:r>
              <a:rPr lang="en-US" sz="1900" b="0" i="0" u="none" strike="noStrike" dirty="0" err="1">
                <a:effectLst/>
              </a:rPr>
              <a:t>altman</a:t>
            </a:r>
            <a:r>
              <a:rPr lang="en-US" sz="1900" b="0" i="0" u="none" strike="noStrike" dirty="0">
                <a:effectLst/>
              </a:rPr>
              <a:t> assumes and not perfect. </a:t>
            </a:r>
            <a:endParaRPr lang="en-US" sz="1900" dirty="0"/>
          </a:p>
        </p:txBody>
      </p:sp>
      <p:pic>
        <p:nvPicPr>
          <p:cNvPr id="4098" name="Picture 2" descr="En bild som visar text, skärmbild, Teckensnitt, linje&#10;&#10;AI-genererat innehåll kan vara felaktigt.">
            <a:extLst>
              <a:ext uri="{FF2B5EF4-FFF2-40B4-BE49-F238E27FC236}">
                <a16:creationId xmlns:a16="http://schemas.microsoft.com/office/drawing/2014/main" id="{47A05592-55F5-1CFC-7BE3-C720544FB8B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0936" y="2828087"/>
            <a:ext cx="10917936" cy="2885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4567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803B9823-20E0-4627-087D-031697B9A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Explore methods for </a:t>
            </a:r>
            <a:r>
              <a:rPr lang="en-US" i="1" dirty="0" err="1"/>
              <a:t>analysing</a:t>
            </a:r>
            <a:r>
              <a:rPr lang="en-US" i="1" dirty="0"/>
              <a:t> the agreement and compare these.</a:t>
            </a:r>
            <a:endParaRPr lang="sv-SE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079DF153-0663-309C-0A8F-E8C7EF95D37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3905" y="1825625"/>
            <a:ext cx="7084190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69997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D2858445-707D-6E80-AE3D-3D685E0FEAB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566677" y="643466"/>
            <a:ext cx="9058646" cy="5571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32894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>
            <a:extLst>
              <a:ext uri="{FF2B5EF4-FFF2-40B4-BE49-F238E27FC236}">
                <a16:creationId xmlns:a16="http://schemas.microsoft.com/office/drawing/2014/main" id="{BBA0D297-8A5C-8E67-BE47-9C82282845C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566677" y="643466"/>
            <a:ext cx="9058646" cy="5571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ruta 4">
            <a:extLst>
              <a:ext uri="{FF2B5EF4-FFF2-40B4-BE49-F238E27FC236}">
                <a16:creationId xmlns:a16="http://schemas.microsoft.com/office/drawing/2014/main" id="{7E9EA84F-8CDD-3513-4F1B-1C3911BA2EAA}"/>
              </a:ext>
            </a:extLst>
          </p:cNvPr>
          <p:cNvSpPr txBox="1"/>
          <p:nvPr/>
        </p:nvSpPr>
        <p:spPr>
          <a:xfrm>
            <a:off x="4654295" y="502920"/>
            <a:ext cx="6894576" cy="14630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0630615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8" name="Picture 6">
            <a:extLst>
              <a:ext uri="{FF2B5EF4-FFF2-40B4-BE49-F238E27FC236}">
                <a16:creationId xmlns:a16="http://schemas.microsoft.com/office/drawing/2014/main" id="{0FFFCD3E-B0AE-7E41-A2E1-64A5946A78E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6218" y="639875"/>
            <a:ext cx="9081661" cy="55782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27912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En bild som visar text, skärmbild, diagram, linje&#10;&#10;AI-genererat innehåll kan vara felaktigt.">
            <a:extLst>
              <a:ext uri="{FF2B5EF4-FFF2-40B4-BE49-F238E27FC236}">
                <a16:creationId xmlns:a16="http://schemas.microsoft.com/office/drawing/2014/main" id="{B9DD42DB-060C-EE31-248C-5B63C53F4BC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566677" y="643466"/>
            <a:ext cx="9058646" cy="5571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7011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47" name="Group 10246">
            <a:extLst>
              <a:ext uri="{FF2B5EF4-FFF2-40B4-BE49-F238E27FC236}">
                <a16:creationId xmlns:a16="http://schemas.microsoft.com/office/drawing/2014/main" id="{D19F7815-3AA2-7679-26F4-A63338C8BD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668" y="4843169"/>
            <a:ext cx="12196668" cy="2016059"/>
            <a:chOff x="-4668" y="4843169"/>
            <a:chExt cx="12196668" cy="2016059"/>
          </a:xfrm>
        </p:grpSpPr>
        <p:sp>
          <p:nvSpPr>
            <p:cNvPr id="10248" name="Rectangle 10247">
              <a:extLst>
                <a:ext uri="{FF2B5EF4-FFF2-40B4-BE49-F238E27FC236}">
                  <a16:creationId xmlns:a16="http://schemas.microsoft.com/office/drawing/2014/main" id="{656154CE-3587-5C44-2A6B-1FE49B302C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-4668" y="4843169"/>
              <a:ext cx="12196668" cy="2015947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4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49" name="Rectangle 10248">
              <a:extLst>
                <a:ext uri="{FF2B5EF4-FFF2-40B4-BE49-F238E27FC236}">
                  <a16:creationId xmlns:a16="http://schemas.microsoft.com/office/drawing/2014/main" id="{3E7A46DB-98C4-E666-AEC5-DF8B5DD9E7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4668" y="4844400"/>
              <a:ext cx="10565988" cy="2014828"/>
            </a:xfrm>
            <a:prstGeom prst="rect">
              <a:avLst/>
            </a:prstGeom>
            <a:gradFill flip="none" rotWithShape="1">
              <a:gsLst>
                <a:gs pos="3000">
                  <a:schemeClr val="accent2"/>
                </a:gs>
                <a:gs pos="40000">
                  <a:schemeClr val="accent2">
                    <a:alpha val="0"/>
                  </a:schemeClr>
                </a:gs>
              </a:gsLst>
              <a:lin ang="17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50" name="Rectangle 10249">
              <a:extLst>
                <a:ext uri="{FF2B5EF4-FFF2-40B4-BE49-F238E27FC236}">
                  <a16:creationId xmlns:a16="http://schemas.microsoft.com/office/drawing/2014/main" id="{89F8962A-028A-2EBA-FBCF-F9B0334400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4668" y="4843170"/>
              <a:ext cx="10309010" cy="2006799"/>
            </a:xfrm>
            <a:prstGeom prst="rect">
              <a:avLst/>
            </a:prstGeom>
            <a:gradFill>
              <a:gsLst>
                <a:gs pos="0">
                  <a:schemeClr val="accent5">
                    <a:alpha val="76000"/>
                  </a:schemeClr>
                </a:gs>
                <a:gs pos="67000">
                  <a:schemeClr val="accent2">
                    <a:alpha val="0"/>
                  </a:schemeClr>
                </a:gs>
              </a:gsLst>
              <a:lin ang="4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51" name="Rectangle 10250">
              <a:extLst>
                <a:ext uri="{FF2B5EF4-FFF2-40B4-BE49-F238E27FC236}">
                  <a16:creationId xmlns:a16="http://schemas.microsoft.com/office/drawing/2014/main" id="{2F139663-D7C2-5898-E610-2183584AC5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4105876" y="4851203"/>
              <a:ext cx="8086124" cy="2006797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50000"/>
                    <a:alpha val="36000"/>
                  </a:schemeClr>
                </a:gs>
                <a:gs pos="45000">
                  <a:schemeClr val="accent5">
                    <a:alpha val="0"/>
                  </a:schemeClr>
                </a:gs>
              </a:gsLst>
              <a:lin ang="42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5" name="textruta 4">
            <a:extLst>
              <a:ext uri="{FF2B5EF4-FFF2-40B4-BE49-F238E27FC236}">
                <a16:creationId xmlns:a16="http://schemas.microsoft.com/office/drawing/2014/main" id="{F2675CE1-0ED6-9D39-D2D5-219AD55EEE21}"/>
              </a:ext>
            </a:extLst>
          </p:cNvPr>
          <p:cNvSpPr txBox="1"/>
          <p:nvPr/>
        </p:nvSpPr>
        <p:spPr>
          <a:xfrm>
            <a:off x="1611630" y="5167418"/>
            <a:ext cx="8949690" cy="70226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000" b="0" i="0" u="none" strike="noStrike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We try a regression-based Bland-Altman plot, we clearly see that this is more appropriate.</a:t>
            </a:r>
            <a:endParaRPr lang="en-US" sz="2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0242" name="Picture 2" descr="En bild som visar text, linje, diagram, skärmbild&#10;&#10;AI-genererat innehåll kan vara felaktigt.">
            <a:extLst>
              <a:ext uri="{FF2B5EF4-FFF2-40B4-BE49-F238E27FC236}">
                <a16:creationId xmlns:a16="http://schemas.microsoft.com/office/drawing/2014/main" id="{F04F1FA8-9A34-0EDE-C9F1-2DA419EB0FC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929351" y="461527"/>
            <a:ext cx="6333298" cy="3894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857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280" name="Rectangle 11279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82" name="Freeform: Shape 11281">
            <a:extLst>
              <a:ext uri="{FF2B5EF4-FFF2-40B4-BE49-F238E27FC236}">
                <a16:creationId xmlns:a16="http://schemas.microsoft.com/office/drawing/2014/main" id="{3529E97A-97C3-40EA-8A04-5C02398D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877832"/>
          </a:xfrm>
          <a:custGeom>
            <a:avLst/>
            <a:gdLst>
              <a:gd name="connsiteX0" fmla="*/ 6789701 w 12192000"/>
              <a:gd name="connsiteY0" fmla="*/ 2809623 h 2877832"/>
              <a:gd name="connsiteX1" fmla="*/ 6788702 w 12192000"/>
              <a:gd name="connsiteY1" fmla="*/ 2809701 h 2877832"/>
              <a:gd name="connsiteX2" fmla="*/ 6788476 w 12192000"/>
              <a:gd name="connsiteY2" fmla="*/ 2810235 h 2877832"/>
              <a:gd name="connsiteX3" fmla="*/ 0 w 12192000"/>
              <a:gd name="connsiteY3" fmla="*/ 0 h 2877832"/>
              <a:gd name="connsiteX4" fmla="*/ 12192000 w 12192000"/>
              <a:gd name="connsiteY4" fmla="*/ 0 h 2877832"/>
              <a:gd name="connsiteX5" fmla="*/ 12192000 w 12192000"/>
              <a:gd name="connsiteY5" fmla="*/ 1915388 h 2877832"/>
              <a:gd name="connsiteX6" fmla="*/ 12061096 w 12192000"/>
              <a:gd name="connsiteY6" fmla="*/ 1954428 h 2877832"/>
              <a:gd name="connsiteX7" fmla="*/ 11676800 w 12192000"/>
              <a:gd name="connsiteY7" fmla="*/ 2058003 h 2877832"/>
              <a:gd name="connsiteX8" fmla="*/ 10425355 w 12192000"/>
              <a:gd name="connsiteY8" fmla="*/ 2341542 h 2877832"/>
              <a:gd name="connsiteX9" fmla="*/ 9424022 w 12192000"/>
              <a:gd name="connsiteY9" fmla="*/ 2516704 h 2877832"/>
              <a:gd name="connsiteX10" fmla="*/ 8458419 w 12192000"/>
              <a:gd name="connsiteY10" fmla="*/ 2650405 h 2877832"/>
              <a:gd name="connsiteX11" fmla="*/ 7715970 w 12192000"/>
              <a:gd name="connsiteY11" fmla="*/ 2730352 h 2877832"/>
              <a:gd name="connsiteX12" fmla="*/ 6951716 w 12192000"/>
              <a:gd name="connsiteY12" fmla="*/ 2796132 h 2877832"/>
              <a:gd name="connsiteX13" fmla="*/ 6936303 w 12192000"/>
              <a:gd name="connsiteY13" fmla="*/ 2798203 h 2877832"/>
              <a:gd name="connsiteX14" fmla="*/ 6790448 w 12192000"/>
              <a:gd name="connsiteY14" fmla="*/ 2809564 h 2877832"/>
              <a:gd name="connsiteX15" fmla="*/ 6799941 w 12192000"/>
              <a:gd name="connsiteY15" fmla="*/ 2811384 h 2877832"/>
              <a:gd name="connsiteX16" fmla="*/ 6835432 w 12192000"/>
              <a:gd name="connsiteY16" fmla="*/ 2809677 h 2877832"/>
              <a:gd name="connsiteX17" fmla="*/ 6884003 w 12192000"/>
              <a:gd name="connsiteY17" fmla="*/ 2806699 h 2877832"/>
              <a:gd name="connsiteX18" fmla="*/ 7578771 w 12192000"/>
              <a:gd name="connsiteY18" fmla="*/ 2774172 h 2877832"/>
              <a:gd name="connsiteX19" fmla="*/ 8623845 w 12192000"/>
              <a:gd name="connsiteY19" fmla="*/ 2687275 h 2877832"/>
              <a:gd name="connsiteX20" fmla="*/ 9479970 w 12192000"/>
              <a:gd name="connsiteY20" fmla="*/ 2583369 h 2877832"/>
              <a:gd name="connsiteX21" fmla="*/ 10629308 w 12192000"/>
              <a:gd name="connsiteY21" fmla="*/ 2389212 h 2877832"/>
              <a:gd name="connsiteX22" fmla="*/ 11998498 w 12192000"/>
              <a:gd name="connsiteY22" fmla="*/ 2063218 h 2877832"/>
              <a:gd name="connsiteX23" fmla="*/ 12192000 w 12192000"/>
              <a:gd name="connsiteY23" fmla="*/ 2006219 h 2877832"/>
              <a:gd name="connsiteX24" fmla="*/ 12192000 w 12192000"/>
              <a:gd name="connsiteY24" fmla="*/ 2060956 h 2877832"/>
              <a:gd name="connsiteX25" fmla="*/ 11829257 w 12192000"/>
              <a:gd name="connsiteY25" fmla="*/ 2166255 h 2877832"/>
              <a:gd name="connsiteX26" fmla="*/ 10939183 w 12192000"/>
              <a:gd name="connsiteY26" fmla="*/ 2380770 h 2877832"/>
              <a:gd name="connsiteX27" fmla="*/ 9985530 w 12192000"/>
              <a:gd name="connsiteY27" fmla="*/ 2560775 h 2877832"/>
              <a:gd name="connsiteX28" fmla="*/ 9186882 w 12192000"/>
              <a:gd name="connsiteY28" fmla="*/ 2676722 h 2877832"/>
              <a:gd name="connsiteX29" fmla="*/ 8578198 w 12192000"/>
              <a:gd name="connsiteY29" fmla="*/ 2746241 h 2877832"/>
              <a:gd name="connsiteX30" fmla="*/ 7864358 w 12192000"/>
              <a:gd name="connsiteY30" fmla="*/ 2807692 h 2877832"/>
              <a:gd name="connsiteX31" fmla="*/ 6935502 w 12192000"/>
              <a:gd name="connsiteY31" fmla="*/ 2859086 h 2877832"/>
              <a:gd name="connsiteX32" fmla="*/ 6477750 w 12192000"/>
              <a:gd name="connsiteY32" fmla="*/ 2872989 h 2877832"/>
              <a:gd name="connsiteX33" fmla="*/ 6362294 w 12192000"/>
              <a:gd name="connsiteY33" fmla="*/ 2877832 h 2877832"/>
              <a:gd name="connsiteX34" fmla="*/ 6057129 w 12192000"/>
              <a:gd name="connsiteY34" fmla="*/ 2877832 h 2877832"/>
              <a:gd name="connsiteX35" fmla="*/ 5977784 w 12192000"/>
              <a:gd name="connsiteY35" fmla="*/ 2873238 h 2877832"/>
              <a:gd name="connsiteX36" fmla="*/ 5265087 w 12192000"/>
              <a:gd name="connsiteY36" fmla="*/ 2836989 h 2877832"/>
              <a:gd name="connsiteX37" fmla="*/ 4346277 w 12192000"/>
              <a:gd name="connsiteY37" fmla="*/ 2774919 h 2877832"/>
              <a:gd name="connsiteX38" fmla="*/ 3373045 w 12192000"/>
              <a:gd name="connsiteY38" fmla="*/ 2676350 h 2877832"/>
              <a:gd name="connsiteX39" fmla="*/ 2362173 w 12192000"/>
              <a:gd name="connsiteY39" fmla="*/ 2557423 h 2877832"/>
              <a:gd name="connsiteX40" fmla="*/ 1233178 w 12192000"/>
              <a:gd name="connsiteY40" fmla="*/ 2384247 h 2877832"/>
              <a:gd name="connsiteX41" fmla="*/ 68500 w 12192000"/>
              <a:gd name="connsiteY41" fmla="*/ 2144540 h 2877832"/>
              <a:gd name="connsiteX42" fmla="*/ 0 w 12192000"/>
              <a:gd name="connsiteY42" fmla="*/ 2127185 h 2877832"/>
              <a:gd name="connsiteX43" fmla="*/ 0 w 12192000"/>
              <a:gd name="connsiteY43" fmla="*/ 2070696 h 2877832"/>
              <a:gd name="connsiteX44" fmla="*/ 72441 w 12192000"/>
              <a:gd name="connsiteY44" fmla="*/ 2089473 h 2877832"/>
              <a:gd name="connsiteX45" fmla="*/ 600716 w 12192000"/>
              <a:gd name="connsiteY45" fmla="*/ 2207843 h 2877832"/>
              <a:gd name="connsiteX46" fmla="*/ 1769512 w 12192000"/>
              <a:gd name="connsiteY46" fmla="*/ 2418011 h 2877832"/>
              <a:gd name="connsiteX47" fmla="*/ 2613554 w 12192000"/>
              <a:gd name="connsiteY47" fmla="*/ 2534953 h 2877832"/>
              <a:gd name="connsiteX48" fmla="*/ 2581134 w 12192000"/>
              <a:gd name="connsiteY48" fmla="*/ 2525022 h 2877832"/>
              <a:gd name="connsiteX49" fmla="*/ 1112635 w 12192000"/>
              <a:gd name="connsiteY49" fmla="*/ 2192325 h 2877832"/>
              <a:gd name="connsiteX50" fmla="*/ 420412 w 12192000"/>
              <a:gd name="connsiteY50" fmla="*/ 1992892 h 2877832"/>
              <a:gd name="connsiteX51" fmla="*/ 0 w 12192000"/>
              <a:gd name="connsiteY51" fmla="*/ 1853975 h 2877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000" h="2877832">
                <a:moveTo>
                  <a:pt x="6789701" y="2809623"/>
                </a:moveTo>
                <a:lnTo>
                  <a:pt x="6788702" y="2809701"/>
                </a:lnTo>
                <a:lnTo>
                  <a:pt x="6788476" y="2810235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1915388"/>
                </a:lnTo>
                <a:lnTo>
                  <a:pt x="12061096" y="1954428"/>
                </a:lnTo>
                <a:cubicBezTo>
                  <a:pt x="11933500" y="1990642"/>
                  <a:pt x="11805390" y="2025171"/>
                  <a:pt x="11676800" y="2058003"/>
                </a:cubicBezTo>
                <a:cubicBezTo>
                  <a:pt x="11262789" y="2165510"/>
                  <a:pt x="10845343" y="2259112"/>
                  <a:pt x="10425355" y="2341542"/>
                </a:cubicBezTo>
                <a:cubicBezTo>
                  <a:pt x="10092810" y="2406753"/>
                  <a:pt x="9759033" y="2465150"/>
                  <a:pt x="9424022" y="2516704"/>
                </a:cubicBezTo>
                <a:cubicBezTo>
                  <a:pt x="9102997" y="2566361"/>
                  <a:pt x="8781133" y="2610928"/>
                  <a:pt x="8458419" y="2650405"/>
                </a:cubicBezTo>
                <a:cubicBezTo>
                  <a:pt x="8211360" y="2680571"/>
                  <a:pt x="7963792" y="2706144"/>
                  <a:pt x="7715970" y="2730352"/>
                </a:cubicBezTo>
                <a:lnTo>
                  <a:pt x="6951716" y="2796132"/>
                </a:lnTo>
                <a:lnTo>
                  <a:pt x="6936303" y="2798203"/>
                </a:lnTo>
                <a:lnTo>
                  <a:pt x="6790448" y="2809564"/>
                </a:lnTo>
                <a:lnTo>
                  <a:pt x="6799941" y="2811384"/>
                </a:lnTo>
                <a:cubicBezTo>
                  <a:pt x="6811623" y="2811850"/>
                  <a:pt x="6823734" y="2809677"/>
                  <a:pt x="6835432" y="2809677"/>
                </a:cubicBezTo>
                <a:cubicBezTo>
                  <a:pt x="6851580" y="2809677"/>
                  <a:pt x="6867729" y="2807070"/>
                  <a:pt x="6884003" y="2806699"/>
                </a:cubicBezTo>
                <a:cubicBezTo>
                  <a:pt x="7115805" y="2801237"/>
                  <a:pt x="7347351" y="2789070"/>
                  <a:pt x="7578771" y="2774172"/>
                </a:cubicBezTo>
                <a:cubicBezTo>
                  <a:pt x="7927552" y="2751704"/>
                  <a:pt x="8276080" y="2723525"/>
                  <a:pt x="8623845" y="2687275"/>
                </a:cubicBezTo>
                <a:cubicBezTo>
                  <a:pt x="8909939" y="2657977"/>
                  <a:pt x="9195310" y="2623342"/>
                  <a:pt x="9479970" y="2583369"/>
                </a:cubicBezTo>
                <a:cubicBezTo>
                  <a:pt x="9864901" y="2528995"/>
                  <a:pt x="10248014" y="2464281"/>
                  <a:pt x="10629308" y="2389212"/>
                </a:cubicBezTo>
                <a:cubicBezTo>
                  <a:pt x="11090114" y="2298092"/>
                  <a:pt x="11546975" y="2190586"/>
                  <a:pt x="11998498" y="2063218"/>
                </a:cubicBezTo>
                <a:lnTo>
                  <a:pt x="12192000" y="2006219"/>
                </a:lnTo>
                <a:lnTo>
                  <a:pt x="12192000" y="2060956"/>
                </a:lnTo>
                <a:lnTo>
                  <a:pt x="11829257" y="2166255"/>
                </a:lnTo>
                <a:cubicBezTo>
                  <a:pt x="11534769" y="2245952"/>
                  <a:pt x="11238120" y="2316838"/>
                  <a:pt x="10939183" y="2380770"/>
                </a:cubicBezTo>
                <a:cubicBezTo>
                  <a:pt x="10622824" y="2448552"/>
                  <a:pt x="10304941" y="2508549"/>
                  <a:pt x="9985530" y="2560775"/>
                </a:cubicBezTo>
                <a:cubicBezTo>
                  <a:pt x="9720036" y="2604224"/>
                  <a:pt x="9453814" y="2642869"/>
                  <a:pt x="9186882" y="2676722"/>
                </a:cubicBezTo>
                <a:cubicBezTo>
                  <a:pt x="8984197" y="2702296"/>
                  <a:pt x="8781514" y="2726379"/>
                  <a:pt x="8578198" y="2746241"/>
                </a:cubicBezTo>
                <a:cubicBezTo>
                  <a:pt x="8340547" y="2768961"/>
                  <a:pt x="8102644" y="2790436"/>
                  <a:pt x="7864358" y="2807692"/>
                </a:cubicBezTo>
                <a:cubicBezTo>
                  <a:pt x="7554994" y="2830036"/>
                  <a:pt x="7245502" y="2847914"/>
                  <a:pt x="6935502" y="2859086"/>
                </a:cubicBezTo>
                <a:cubicBezTo>
                  <a:pt x="6782917" y="2864549"/>
                  <a:pt x="6630334" y="2868397"/>
                  <a:pt x="6477750" y="2872989"/>
                </a:cubicBezTo>
                <a:cubicBezTo>
                  <a:pt x="6439195" y="2870905"/>
                  <a:pt x="6400529" y="2872530"/>
                  <a:pt x="6362294" y="2877832"/>
                </a:cubicBezTo>
                <a:lnTo>
                  <a:pt x="6057129" y="2877832"/>
                </a:lnTo>
                <a:lnTo>
                  <a:pt x="5977784" y="2873238"/>
                </a:lnTo>
                <a:cubicBezTo>
                  <a:pt x="5740261" y="2860825"/>
                  <a:pt x="5502739" y="2847046"/>
                  <a:pt x="5265087" y="2836989"/>
                </a:cubicBezTo>
                <a:cubicBezTo>
                  <a:pt x="4958267" y="2824573"/>
                  <a:pt x="4651826" y="2804093"/>
                  <a:pt x="4346277" y="2774919"/>
                </a:cubicBezTo>
                <a:cubicBezTo>
                  <a:pt x="4021654" y="2744007"/>
                  <a:pt x="3697795" y="2709372"/>
                  <a:pt x="3373045" y="2676350"/>
                </a:cubicBezTo>
                <a:cubicBezTo>
                  <a:pt x="3035412" y="2642088"/>
                  <a:pt x="2698456" y="2602449"/>
                  <a:pt x="2362173" y="2557423"/>
                </a:cubicBezTo>
                <a:cubicBezTo>
                  <a:pt x="1984692" y="2507270"/>
                  <a:pt x="1608364" y="2449544"/>
                  <a:pt x="1233178" y="2384247"/>
                </a:cubicBezTo>
                <a:cubicBezTo>
                  <a:pt x="842181" y="2315534"/>
                  <a:pt x="453758" y="2237046"/>
                  <a:pt x="68500" y="2144540"/>
                </a:cubicBezTo>
                <a:lnTo>
                  <a:pt x="0" y="2127185"/>
                </a:lnTo>
                <a:lnTo>
                  <a:pt x="0" y="2070696"/>
                </a:lnTo>
                <a:lnTo>
                  <a:pt x="72441" y="2089473"/>
                </a:lnTo>
                <a:cubicBezTo>
                  <a:pt x="247961" y="2131651"/>
                  <a:pt x="424164" y="2170911"/>
                  <a:pt x="600716" y="2207843"/>
                </a:cubicBezTo>
                <a:cubicBezTo>
                  <a:pt x="988279" y="2288657"/>
                  <a:pt x="1378133" y="2357555"/>
                  <a:pt x="1769512" y="2418011"/>
                </a:cubicBezTo>
                <a:cubicBezTo>
                  <a:pt x="2052426" y="2461587"/>
                  <a:pt x="2335725" y="2501684"/>
                  <a:pt x="2613554" y="2534953"/>
                </a:cubicBezTo>
                <a:cubicBezTo>
                  <a:pt x="2605544" y="2537560"/>
                  <a:pt x="2594611" y="2527504"/>
                  <a:pt x="2581134" y="2525022"/>
                </a:cubicBezTo>
                <a:cubicBezTo>
                  <a:pt x="2087178" y="2433070"/>
                  <a:pt x="1597684" y="2322177"/>
                  <a:pt x="1112635" y="2192325"/>
                </a:cubicBezTo>
                <a:cubicBezTo>
                  <a:pt x="880453" y="2130254"/>
                  <a:pt x="649713" y="2063776"/>
                  <a:pt x="420412" y="1992892"/>
                </a:cubicBezTo>
                <a:lnTo>
                  <a:pt x="0" y="1853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7BA1BD46-4C5D-C88D-DD4E-157A36DC6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0936"/>
            <a:ext cx="3599688" cy="146304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Lin´s CCC </a:t>
            </a:r>
          </a:p>
        </p:txBody>
      </p:sp>
      <p:sp>
        <p:nvSpPr>
          <p:cNvPr id="11284" name="sketch line">
            <a:extLst>
              <a:ext uri="{FF2B5EF4-FFF2-40B4-BE49-F238E27FC236}">
                <a16:creationId xmlns:a16="http://schemas.microsoft.com/office/drawing/2014/main" id="{59FA8C2E-A5A7-4490-927A-7CD58343ED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353312"/>
            <a:ext cx="1554480" cy="18288"/>
          </a:xfrm>
          <a:custGeom>
            <a:avLst/>
            <a:gdLst>
              <a:gd name="connsiteX0" fmla="*/ 0 w 1554480"/>
              <a:gd name="connsiteY0" fmla="*/ 0 h 18288"/>
              <a:gd name="connsiteX1" fmla="*/ 549250 w 1554480"/>
              <a:gd name="connsiteY1" fmla="*/ 0 h 18288"/>
              <a:gd name="connsiteX2" fmla="*/ 1082954 w 1554480"/>
              <a:gd name="connsiteY2" fmla="*/ 0 h 18288"/>
              <a:gd name="connsiteX3" fmla="*/ 1554480 w 1554480"/>
              <a:gd name="connsiteY3" fmla="*/ 0 h 18288"/>
              <a:gd name="connsiteX4" fmla="*/ 1554480 w 1554480"/>
              <a:gd name="connsiteY4" fmla="*/ 18288 h 18288"/>
              <a:gd name="connsiteX5" fmla="*/ 1067410 w 1554480"/>
              <a:gd name="connsiteY5" fmla="*/ 18288 h 18288"/>
              <a:gd name="connsiteX6" fmla="*/ 549250 w 1554480"/>
              <a:gd name="connsiteY6" fmla="*/ 18288 h 18288"/>
              <a:gd name="connsiteX7" fmla="*/ 0 w 1554480"/>
              <a:gd name="connsiteY7" fmla="*/ 18288 h 18288"/>
              <a:gd name="connsiteX8" fmla="*/ 0 w 1554480"/>
              <a:gd name="connsiteY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ruta 4">
            <a:extLst>
              <a:ext uri="{FF2B5EF4-FFF2-40B4-BE49-F238E27FC236}">
                <a16:creationId xmlns:a16="http://schemas.microsoft.com/office/drawing/2014/main" id="{CC6FD6F2-9A43-FB05-557D-36CF9D5A7C8E}"/>
              </a:ext>
            </a:extLst>
          </p:cNvPr>
          <p:cNvSpPr txBox="1"/>
          <p:nvPr/>
        </p:nvSpPr>
        <p:spPr>
          <a:xfrm>
            <a:off x="4474462" y="630936"/>
            <a:ext cx="7074409" cy="14630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0" i="0" u="none" strike="noStrike" dirty="0">
                <a:solidFill>
                  <a:srgbClr val="FFFFFF"/>
                </a:solidFill>
                <a:effectLst/>
              </a:rPr>
              <a:t>0.5518 -&gt; This value indicates poor to moderate agreement. CCC values closer to 1.0 indicate perfect agreement. </a:t>
            </a:r>
            <a:r>
              <a:rPr lang="en-US" sz="2200" dirty="0">
                <a:solidFill>
                  <a:srgbClr val="FFFFFF"/>
                </a:solidFill>
              </a:rPr>
              <a:t>The CL interval is far from 1.0, confirming the poor agreement is statistically significant</a:t>
            </a:r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A8979867-51C1-1A50-A404-904D22CF2D3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0936" y="3288337"/>
            <a:ext cx="10917936" cy="2645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95530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295" name="Rectangle 12294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F1381EFB-5488-1BB9-9131-8CAE4EF3B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 Lin´s CCC </a:t>
            </a:r>
          </a:p>
        </p:txBody>
      </p:sp>
      <p:sp>
        <p:nvSpPr>
          <p:cNvPr id="12297" name="Rectangle 12296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99" name="Rectangle 12298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ruta 4">
            <a:extLst>
              <a:ext uri="{FF2B5EF4-FFF2-40B4-BE49-F238E27FC236}">
                <a16:creationId xmlns:a16="http://schemas.microsoft.com/office/drawing/2014/main" id="{51646F2E-1936-3BA0-7147-9E4775E81DAE}"/>
              </a:ext>
            </a:extLst>
          </p:cNvPr>
          <p:cNvSpPr txBox="1"/>
          <p:nvPr/>
        </p:nvSpPr>
        <p:spPr>
          <a:xfrm>
            <a:off x="793661" y="2599509"/>
            <a:ext cx="4530898" cy="3639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0" i="0" u="none" strike="noStrike" dirty="0">
                <a:effectLst/>
              </a:rPr>
              <a:t>1.41 -&gt;  relates to the ratio of the Standard Deviations of the two methods SD_Kit2 /SD_Kit1. A value &gt;1 means Kit2 has a wider spread higher SD than Kit1.</a:t>
            </a:r>
            <a:endParaRPr lang="en-US" sz="1700" b="0" dirty="0">
              <a:effectLst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br>
              <a:rPr lang="en-US" sz="1700" b="0" dirty="0">
                <a:effectLst/>
              </a:rPr>
            </a:br>
            <a:endParaRPr lang="en-US" sz="1700" b="0" dirty="0">
              <a:effectLst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0" i="0" u="none" strike="noStrike" dirty="0">
                <a:effectLst/>
              </a:rPr>
              <a:t>-0.01 -&gt; This relates to the difference between the means of the two methods Mean_Kit2 - Mean_Kti1. A small value means the means are very similar. Despite the near-zero mean difference, there is large random error and poor precision.</a:t>
            </a:r>
            <a:endParaRPr lang="en-US" sz="1700" b="0" dirty="0">
              <a:effectLst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br>
              <a:rPr lang="en-US" sz="1700" dirty="0"/>
            </a:br>
            <a:endParaRPr lang="en-US" sz="1700" dirty="0"/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1D1DC061-1E80-246B-1E8B-B7030064A02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911532" y="3249445"/>
            <a:ext cx="5150277" cy="2183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301" name="Rectangle 12300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9200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327" name="Rectangle 13318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06131B9D-F090-FF1F-17AF-5CD1BD0DC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Plotting the difference against measurement magnitude </a:t>
            </a:r>
          </a:p>
        </p:txBody>
      </p:sp>
      <p:sp>
        <p:nvSpPr>
          <p:cNvPr id="13328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onnsiteX0" fmla="*/ 0 w 1554480"/>
              <a:gd name="connsiteY0" fmla="*/ 0 h 18288"/>
              <a:gd name="connsiteX1" fmla="*/ 549250 w 1554480"/>
              <a:gd name="connsiteY1" fmla="*/ 0 h 18288"/>
              <a:gd name="connsiteX2" fmla="*/ 1082954 w 1554480"/>
              <a:gd name="connsiteY2" fmla="*/ 0 h 18288"/>
              <a:gd name="connsiteX3" fmla="*/ 1554480 w 1554480"/>
              <a:gd name="connsiteY3" fmla="*/ 0 h 18288"/>
              <a:gd name="connsiteX4" fmla="*/ 1554480 w 1554480"/>
              <a:gd name="connsiteY4" fmla="*/ 18288 h 18288"/>
              <a:gd name="connsiteX5" fmla="*/ 1067410 w 1554480"/>
              <a:gd name="connsiteY5" fmla="*/ 18288 h 18288"/>
              <a:gd name="connsiteX6" fmla="*/ 549250 w 1554480"/>
              <a:gd name="connsiteY6" fmla="*/ 18288 h 18288"/>
              <a:gd name="connsiteX7" fmla="*/ 0 w 1554480"/>
              <a:gd name="connsiteY7" fmla="*/ 18288 h 18288"/>
              <a:gd name="connsiteX8" fmla="*/ 0 w 1554480"/>
              <a:gd name="connsiteY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ruta 4">
            <a:extLst>
              <a:ext uri="{FF2B5EF4-FFF2-40B4-BE49-F238E27FC236}">
                <a16:creationId xmlns:a16="http://schemas.microsoft.com/office/drawing/2014/main" id="{AF592D35-F094-93F9-FF35-3997638E3DF2}"/>
              </a:ext>
            </a:extLst>
          </p:cNvPr>
          <p:cNvSpPr txBox="1"/>
          <p:nvPr/>
        </p:nvSpPr>
        <p:spPr>
          <a:xfrm>
            <a:off x="4654295" y="502920"/>
            <a:ext cx="6894576" cy="14630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fontAlgn="base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200" b="0" i="0" u="none" strike="noStrike">
                <a:effectLst/>
              </a:rPr>
              <a:t>Larger differences at higher concentration </a:t>
            </a:r>
          </a:p>
          <a:p>
            <a:pPr indent="-228600" fontAlgn="base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200" b="0" i="0" u="none" strike="noStrike">
                <a:effectLst/>
              </a:rPr>
              <a:t>No major curvature, but visible proportional bias</a:t>
            </a:r>
          </a:p>
          <a:p>
            <a:pPr indent="-228600" fontAlgn="base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200" b="0" i="0" u="none" strike="noStrike">
                <a:effectLst/>
              </a:rPr>
              <a:t>Supports the regression-based BA method</a:t>
            </a:r>
          </a:p>
        </p:txBody>
      </p:sp>
      <p:pic>
        <p:nvPicPr>
          <p:cNvPr id="13314" name="Picture 2">
            <a:extLst>
              <a:ext uri="{FF2B5EF4-FFF2-40B4-BE49-F238E27FC236}">
                <a16:creationId xmlns:a16="http://schemas.microsoft.com/office/drawing/2014/main" id="{78F58900-D4BD-DD20-1040-DC27CFD0915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870918" y="2290936"/>
            <a:ext cx="6437971" cy="3959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7571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E6341691-4095-FF4D-660C-508FA1455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i="1">
                <a:solidFill>
                  <a:srgbClr val="FFFFFF"/>
                </a:solidFill>
              </a:rPr>
              <a:t>Which method is most suitable given the data?</a:t>
            </a:r>
            <a:endParaRPr lang="sv-SE">
              <a:solidFill>
                <a:srgbClr val="FFFFFF"/>
              </a:solidFill>
            </a:endParaRPr>
          </a:p>
        </p:txBody>
      </p:sp>
      <p:sp>
        <p:nvSpPr>
          <p:cNvPr id="21" name="Arc 20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Platshållare för innehåll 2">
            <a:extLst>
              <a:ext uri="{FF2B5EF4-FFF2-40B4-BE49-F238E27FC236}">
                <a16:creationId xmlns:a16="http://schemas.microsoft.com/office/drawing/2014/main" id="{D276E243-06B0-8B9F-2957-0BFA5B2EA6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sz="1500"/>
              <a:t>Given the observations:</a:t>
            </a:r>
            <a:endParaRPr lang="en-US" sz="1500" b="0">
              <a:effectLst/>
            </a:endParaRPr>
          </a:p>
          <a:p>
            <a:pPr marL="0" indent="0" fontAlgn="base">
              <a:buNone/>
            </a:pPr>
            <a:r>
              <a:rPr lang="en-US" sz="1500"/>
              <a:t>	Non-constant variability </a:t>
            </a:r>
          </a:p>
          <a:p>
            <a:pPr marL="0" indent="0" fontAlgn="base">
              <a:buNone/>
            </a:pPr>
            <a:r>
              <a:rPr lang="en-US" sz="1500"/>
              <a:t>	Downward trend in the standard BA plot</a:t>
            </a:r>
          </a:p>
          <a:p>
            <a:pPr marL="0" indent="0" fontAlgn="base">
              <a:buNone/>
            </a:pPr>
            <a:r>
              <a:rPr lang="en-US" sz="1500"/>
              <a:t>	Evidence of proportional bias</a:t>
            </a:r>
          </a:p>
          <a:p>
            <a:pPr marL="0" indent="0" fontAlgn="base">
              <a:buNone/>
            </a:pPr>
            <a:r>
              <a:rPr lang="en-US" sz="1500"/>
              <a:t>	Larger variability in Kit 2</a:t>
            </a:r>
          </a:p>
          <a:p>
            <a:pPr marL="0" indent="0" fontAlgn="base">
              <a:buNone/>
            </a:pPr>
            <a:r>
              <a:rPr lang="en-US" sz="1500"/>
              <a:t>	CCC confirming poor precision</a:t>
            </a:r>
          </a:p>
          <a:p>
            <a:r>
              <a:rPr lang="en-US" sz="1500"/>
              <a:t>The regression-based Bland–Altman method is the most appropriate for this dataset.</a:t>
            </a:r>
            <a:endParaRPr lang="en-US" sz="1500" b="1">
              <a:effectLst/>
            </a:endParaRPr>
          </a:p>
          <a:p>
            <a:r>
              <a:rPr lang="en-US" sz="1500"/>
              <a:t>It properly accounts for: </a:t>
            </a:r>
            <a:endParaRPr lang="en-US" sz="1500" b="0">
              <a:effectLst/>
            </a:endParaRPr>
          </a:p>
          <a:p>
            <a:pPr marL="0" indent="0" fontAlgn="base">
              <a:buNone/>
            </a:pPr>
            <a:r>
              <a:rPr lang="en-US" sz="1500"/>
              <a:t>	Proportional bias</a:t>
            </a:r>
          </a:p>
          <a:p>
            <a:pPr marL="0" indent="0" fontAlgn="base">
              <a:buNone/>
            </a:pPr>
            <a:r>
              <a:rPr lang="en-US" sz="1500"/>
              <a:t>	Heteroscedasticity</a:t>
            </a:r>
          </a:p>
          <a:p>
            <a:pPr marL="0" indent="0" fontAlgn="base">
              <a:buNone/>
            </a:pPr>
            <a:r>
              <a:rPr lang="en-US" sz="1500"/>
              <a:t>	Non-constant limits of agreement</a:t>
            </a:r>
            <a:br>
              <a:rPr lang="en-US" sz="1500"/>
            </a:br>
            <a:br>
              <a:rPr lang="en-US" sz="1500"/>
            </a:br>
            <a:endParaRPr lang="en-US" sz="1500"/>
          </a:p>
          <a:p>
            <a:r>
              <a:rPr lang="en-US" sz="1500"/>
              <a:t>The classical Bland–Altman would misrepresent the agreement because it assumes constant variability.</a:t>
            </a:r>
            <a:endParaRPr lang="en-US" sz="1500" b="0">
              <a:effectLst/>
            </a:endParaRPr>
          </a:p>
          <a:p>
            <a:br>
              <a:rPr lang="en-US" sz="1500"/>
            </a:br>
            <a:endParaRPr lang="sv-SE" sz="1500"/>
          </a:p>
        </p:txBody>
      </p:sp>
    </p:spTree>
    <p:extLst>
      <p:ext uri="{BB962C8B-B14F-4D97-AF65-F5344CB8AC3E}">
        <p14:creationId xmlns:p14="http://schemas.microsoft.com/office/powerpoint/2010/main" val="7991803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854</TotalTime>
  <Words>621</Words>
  <Application>Microsoft Office PowerPoint</Application>
  <PresentationFormat>Bredbild</PresentationFormat>
  <Paragraphs>49</Paragraphs>
  <Slides>15</Slides>
  <Notes>6</Notes>
  <HiddenSlides>0</HiddenSlides>
  <MMClips>0</MMClips>
  <ScaleCrop>false</ScaleCrop>
  <HeadingPairs>
    <vt:vector size="6" baseType="variant">
      <vt:variant>
        <vt:lpstr>Använt teckensnitt</vt:lpstr>
      </vt:variant>
      <vt:variant>
        <vt:i4>3</vt:i4>
      </vt:variant>
      <vt:variant>
        <vt:lpstr>Tema</vt:lpstr>
      </vt:variant>
      <vt:variant>
        <vt:i4>1</vt:i4>
      </vt:variant>
      <vt:variant>
        <vt:lpstr>Bildrubriker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Office-tema</vt:lpstr>
      <vt:lpstr>Task 2 – Seminar 4</vt:lpstr>
      <vt:lpstr>We start by exploring the data set. Which includes two different measurement kits. </vt:lpstr>
      <vt:lpstr>Normality check</vt:lpstr>
      <vt:lpstr>Normality check</vt:lpstr>
      <vt:lpstr>Normality check </vt:lpstr>
      <vt:lpstr>Explore methods for analysing the agreement and compare these.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Lin´s CCC </vt:lpstr>
      <vt:lpstr> Lin´s CCC </vt:lpstr>
      <vt:lpstr>Plotting the difference against measurement magnitude </vt:lpstr>
      <vt:lpstr>Which method is most suitable given the data?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Mert Affan</dc:creator>
  <cp:lastModifiedBy>Mert Affan</cp:lastModifiedBy>
  <cp:revision>4</cp:revision>
  <dcterms:created xsi:type="dcterms:W3CDTF">2025-12-02T20:47:19Z</dcterms:created>
  <dcterms:modified xsi:type="dcterms:W3CDTF">2025-12-03T11:01:29Z</dcterms:modified>
</cp:coreProperties>
</file>
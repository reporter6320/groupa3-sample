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5" r:id="rId13"/>
    <p:sldId id="258" r:id="rId14"/>
    <p:sldId id="270" r:id="rId15"/>
    <p:sldId id="271" r:id="rId16"/>
    <p:sldId id="272" r:id="rId17"/>
    <p:sldId id="273" r:id="rId18"/>
    <p:sldId id="276" r:id="rId19"/>
    <p:sldId id="274" r:id="rId20"/>
    <p:sldId id="259" r:id="rId21"/>
    <p:sldId id="277" r:id="rId22"/>
    <p:sldId id="278" r:id="rId23"/>
    <p:sldId id="279" r:id="rId24"/>
    <p:sldId id="280" r:id="rId25"/>
    <p:sldId id="260" r:id="rId26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svg"/><Relationship Id="rId1" Type="http://schemas.openxmlformats.org/officeDocument/2006/relationships/image" Target="../media/image25.png"/><Relationship Id="rId4" Type="http://schemas.openxmlformats.org/officeDocument/2006/relationships/image" Target="../media/image28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svg"/><Relationship Id="rId1" Type="http://schemas.openxmlformats.org/officeDocument/2006/relationships/image" Target="../media/image25.png"/><Relationship Id="rId4" Type="http://schemas.openxmlformats.org/officeDocument/2006/relationships/image" Target="../media/image2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6958C63-E92B-4C0E-ABE4-35A56AEADD01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D53A3EAA-7AD5-45F3-A6A4-C34053715FAC}">
      <dgm:prSet/>
      <dgm:spPr/>
      <dgm:t>
        <a:bodyPr/>
        <a:lstStyle/>
        <a:p>
          <a:r>
            <a:rPr lang="en-US"/>
            <a:t>Different curve shapes can yield the same t₅₀.</a:t>
          </a:r>
        </a:p>
      </dgm:t>
    </dgm:pt>
    <dgm:pt modelId="{0520C23C-0D47-4DC9-85E4-FBB36BE94845}" type="parTrans" cxnId="{C308460B-9807-4876-ACEE-ACDD40E0514A}">
      <dgm:prSet/>
      <dgm:spPr/>
      <dgm:t>
        <a:bodyPr/>
        <a:lstStyle/>
        <a:p>
          <a:endParaRPr lang="en-US"/>
        </a:p>
      </dgm:t>
    </dgm:pt>
    <dgm:pt modelId="{0A92A959-3870-4336-A2CA-A720A0D578B6}" type="sibTrans" cxnId="{C308460B-9807-4876-ACEE-ACDD40E0514A}">
      <dgm:prSet/>
      <dgm:spPr/>
      <dgm:t>
        <a:bodyPr/>
        <a:lstStyle/>
        <a:p>
          <a:endParaRPr lang="en-US"/>
        </a:p>
      </dgm:t>
    </dgm:pt>
    <dgm:pt modelId="{4741EE79-027E-4481-B150-D7781CFEC44E}">
      <dgm:prSet/>
      <dgm:spPr/>
      <dgm:t>
        <a:bodyPr/>
        <a:lstStyle/>
        <a:p>
          <a:r>
            <a:rPr lang="en-US"/>
            <a:t>Subjects may share identical t₅₀ values but differ in early retention, which has important clinical implications.</a:t>
          </a:r>
        </a:p>
      </dgm:t>
    </dgm:pt>
    <dgm:pt modelId="{6F267C42-D0E1-4D92-9076-01BC0827315E}" type="parTrans" cxnId="{69FF7527-BDCD-4725-A904-CE6CFF80E513}">
      <dgm:prSet/>
      <dgm:spPr/>
      <dgm:t>
        <a:bodyPr/>
        <a:lstStyle/>
        <a:p>
          <a:endParaRPr lang="en-US"/>
        </a:p>
      </dgm:t>
    </dgm:pt>
    <dgm:pt modelId="{5EB34821-A961-4A25-8371-F015EE131F2A}" type="sibTrans" cxnId="{69FF7527-BDCD-4725-A904-CE6CFF80E513}">
      <dgm:prSet/>
      <dgm:spPr/>
      <dgm:t>
        <a:bodyPr/>
        <a:lstStyle/>
        <a:p>
          <a:endParaRPr lang="en-US"/>
        </a:p>
      </dgm:t>
    </dgm:pt>
    <dgm:pt modelId="{C9CF9392-587D-40CB-9DEF-3988944BD231}">
      <dgm:prSet/>
      <dgm:spPr/>
      <dgm:t>
        <a:bodyPr/>
        <a:lstStyle/>
        <a:p>
          <a:r>
            <a:rPr lang="en-US"/>
            <a:t>Half-life assumes exponential decay and does not account for the lag phase.</a:t>
          </a:r>
        </a:p>
      </dgm:t>
    </dgm:pt>
    <dgm:pt modelId="{E62E79C6-5339-4830-BE58-054F9EE06809}" type="parTrans" cxnId="{528DF2E8-B53B-4D40-9E59-8751E1D66E7F}">
      <dgm:prSet/>
      <dgm:spPr/>
      <dgm:t>
        <a:bodyPr/>
        <a:lstStyle/>
        <a:p>
          <a:endParaRPr lang="en-US"/>
        </a:p>
      </dgm:t>
    </dgm:pt>
    <dgm:pt modelId="{47BD9336-B3D6-42C2-8C43-AAD608C840CB}" type="sibTrans" cxnId="{528DF2E8-B53B-4D40-9E59-8751E1D66E7F}">
      <dgm:prSet/>
      <dgm:spPr/>
      <dgm:t>
        <a:bodyPr/>
        <a:lstStyle/>
        <a:p>
          <a:endParaRPr lang="en-US"/>
        </a:p>
      </dgm:t>
    </dgm:pt>
    <dgm:pt modelId="{6F4E98D3-63EE-4AC0-9535-41740EE776E1}" type="pres">
      <dgm:prSet presAssocID="{76958C63-E92B-4C0E-ABE4-35A56AEADD01}" presName="linear" presStyleCnt="0">
        <dgm:presLayoutVars>
          <dgm:animLvl val="lvl"/>
          <dgm:resizeHandles val="exact"/>
        </dgm:presLayoutVars>
      </dgm:prSet>
      <dgm:spPr/>
    </dgm:pt>
    <dgm:pt modelId="{0A6E7CDF-9D1E-4550-980A-69FBB03681EC}" type="pres">
      <dgm:prSet presAssocID="{D53A3EAA-7AD5-45F3-A6A4-C34053715FAC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78A5861A-B098-4FC6-99C6-9B6E7B7DC27D}" type="pres">
      <dgm:prSet presAssocID="{0A92A959-3870-4336-A2CA-A720A0D578B6}" presName="spacer" presStyleCnt="0"/>
      <dgm:spPr/>
    </dgm:pt>
    <dgm:pt modelId="{B6844AA4-3289-4E44-8770-3C49B6CE8790}" type="pres">
      <dgm:prSet presAssocID="{4741EE79-027E-4481-B150-D7781CFEC44E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DAC0A35D-90ED-4F10-A776-F5484212FB57}" type="pres">
      <dgm:prSet presAssocID="{5EB34821-A961-4A25-8371-F015EE131F2A}" presName="spacer" presStyleCnt="0"/>
      <dgm:spPr/>
    </dgm:pt>
    <dgm:pt modelId="{A7F23320-0B17-496F-BF1D-94CB9CDDF915}" type="pres">
      <dgm:prSet presAssocID="{C9CF9392-587D-40CB-9DEF-3988944BD231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C308460B-9807-4876-ACEE-ACDD40E0514A}" srcId="{76958C63-E92B-4C0E-ABE4-35A56AEADD01}" destId="{D53A3EAA-7AD5-45F3-A6A4-C34053715FAC}" srcOrd="0" destOrd="0" parTransId="{0520C23C-0D47-4DC9-85E4-FBB36BE94845}" sibTransId="{0A92A959-3870-4336-A2CA-A720A0D578B6}"/>
    <dgm:cxn modelId="{69FF7527-BDCD-4725-A904-CE6CFF80E513}" srcId="{76958C63-E92B-4C0E-ABE4-35A56AEADD01}" destId="{4741EE79-027E-4481-B150-D7781CFEC44E}" srcOrd="1" destOrd="0" parTransId="{6F267C42-D0E1-4D92-9076-01BC0827315E}" sibTransId="{5EB34821-A961-4A25-8371-F015EE131F2A}"/>
    <dgm:cxn modelId="{94CB8260-444A-498D-937D-281FECCE635C}" type="presOf" srcId="{D53A3EAA-7AD5-45F3-A6A4-C34053715FAC}" destId="{0A6E7CDF-9D1E-4550-980A-69FBB03681EC}" srcOrd="0" destOrd="0" presId="urn:microsoft.com/office/officeart/2005/8/layout/vList2"/>
    <dgm:cxn modelId="{E9AA5853-C452-4E05-A47E-1947AFCA4907}" type="presOf" srcId="{76958C63-E92B-4C0E-ABE4-35A56AEADD01}" destId="{6F4E98D3-63EE-4AC0-9535-41740EE776E1}" srcOrd="0" destOrd="0" presId="urn:microsoft.com/office/officeart/2005/8/layout/vList2"/>
    <dgm:cxn modelId="{B7E05EB0-2FDC-475B-BC3A-3FB62C30544D}" type="presOf" srcId="{C9CF9392-587D-40CB-9DEF-3988944BD231}" destId="{A7F23320-0B17-496F-BF1D-94CB9CDDF915}" srcOrd="0" destOrd="0" presId="urn:microsoft.com/office/officeart/2005/8/layout/vList2"/>
    <dgm:cxn modelId="{0617C6E2-46C8-46DB-AB76-B3EC276653C0}" type="presOf" srcId="{4741EE79-027E-4481-B150-D7781CFEC44E}" destId="{B6844AA4-3289-4E44-8770-3C49B6CE8790}" srcOrd="0" destOrd="0" presId="urn:microsoft.com/office/officeart/2005/8/layout/vList2"/>
    <dgm:cxn modelId="{528DF2E8-B53B-4D40-9E59-8751E1D66E7F}" srcId="{76958C63-E92B-4C0E-ABE4-35A56AEADD01}" destId="{C9CF9392-587D-40CB-9DEF-3988944BD231}" srcOrd="2" destOrd="0" parTransId="{E62E79C6-5339-4830-BE58-054F9EE06809}" sibTransId="{47BD9336-B3D6-42C2-8C43-AAD608C840CB}"/>
    <dgm:cxn modelId="{8A46ECCA-E4C8-4D9E-988B-1AF31F68A8EC}" type="presParOf" srcId="{6F4E98D3-63EE-4AC0-9535-41740EE776E1}" destId="{0A6E7CDF-9D1E-4550-980A-69FBB03681EC}" srcOrd="0" destOrd="0" presId="urn:microsoft.com/office/officeart/2005/8/layout/vList2"/>
    <dgm:cxn modelId="{2BE539B8-EFE5-480F-94F3-E86F981121A5}" type="presParOf" srcId="{6F4E98D3-63EE-4AC0-9535-41740EE776E1}" destId="{78A5861A-B098-4FC6-99C6-9B6E7B7DC27D}" srcOrd="1" destOrd="0" presId="urn:microsoft.com/office/officeart/2005/8/layout/vList2"/>
    <dgm:cxn modelId="{585798BE-5C4B-4D4A-82B6-E17AD2831721}" type="presParOf" srcId="{6F4E98D3-63EE-4AC0-9535-41740EE776E1}" destId="{B6844AA4-3289-4E44-8770-3C49B6CE8790}" srcOrd="2" destOrd="0" presId="urn:microsoft.com/office/officeart/2005/8/layout/vList2"/>
    <dgm:cxn modelId="{37FB4986-AE62-40CE-9081-8868B736DB08}" type="presParOf" srcId="{6F4E98D3-63EE-4AC0-9535-41740EE776E1}" destId="{DAC0A35D-90ED-4F10-A776-F5484212FB57}" srcOrd="3" destOrd="0" presId="urn:microsoft.com/office/officeart/2005/8/layout/vList2"/>
    <dgm:cxn modelId="{54ADED8E-8B55-4388-B3C1-081D7786FB8B}" type="presParOf" srcId="{6F4E98D3-63EE-4AC0-9535-41740EE776E1}" destId="{A7F23320-0B17-496F-BF1D-94CB9CDDF915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203F882-9580-4ACA-9E98-1EB3CAE4782E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A8B918CB-F69C-4A05-90AE-C3DD56312E4D}">
      <dgm:prSet/>
      <dgm:spPr/>
      <dgm:t>
        <a:bodyPr/>
        <a:lstStyle/>
        <a:p>
          <a:r>
            <a:rPr lang="en-US"/>
            <a:t>Time at Steepest decline (most negative derivate)</a:t>
          </a:r>
        </a:p>
      </dgm:t>
    </dgm:pt>
    <dgm:pt modelId="{70B8E936-5DDD-4768-BE98-DD2C93311749}" type="parTrans" cxnId="{FE315717-690D-4F0A-A3FE-70C5BF625F28}">
      <dgm:prSet/>
      <dgm:spPr/>
      <dgm:t>
        <a:bodyPr/>
        <a:lstStyle/>
        <a:p>
          <a:endParaRPr lang="en-US"/>
        </a:p>
      </dgm:t>
    </dgm:pt>
    <dgm:pt modelId="{C2C5E07C-C3A7-49EF-8ED9-D403F34C3ACC}" type="sibTrans" cxnId="{FE315717-690D-4F0A-A3FE-70C5BF625F28}">
      <dgm:prSet/>
      <dgm:spPr/>
      <dgm:t>
        <a:bodyPr/>
        <a:lstStyle/>
        <a:p>
          <a:endParaRPr lang="en-US"/>
        </a:p>
      </dgm:t>
    </dgm:pt>
    <dgm:pt modelId="{995CADCA-5D46-4287-84AF-5A76469B054A}">
      <dgm:prSet/>
      <dgm:spPr/>
      <dgm:t>
        <a:bodyPr/>
        <a:lstStyle/>
        <a:p>
          <a:r>
            <a:rPr lang="en-US"/>
            <a:t>Area under the curve (AUC)</a:t>
          </a:r>
        </a:p>
      </dgm:t>
    </dgm:pt>
    <dgm:pt modelId="{0A9694A6-DBDD-4A89-9E99-2EEC3BEEB501}" type="parTrans" cxnId="{EE56228A-C062-4B7A-88E2-ABCACF85AF25}">
      <dgm:prSet/>
      <dgm:spPr/>
      <dgm:t>
        <a:bodyPr/>
        <a:lstStyle/>
        <a:p>
          <a:endParaRPr lang="en-US"/>
        </a:p>
      </dgm:t>
    </dgm:pt>
    <dgm:pt modelId="{B55BF83E-BC90-45E2-8D84-A85592D8FBD2}" type="sibTrans" cxnId="{EE56228A-C062-4B7A-88E2-ABCACF85AF25}">
      <dgm:prSet/>
      <dgm:spPr/>
      <dgm:t>
        <a:bodyPr/>
        <a:lstStyle/>
        <a:p>
          <a:endParaRPr lang="en-US"/>
        </a:p>
      </dgm:t>
    </dgm:pt>
    <dgm:pt modelId="{50CD70A3-8ABC-402A-9DA7-A0C2601E18CC}" type="pres">
      <dgm:prSet presAssocID="{E203F882-9580-4ACA-9E98-1EB3CAE4782E}" presName="root" presStyleCnt="0">
        <dgm:presLayoutVars>
          <dgm:dir/>
          <dgm:resizeHandles val="exact"/>
        </dgm:presLayoutVars>
      </dgm:prSet>
      <dgm:spPr/>
    </dgm:pt>
    <dgm:pt modelId="{48DEB42D-7E6A-42CB-A6E9-895B774F0ECF}" type="pres">
      <dgm:prSet presAssocID="{A8B918CB-F69C-4A05-90AE-C3DD56312E4D}" presName="compNode" presStyleCnt="0"/>
      <dgm:spPr/>
    </dgm:pt>
    <dgm:pt modelId="{F3C190A1-4F04-4E1B-A827-F693828D1F93}" type="pres">
      <dgm:prSet presAssocID="{A8B918CB-F69C-4A05-90AE-C3DD56312E4D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imglas klart"/>
        </a:ext>
      </dgm:extLst>
    </dgm:pt>
    <dgm:pt modelId="{219D8308-AAD6-43DC-8599-3C19E828D068}" type="pres">
      <dgm:prSet presAssocID="{A8B918CB-F69C-4A05-90AE-C3DD56312E4D}" presName="spaceRect" presStyleCnt="0"/>
      <dgm:spPr/>
    </dgm:pt>
    <dgm:pt modelId="{F3492D2C-9756-47C5-A6E0-2E38ED030949}" type="pres">
      <dgm:prSet presAssocID="{A8B918CB-F69C-4A05-90AE-C3DD56312E4D}" presName="textRect" presStyleLbl="revTx" presStyleIdx="0" presStyleCnt="2">
        <dgm:presLayoutVars>
          <dgm:chMax val="1"/>
          <dgm:chPref val="1"/>
        </dgm:presLayoutVars>
      </dgm:prSet>
      <dgm:spPr/>
    </dgm:pt>
    <dgm:pt modelId="{EF361CCC-833A-4EF7-8EBD-4691D1C01282}" type="pres">
      <dgm:prSet presAssocID="{C2C5E07C-C3A7-49EF-8ED9-D403F34C3ACC}" presName="sibTrans" presStyleCnt="0"/>
      <dgm:spPr/>
    </dgm:pt>
    <dgm:pt modelId="{E2DEF0CD-FFA3-4E7A-B901-2C20B06FE0CE}" type="pres">
      <dgm:prSet presAssocID="{995CADCA-5D46-4287-84AF-5A76469B054A}" presName="compNode" presStyleCnt="0"/>
      <dgm:spPr/>
    </dgm:pt>
    <dgm:pt modelId="{E000C54A-2767-4DA7-9085-7F517D7F9C99}" type="pres">
      <dgm:prSet presAssocID="{995CADCA-5D46-4287-84AF-5A76469B054A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Graph with Downward Trend"/>
        </a:ext>
      </dgm:extLst>
    </dgm:pt>
    <dgm:pt modelId="{30515873-7349-47AA-B01E-45F956BA82CB}" type="pres">
      <dgm:prSet presAssocID="{995CADCA-5D46-4287-84AF-5A76469B054A}" presName="spaceRect" presStyleCnt="0"/>
      <dgm:spPr/>
    </dgm:pt>
    <dgm:pt modelId="{CEA314E9-0A24-44E4-91AA-20E385756053}" type="pres">
      <dgm:prSet presAssocID="{995CADCA-5D46-4287-84AF-5A76469B054A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FE315717-690D-4F0A-A3FE-70C5BF625F28}" srcId="{E203F882-9580-4ACA-9E98-1EB3CAE4782E}" destId="{A8B918CB-F69C-4A05-90AE-C3DD56312E4D}" srcOrd="0" destOrd="0" parTransId="{70B8E936-5DDD-4768-BE98-DD2C93311749}" sibTransId="{C2C5E07C-C3A7-49EF-8ED9-D403F34C3ACC}"/>
    <dgm:cxn modelId="{FBE04448-A0D1-4591-9D4C-9EE3D5E95A47}" type="presOf" srcId="{E203F882-9580-4ACA-9E98-1EB3CAE4782E}" destId="{50CD70A3-8ABC-402A-9DA7-A0C2601E18CC}" srcOrd="0" destOrd="0" presId="urn:microsoft.com/office/officeart/2018/2/layout/IconLabelList"/>
    <dgm:cxn modelId="{EE56228A-C062-4B7A-88E2-ABCACF85AF25}" srcId="{E203F882-9580-4ACA-9E98-1EB3CAE4782E}" destId="{995CADCA-5D46-4287-84AF-5A76469B054A}" srcOrd="1" destOrd="0" parTransId="{0A9694A6-DBDD-4A89-9E99-2EEC3BEEB501}" sibTransId="{B55BF83E-BC90-45E2-8D84-A85592D8FBD2}"/>
    <dgm:cxn modelId="{AB32289A-46EB-4B72-B08A-A97FD1F889A5}" type="presOf" srcId="{A8B918CB-F69C-4A05-90AE-C3DD56312E4D}" destId="{F3492D2C-9756-47C5-A6E0-2E38ED030949}" srcOrd="0" destOrd="0" presId="urn:microsoft.com/office/officeart/2018/2/layout/IconLabelList"/>
    <dgm:cxn modelId="{7A44D1E4-A464-4C15-B6DA-240BFF3F2ABA}" type="presOf" srcId="{995CADCA-5D46-4287-84AF-5A76469B054A}" destId="{CEA314E9-0A24-44E4-91AA-20E385756053}" srcOrd="0" destOrd="0" presId="urn:microsoft.com/office/officeart/2018/2/layout/IconLabelList"/>
    <dgm:cxn modelId="{159F27EA-0FDD-4C78-B4E5-916A39591561}" type="presParOf" srcId="{50CD70A3-8ABC-402A-9DA7-A0C2601E18CC}" destId="{48DEB42D-7E6A-42CB-A6E9-895B774F0ECF}" srcOrd="0" destOrd="0" presId="urn:microsoft.com/office/officeart/2018/2/layout/IconLabelList"/>
    <dgm:cxn modelId="{F52A9856-49EA-48DF-AF25-9DD73DACB0C8}" type="presParOf" srcId="{48DEB42D-7E6A-42CB-A6E9-895B774F0ECF}" destId="{F3C190A1-4F04-4E1B-A827-F693828D1F93}" srcOrd="0" destOrd="0" presId="urn:microsoft.com/office/officeart/2018/2/layout/IconLabelList"/>
    <dgm:cxn modelId="{D7DB2D4D-938E-4B3E-9D94-84CBBA7111F6}" type="presParOf" srcId="{48DEB42D-7E6A-42CB-A6E9-895B774F0ECF}" destId="{219D8308-AAD6-43DC-8599-3C19E828D068}" srcOrd="1" destOrd="0" presId="urn:microsoft.com/office/officeart/2018/2/layout/IconLabelList"/>
    <dgm:cxn modelId="{72219802-D79B-44EB-B2D9-DD18E9AAE2F4}" type="presParOf" srcId="{48DEB42D-7E6A-42CB-A6E9-895B774F0ECF}" destId="{F3492D2C-9756-47C5-A6E0-2E38ED030949}" srcOrd="2" destOrd="0" presId="urn:microsoft.com/office/officeart/2018/2/layout/IconLabelList"/>
    <dgm:cxn modelId="{A4C79ECC-49DB-4FE9-8733-62D33FC0761C}" type="presParOf" srcId="{50CD70A3-8ABC-402A-9DA7-A0C2601E18CC}" destId="{EF361CCC-833A-4EF7-8EBD-4691D1C01282}" srcOrd="1" destOrd="0" presId="urn:microsoft.com/office/officeart/2018/2/layout/IconLabelList"/>
    <dgm:cxn modelId="{52AED0A5-6B68-4BFC-9B77-FF4C1C9F3075}" type="presParOf" srcId="{50CD70A3-8ABC-402A-9DA7-A0C2601E18CC}" destId="{E2DEF0CD-FFA3-4E7A-B901-2C20B06FE0CE}" srcOrd="2" destOrd="0" presId="urn:microsoft.com/office/officeart/2018/2/layout/IconLabelList"/>
    <dgm:cxn modelId="{96CB644C-0F39-45EC-9193-8D84E77EBD55}" type="presParOf" srcId="{E2DEF0CD-FFA3-4E7A-B901-2C20B06FE0CE}" destId="{E000C54A-2767-4DA7-9085-7F517D7F9C99}" srcOrd="0" destOrd="0" presId="urn:microsoft.com/office/officeart/2018/2/layout/IconLabelList"/>
    <dgm:cxn modelId="{8F0C171B-EF91-4B83-A847-BA553371E21B}" type="presParOf" srcId="{E2DEF0CD-FFA3-4E7A-B901-2C20B06FE0CE}" destId="{30515873-7349-47AA-B01E-45F956BA82CB}" srcOrd="1" destOrd="0" presId="urn:microsoft.com/office/officeart/2018/2/layout/IconLabelList"/>
    <dgm:cxn modelId="{4385F220-F638-4138-BE47-2262E42700AC}" type="presParOf" srcId="{E2DEF0CD-FFA3-4E7A-B901-2C20B06FE0CE}" destId="{CEA314E9-0A24-44E4-91AA-20E385756053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65531A8-8DFF-4AD9-8F35-C7C4846385C9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0F163A13-5CF1-449F-8CDC-FCAD2AF54C5E}">
      <dgm:prSet/>
      <dgm:spPr/>
      <dgm:t>
        <a:bodyPr/>
        <a:lstStyle/>
        <a:p>
          <a:r>
            <a:rPr lang="en-US" b="1"/>
            <a:t>Fasted gastric emptying</a:t>
          </a:r>
          <a:r>
            <a:rPr lang="en-US"/>
            <a:t> is well described by an exponential (or log-linear) model with a half-life of ~15.7 minutes.</a:t>
          </a:r>
        </a:p>
      </dgm:t>
    </dgm:pt>
    <dgm:pt modelId="{2B08FD52-E999-4EA1-B1C4-7504EBEB18BD}" type="parTrans" cxnId="{15EB4471-8BB6-44F0-AAAA-E7B3F5361F69}">
      <dgm:prSet/>
      <dgm:spPr/>
      <dgm:t>
        <a:bodyPr/>
        <a:lstStyle/>
        <a:p>
          <a:endParaRPr lang="en-US"/>
        </a:p>
      </dgm:t>
    </dgm:pt>
    <dgm:pt modelId="{C9AC332A-4F08-443A-B8A7-5618CD0BCF4B}" type="sibTrans" cxnId="{15EB4471-8BB6-44F0-AAAA-E7B3F5361F69}">
      <dgm:prSet/>
      <dgm:spPr/>
      <dgm:t>
        <a:bodyPr/>
        <a:lstStyle/>
        <a:p>
          <a:endParaRPr lang="en-US"/>
        </a:p>
      </dgm:t>
    </dgm:pt>
    <dgm:pt modelId="{8161BB76-1FD0-42C0-A036-43C10A874061}">
      <dgm:prSet/>
      <dgm:spPr/>
      <dgm:t>
        <a:bodyPr/>
        <a:lstStyle/>
        <a:p>
          <a:r>
            <a:rPr lang="en-US" b="1"/>
            <a:t>Fed gastric emptying</a:t>
          </a:r>
          <a:r>
            <a:rPr lang="en-US"/>
            <a:t> requires a Weibull model due to the initial lag phase; half-life (~30.2 minutes) is insufficient to describe its dynamics.</a:t>
          </a:r>
        </a:p>
      </dgm:t>
    </dgm:pt>
    <dgm:pt modelId="{D9594684-91B7-42C8-B317-72D0E01AED36}" type="parTrans" cxnId="{2A6E234C-670D-4BA4-B138-E48F5BAAED01}">
      <dgm:prSet/>
      <dgm:spPr/>
      <dgm:t>
        <a:bodyPr/>
        <a:lstStyle/>
        <a:p>
          <a:endParaRPr lang="en-US"/>
        </a:p>
      </dgm:t>
    </dgm:pt>
    <dgm:pt modelId="{9395AB4A-2818-48F6-8318-BD4C53739EB6}" type="sibTrans" cxnId="{2A6E234C-670D-4BA4-B138-E48F5BAAED01}">
      <dgm:prSet/>
      <dgm:spPr/>
      <dgm:t>
        <a:bodyPr/>
        <a:lstStyle/>
        <a:p>
          <a:endParaRPr lang="en-US"/>
        </a:p>
      </dgm:t>
    </dgm:pt>
    <dgm:pt modelId="{BABEA0CE-E830-4B2B-8B7F-44CEF6EDCBDC}">
      <dgm:prSet/>
      <dgm:spPr/>
      <dgm:t>
        <a:bodyPr/>
        <a:lstStyle/>
        <a:p>
          <a:r>
            <a:rPr lang="en-US" b="1"/>
            <a:t>Half-life is not always informative</a:t>
          </a:r>
          <a:r>
            <a:rPr lang="en-US"/>
            <a:t> in the fed state. Alternative secondary parameters such as </a:t>
          </a:r>
          <a:r>
            <a:rPr lang="en-US" i="1"/>
            <a:t>T-lag25</a:t>
          </a:r>
          <a:r>
            <a:rPr lang="en-US"/>
            <a:t> and </a:t>
          </a:r>
          <a:r>
            <a:rPr lang="en-US" i="1"/>
            <a:t>time at steepest decline, AUC</a:t>
          </a:r>
          <a:r>
            <a:rPr lang="en-US"/>
            <a:t> provide a more accurate representation of gastric emptying dynamics.</a:t>
          </a:r>
        </a:p>
      </dgm:t>
    </dgm:pt>
    <dgm:pt modelId="{5D05DDB8-FFF5-4A22-9500-F8F5D4074534}" type="parTrans" cxnId="{9FDB8626-F535-47D9-9FDD-431486FBCE1D}">
      <dgm:prSet/>
      <dgm:spPr/>
      <dgm:t>
        <a:bodyPr/>
        <a:lstStyle/>
        <a:p>
          <a:endParaRPr lang="en-US"/>
        </a:p>
      </dgm:t>
    </dgm:pt>
    <dgm:pt modelId="{E09E76B3-37BB-4627-8A3E-D9D2F2A5890E}" type="sibTrans" cxnId="{9FDB8626-F535-47D9-9FDD-431486FBCE1D}">
      <dgm:prSet/>
      <dgm:spPr/>
      <dgm:t>
        <a:bodyPr/>
        <a:lstStyle/>
        <a:p>
          <a:endParaRPr lang="en-US"/>
        </a:p>
      </dgm:t>
    </dgm:pt>
    <dgm:pt modelId="{F99CA385-AA57-4795-A8A8-5F572A720CDF}" type="pres">
      <dgm:prSet presAssocID="{C65531A8-8DFF-4AD9-8F35-C7C4846385C9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F79253C8-10EA-4697-B95C-A3B986BB2E4A}" type="pres">
      <dgm:prSet presAssocID="{0F163A13-5CF1-449F-8CDC-FCAD2AF54C5E}" presName="hierRoot1" presStyleCnt="0"/>
      <dgm:spPr/>
    </dgm:pt>
    <dgm:pt modelId="{9843E7C0-523C-436C-B1B7-507EC30DE9BD}" type="pres">
      <dgm:prSet presAssocID="{0F163A13-5CF1-449F-8CDC-FCAD2AF54C5E}" presName="composite" presStyleCnt="0"/>
      <dgm:spPr/>
    </dgm:pt>
    <dgm:pt modelId="{B4367357-6B6D-4156-86FF-EF3BC3E8F9F1}" type="pres">
      <dgm:prSet presAssocID="{0F163A13-5CF1-449F-8CDC-FCAD2AF54C5E}" presName="background" presStyleLbl="node0" presStyleIdx="0" presStyleCnt="3"/>
      <dgm:spPr/>
    </dgm:pt>
    <dgm:pt modelId="{59D17B7B-8F48-4E23-AAFD-37C24742DF28}" type="pres">
      <dgm:prSet presAssocID="{0F163A13-5CF1-449F-8CDC-FCAD2AF54C5E}" presName="text" presStyleLbl="fgAcc0" presStyleIdx="0" presStyleCnt="3">
        <dgm:presLayoutVars>
          <dgm:chPref val="3"/>
        </dgm:presLayoutVars>
      </dgm:prSet>
      <dgm:spPr/>
    </dgm:pt>
    <dgm:pt modelId="{E7CEC829-4EE8-463E-9EDC-013D50A35999}" type="pres">
      <dgm:prSet presAssocID="{0F163A13-5CF1-449F-8CDC-FCAD2AF54C5E}" presName="hierChild2" presStyleCnt="0"/>
      <dgm:spPr/>
    </dgm:pt>
    <dgm:pt modelId="{FBD641FB-7E91-461D-A012-BC8DC6A96742}" type="pres">
      <dgm:prSet presAssocID="{8161BB76-1FD0-42C0-A036-43C10A874061}" presName="hierRoot1" presStyleCnt="0"/>
      <dgm:spPr/>
    </dgm:pt>
    <dgm:pt modelId="{D3629CBB-98BF-4D48-A0FE-5BEB01C40EFB}" type="pres">
      <dgm:prSet presAssocID="{8161BB76-1FD0-42C0-A036-43C10A874061}" presName="composite" presStyleCnt="0"/>
      <dgm:spPr/>
    </dgm:pt>
    <dgm:pt modelId="{07808679-770F-4FC6-B942-4E66CB3CBC9C}" type="pres">
      <dgm:prSet presAssocID="{8161BB76-1FD0-42C0-A036-43C10A874061}" presName="background" presStyleLbl="node0" presStyleIdx="1" presStyleCnt="3"/>
      <dgm:spPr/>
    </dgm:pt>
    <dgm:pt modelId="{EAA264B2-B271-47DB-9C54-A03ABF2983F5}" type="pres">
      <dgm:prSet presAssocID="{8161BB76-1FD0-42C0-A036-43C10A874061}" presName="text" presStyleLbl="fgAcc0" presStyleIdx="1" presStyleCnt="3">
        <dgm:presLayoutVars>
          <dgm:chPref val="3"/>
        </dgm:presLayoutVars>
      </dgm:prSet>
      <dgm:spPr/>
    </dgm:pt>
    <dgm:pt modelId="{E90F36E5-C58C-42F0-B257-EC8872347ADD}" type="pres">
      <dgm:prSet presAssocID="{8161BB76-1FD0-42C0-A036-43C10A874061}" presName="hierChild2" presStyleCnt="0"/>
      <dgm:spPr/>
    </dgm:pt>
    <dgm:pt modelId="{F8DF02A7-5E5B-41FB-88BC-18DDAB9F766C}" type="pres">
      <dgm:prSet presAssocID="{BABEA0CE-E830-4B2B-8B7F-44CEF6EDCBDC}" presName="hierRoot1" presStyleCnt="0"/>
      <dgm:spPr/>
    </dgm:pt>
    <dgm:pt modelId="{2047BB10-8549-4A02-AF55-E3E7FEC7D44F}" type="pres">
      <dgm:prSet presAssocID="{BABEA0CE-E830-4B2B-8B7F-44CEF6EDCBDC}" presName="composite" presStyleCnt="0"/>
      <dgm:spPr/>
    </dgm:pt>
    <dgm:pt modelId="{8D581BA5-0E70-4254-9957-60F104EA619D}" type="pres">
      <dgm:prSet presAssocID="{BABEA0CE-E830-4B2B-8B7F-44CEF6EDCBDC}" presName="background" presStyleLbl="node0" presStyleIdx="2" presStyleCnt="3"/>
      <dgm:spPr/>
    </dgm:pt>
    <dgm:pt modelId="{0DBC60B2-0DD2-4274-BC28-951A03786855}" type="pres">
      <dgm:prSet presAssocID="{BABEA0CE-E830-4B2B-8B7F-44CEF6EDCBDC}" presName="text" presStyleLbl="fgAcc0" presStyleIdx="2" presStyleCnt="3">
        <dgm:presLayoutVars>
          <dgm:chPref val="3"/>
        </dgm:presLayoutVars>
      </dgm:prSet>
      <dgm:spPr/>
    </dgm:pt>
    <dgm:pt modelId="{10F2295D-A996-4110-AA5E-70EB287B23E1}" type="pres">
      <dgm:prSet presAssocID="{BABEA0CE-E830-4B2B-8B7F-44CEF6EDCBDC}" presName="hierChild2" presStyleCnt="0"/>
      <dgm:spPr/>
    </dgm:pt>
  </dgm:ptLst>
  <dgm:cxnLst>
    <dgm:cxn modelId="{5D2EBD04-89FC-43E0-9B68-E213A20AD721}" type="presOf" srcId="{BABEA0CE-E830-4B2B-8B7F-44CEF6EDCBDC}" destId="{0DBC60B2-0DD2-4274-BC28-951A03786855}" srcOrd="0" destOrd="0" presId="urn:microsoft.com/office/officeart/2005/8/layout/hierarchy1"/>
    <dgm:cxn modelId="{9FDB8626-F535-47D9-9FDD-431486FBCE1D}" srcId="{C65531A8-8DFF-4AD9-8F35-C7C4846385C9}" destId="{BABEA0CE-E830-4B2B-8B7F-44CEF6EDCBDC}" srcOrd="2" destOrd="0" parTransId="{5D05DDB8-FFF5-4A22-9500-F8F5D4074534}" sibTransId="{E09E76B3-37BB-4627-8A3E-D9D2F2A5890E}"/>
    <dgm:cxn modelId="{6DF9682D-EA78-4DF6-9A00-9B5DD8D0699F}" type="presOf" srcId="{8161BB76-1FD0-42C0-A036-43C10A874061}" destId="{EAA264B2-B271-47DB-9C54-A03ABF2983F5}" srcOrd="0" destOrd="0" presId="urn:microsoft.com/office/officeart/2005/8/layout/hierarchy1"/>
    <dgm:cxn modelId="{2A6E234C-670D-4BA4-B138-E48F5BAAED01}" srcId="{C65531A8-8DFF-4AD9-8F35-C7C4846385C9}" destId="{8161BB76-1FD0-42C0-A036-43C10A874061}" srcOrd="1" destOrd="0" parTransId="{D9594684-91B7-42C8-B317-72D0E01AED36}" sibTransId="{9395AB4A-2818-48F6-8318-BD4C53739EB6}"/>
    <dgm:cxn modelId="{15EB4471-8BB6-44F0-AAAA-E7B3F5361F69}" srcId="{C65531A8-8DFF-4AD9-8F35-C7C4846385C9}" destId="{0F163A13-5CF1-449F-8CDC-FCAD2AF54C5E}" srcOrd="0" destOrd="0" parTransId="{2B08FD52-E999-4EA1-B1C4-7504EBEB18BD}" sibTransId="{C9AC332A-4F08-443A-B8A7-5618CD0BCF4B}"/>
    <dgm:cxn modelId="{9D27CD55-B192-4801-9435-299289726408}" type="presOf" srcId="{0F163A13-5CF1-449F-8CDC-FCAD2AF54C5E}" destId="{59D17B7B-8F48-4E23-AAFD-37C24742DF28}" srcOrd="0" destOrd="0" presId="urn:microsoft.com/office/officeart/2005/8/layout/hierarchy1"/>
    <dgm:cxn modelId="{D6C753D3-88A5-4D29-942E-7E9BB1D8A784}" type="presOf" srcId="{C65531A8-8DFF-4AD9-8F35-C7C4846385C9}" destId="{F99CA385-AA57-4795-A8A8-5F572A720CDF}" srcOrd="0" destOrd="0" presId="urn:microsoft.com/office/officeart/2005/8/layout/hierarchy1"/>
    <dgm:cxn modelId="{16440511-8058-4421-8D1D-8E6035B46581}" type="presParOf" srcId="{F99CA385-AA57-4795-A8A8-5F572A720CDF}" destId="{F79253C8-10EA-4697-B95C-A3B986BB2E4A}" srcOrd="0" destOrd="0" presId="urn:microsoft.com/office/officeart/2005/8/layout/hierarchy1"/>
    <dgm:cxn modelId="{5485B711-A2A7-4A81-BAB9-17D26803CF85}" type="presParOf" srcId="{F79253C8-10EA-4697-B95C-A3B986BB2E4A}" destId="{9843E7C0-523C-436C-B1B7-507EC30DE9BD}" srcOrd="0" destOrd="0" presId="urn:microsoft.com/office/officeart/2005/8/layout/hierarchy1"/>
    <dgm:cxn modelId="{FDFFF9E1-DA4D-4A94-99CF-1D9D9CC493E3}" type="presParOf" srcId="{9843E7C0-523C-436C-B1B7-507EC30DE9BD}" destId="{B4367357-6B6D-4156-86FF-EF3BC3E8F9F1}" srcOrd="0" destOrd="0" presId="urn:microsoft.com/office/officeart/2005/8/layout/hierarchy1"/>
    <dgm:cxn modelId="{616461D7-5CB6-4C39-8730-7039B7DF40B6}" type="presParOf" srcId="{9843E7C0-523C-436C-B1B7-507EC30DE9BD}" destId="{59D17B7B-8F48-4E23-AAFD-37C24742DF28}" srcOrd="1" destOrd="0" presId="urn:microsoft.com/office/officeart/2005/8/layout/hierarchy1"/>
    <dgm:cxn modelId="{4F4E6419-150F-4289-B1A1-1F32C3749975}" type="presParOf" srcId="{F79253C8-10EA-4697-B95C-A3B986BB2E4A}" destId="{E7CEC829-4EE8-463E-9EDC-013D50A35999}" srcOrd="1" destOrd="0" presId="urn:microsoft.com/office/officeart/2005/8/layout/hierarchy1"/>
    <dgm:cxn modelId="{2A3B9D8B-A8C6-4B4D-8080-D25463BC80AA}" type="presParOf" srcId="{F99CA385-AA57-4795-A8A8-5F572A720CDF}" destId="{FBD641FB-7E91-461D-A012-BC8DC6A96742}" srcOrd="1" destOrd="0" presId="urn:microsoft.com/office/officeart/2005/8/layout/hierarchy1"/>
    <dgm:cxn modelId="{AFFC9C89-B13E-442B-BA18-6992018DE77A}" type="presParOf" srcId="{FBD641FB-7E91-461D-A012-BC8DC6A96742}" destId="{D3629CBB-98BF-4D48-A0FE-5BEB01C40EFB}" srcOrd="0" destOrd="0" presId="urn:microsoft.com/office/officeart/2005/8/layout/hierarchy1"/>
    <dgm:cxn modelId="{01ED87A6-6409-4DB5-9220-E5B37E322522}" type="presParOf" srcId="{D3629CBB-98BF-4D48-A0FE-5BEB01C40EFB}" destId="{07808679-770F-4FC6-B942-4E66CB3CBC9C}" srcOrd="0" destOrd="0" presId="urn:microsoft.com/office/officeart/2005/8/layout/hierarchy1"/>
    <dgm:cxn modelId="{E670BFDA-3788-4A47-BC48-5B6A1EC0E1F8}" type="presParOf" srcId="{D3629CBB-98BF-4D48-A0FE-5BEB01C40EFB}" destId="{EAA264B2-B271-47DB-9C54-A03ABF2983F5}" srcOrd="1" destOrd="0" presId="urn:microsoft.com/office/officeart/2005/8/layout/hierarchy1"/>
    <dgm:cxn modelId="{D5C6612F-611B-4478-B6A1-C07AF354EB04}" type="presParOf" srcId="{FBD641FB-7E91-461D-A012-BC8DC6A96742}" destId="{E90F36E5-C58C-42F0-B257-EC8872347ADD}" srcOrd="1" destOrd="0" presId="urn:microsoft.com/office/officeart/2005/8/layout/hierarchy1"/>
    <dgm:cxn modelId="{9340891D-6C71-48E4-9B91-80A4D7228EA7}" type="presParOf" srcId="{F99CA385-AA57-4795-A8A8-5F572A720CDF}" destId="{F8DF02A7-5E5B-41FB-88BC-18DDAB9F766C}" srcOrd="2" destOrd="0" presId="urn:microsoft.com/office/officeart/2005/8/layout/hierarchy1"/>
    <dgm:cxn modelId="{F19F1524-F4C1-477C-AF3A-C285D8BCAE88}" type="presParOf" srcId="{F8DF02A7-5E5B-41FB-88BC-18DDAB9F766C}" destId="{2047BB10-8549-4A02-AF55-E3E7FEC7D44F}" srcOrd="0" destOrd="0" presId="urn:microsoft.com/office/officeart/2005/8/layout/hierarchy1"/>
    <dgm:cxn modelId="{34F64AE6-CC5C-4684-BD20-0C4F2723278E}" type="presParOf" srcId="{2047BB10-8549-4A02-AF55-E3E7FEC7D44F}" destId="{8D581BA5-0E70-4254-9957-60F104EA619D}" srcOrd="0" destOrd="0" presId="urn:microsoft.com/office/officeart/2005/8/layout/hierarchy1"/>
    <dgm:cxn modelId="{48CD5ACA-89BA-4AAB-816B-F428C46D57B1}" type="presParOf" srcId="{2047BB10-8549-4A02-AF55-E3E7FEC7D44F}" destId="{0DBC60B2-0DD2-4274-BC28-951A03786855}" srcOrd="1" destOrd="0" presId="urn:microsoft.com/office/officeart/2005/8/layout/hierarchy1"/>
    <dgm:cxn modelId="{127E6E37-006A-45F9-8511-BC3386D1F2AF}" type="presParOf" srcId="{F8DF02A7-5E5B-41FB-88BC-18DDAB9F766C}" destId="{10F2295D-A996-4110-AA5E-70EB287B23E1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A6E7CDF-9D1E-4550-980A-69FBB03681EC}">
      <dsp:nvSpPr>
        <dsp:cNvPr id="0" name=""/>
        <dsp:cNvSpPr/>
      </dsp:nvSpPr>
      <dsp:spPr>
        <a:xfrm>
          <a:off x="0" y="210022"/>
          <a:ext cx="6666833" cy="1622278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Different curve shapes can yield the same t₅₀.</a:t>
          </a:r>
        </a:p>
      </dsp:txBody>
      <dsp:txXfrm>
        <a:off x="79193" y="289215"/>
        <a:ext cx="6508447" cy="1463892"/>
      </dsp:txXfrm>
    </dsp:sp>
    <dsp:sp modelId="{B6844AA4-3289-4E44-8770-3C49B6CE8790}">
      <dsp:nvSpPr>
        <dsp:cNvPr id="0" name=""/>
        <dsp:cNvSpPr/>
      </dsp:nvSpPr>
      <dsp:spPr>
        <a:xfrm>
          <a:off x="0" y="1915820"/>
          <a:ext cx="6666833" cy="1622278"/>
        </a:xfrm>
        <a:prstGeom prst="roundRect">
          <a:avLst/>
        </a:prstGeom>
        <a:gradFill rotWithShape="0">
          <a:gsLst>
            <a:gs pos="0">
              <a:schemeClr val="accent2">
                <a:hueOff val="3221807"/>
                <a:satOff val="-9246"/>
                <a:lumOff val="-1480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3221807"/>
                <a:satOff val="-9246"/>
                <a:lumOff val="-1480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3221807"/>
                <a:satOff val="-9246"/>
                <a:lumOff val="-1480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Subjects may share identical t₅₀ values but differ in early retention, which has important clinical implications.</a:t>
          </a:r>
        </a:p>
      </dsp:txBody>
      <dsp:txXfrm>
        <a:off x="79193" y="1995013"/>
        <a:ext cx="6508447" cy="1463892"/>
      </dsp:txXfrm>
    </dsp:sp>
    <dsp:sp modelId="{A7F23320-0B17-496F-BF1D-94CB9CDDF915}">
      <dsp:nvSpPr>
        <dsp:cNvPr id="0" name=""/>
        <dsp:cNvSpPr/>
      </dsp:nvSpPr>
      <dsp:spPr>
        <a:xfrm>
          <a:off x="0" y="3621619"/>
          <a:ext cx="6666833" cy="1622278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Half-life assumes exponential decay and does not account for the lag phase.</a:t>
          </a:r>
        </a:p>
      </dsp:txBody>
      <dsp:txXfrm>
        <a:off x="79193" y="3700812"/>
        <a:ext cx="6508447" cy="146389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3C190A1-4F04-4E1B-A827-F693828D1F93}">
      <dsp:nvSpPr>
        <dsp:cNvPr id="0" name=""/>
        <dsp:cNvSpPr/>
      </dsp:nvSpPr>
      <dsp:spPr>
        <a:xfrm>
          <a:off x="1574063" y="429883"/>
          <a:ext cx="1944000" cy="1944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3492D2C-9756-47C5-A6E0-2E38ED030949}">
      <dsp:nvSpPr>
        <dsp:cNvPr id="0" name=""/>
        <dsp:cNvSpPr/>
      </dsp:nvSpPr>
      <dsp:spPr>
        <a:xfrm>
          <a:off x="386063" y="2844026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Time at Steepest decline (most negative derivate)</a:t>
          </a:r>
        </a:p>
      </dsp:txBody>
      <dsp:txXfrm>
        <a:off x="386063" y="2844026"/>
        <a:ext cx="4320000" cy="720000"/>
      </dsp:txXfrm>
    </dsp:sp>
    <dsp:sp modelId="{E000C54A-2767-4DA7-9085-7F517D7F9C99}">
      <dsp:nvSpPr>
        <dsp:cNvPr id="0" name=""/>
        <dsp:cNvSpPr/>
      </dsp:nvSpPr>
      <dsp:spPr>
        <a:xfrm>
          <a:off x="6650063" y="429883"/>
          <a:ext cx="1944000" cy="1944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EA314E9-0A24-44E4-91AA-20E385756053}">
      <dsp:nvSpPr>
        <dsp:cNvPr id="0" name=""/>
        <dsp:cNvSpPr/>
      </dsp:nvSpPr>
      <dsp:spPr>
        <a:xfrm>
          <a:off x="5462063" y="2844026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Area under the curve (AUC)</a:t>
          </a:r>
        </a:p>
      </dsp:txBody>
      <dsp:txXfrm>
        <a:off x="5462063" y="2844026"/>
        <a:ext cx="4320000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367357-6B6D-4156-86FF-EF3BC3E8F9F1}">
      <dsp:nvSpPr>
        <dsp:cNvPr id="0" name=""/>
        <dsp:cNvSpPr/>
      </dsp:nvSpPr>
      <dsp:spPr>
        <a:xfrm>
          <a:off x="0" y="524133"/>
          <a:ext cx="2918936" cy="185352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D17B7B-8F48-4E23-AAFD-37C24742DF28}">
      <dsp:nvSpPr>
        <dsp:cNvPr id="0" name=""/>
        <dsp:cNvSpPr/>
      </dsp:nvSpPr>
      <dsp:spPr>
        <a:xfrm>
          <a:off x="324326" y="832243"/>
          <a:ext cx="2918936" cy="185352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/>
            <a:t>Fasted gastric emptying</a:t>
          </a:r>
          <a:r>
            <a:rPr lang="en-US" sz="1400" kern="1200"/>
            <a:t> is well described by an exponential (or log-linear) model with a half-life of ~15.7 minutes.</a:t>
          </a:r>
        </a:p>
      </dsp:txBody>
      <dsp:txXfrm>
        <a:off x="378614" y="886531"/>
        <a:ext cx="2810360" cy="1744948"/>
      </dsp:txXfrm>
    </dsp:sp>
    <dsp:sp modelId="{07808679-770F-4FC6-B942-4E66CB3CBC9C}">
      <dsp:nvSpPr>
        <dsp:cNvPr id="0" name=""/>
        <dsp:cNvSpPr/>
      </dsp:nvSpPr>
      <dsp:spPr>
        <a:xfrm>
          <a:off x="3567588" y="524133"/>
          <a:ext cx="2918936" cy="185352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A264B2-B271-47DB-9C54-A03ABF2983F5}">
      <dsp:nvSpPr>
        <dsp:cNvPr id="0" name=""/>
        <dsp:cNvSpPr/>
      </dsp:nvSpPr>
      <dsp:spPr>
        <a:xfrm>
          <a:off x="3891915" y="832243"/>
          <a:ext cx="2918936" cy="185352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/>
            <a:t>Fed gastric emptying</a:t>
          </a:r>
          <a:r>
            <a:rPr lang="en-US" sz="1400" kern="1200"/>
            <a:t> requires a Weibull model due to the initial lag phase; half-life (~30.2 minutes) is insufficient to describe its dynamics.</a:t>
          </a:r>
        </a:p>
      </dsp:txBody>
      <dsp:txXfrm>
        <a:off x="3946203" y="886531"/>
        <a:ext cx="2810360" cy="1744948"/>
      </dsp:txXfrm>
    </dsp:sp>
    <dsp:sp modelId="{8D581BA5-0E70-4254-9957-60F104EA619D}">
      <dsp:nvSpPr>
        <dsp:cNvPr id="0" name=""/>
        <dsp:cNvSpPr/>
      </dsp:nvSpPr>
      <dsp:spPr>
        <a:xfrm>
          <a:off x="7135177" y="524133"/>
          <a:ext cx="2918936" cy="185352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DBC60B2-0DD2-4274-BC28-951A03786855}">
      <dsp:nvSpPr>
        <dsp:cNvPr id="0" name=""/>
        <dsp:cNvSpPr/>
      </dsp:nvSpPr>
      <dsp:spPr>
        <a:xfrm>
          <a:off x="7459503" y="832243"/>
          <a:ext cx="2918936" cy="185352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/>
            <a:t>Half-life is not always informative</a:t>
          </a:r>
          <a:r>
            <a:rPr lang="en-US" sz="1400" kern="1200"/>
            <a:t> in the fed state. Alternative secondary parameters such as </a:t>
          </a:r>
          <a:r>
            <a:rPr lang="en-US" sz="1400" i="1" kern="1200"/>
            <a:t>T-lag25</a:t>
          </a:r>
          <a:r>
            <a:rPr lang="en-US" sz="1400" kern="1200"/>
            <a:t> and </a:t>
          </a:r>
          <a:r>
            <a:rPr lang="en-US" sz="1400" i="1" kern="1200"/>
            <a:t>time at steepest decline, AUC</a:t>
          </a:r>
          <a:r>
            <a:rPr lang="en-US" sz="1400" kern="1200"/>
            <a:t> provide a more accurate representation of gastric emptying dynamics.</a:t>
          </a:r>
        </a:p>
      </dsp:txBody>
      <dsp:txXfrm>
        <a:off x="7513791" y="886531"/>
        <a:ext cx="2810360" cy="17449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B9385959-AAC5-DA69-B20C-0096ED9F7B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9C635654-ABA3-E599-A12D-3E51E60D2E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v-SE"/>
              <a:t>Klicka här för att ändra mall för underrubrikformat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B69C0FD1-30F4-56E3-2188-66101A1F80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295251-038B-47DF-AB2A-CF693BFB5DCE}" type="datetimeFigureOut">
              <a:rPr lang="sv-SE" smtClean="0"/>
              <a:t>2025-10-09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323D0AD3-F301-93DF-FBDC-5F4224007F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6D9F17F4-293A-9ED2-9297-AAC01957E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76B32-9D8A-4F78-B091-71DF6E6F795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3026575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69BF36C3-5A4A-723D-6241-6D5DCBAEE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ECE08203-5383-CEEB-91A0-63EE180D06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E41DA628-26E1-CEA1-45AE-05D574BC8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295251-038B-47DF-AB2A-CF693BFB5DCE}" type="datetimeFigureOut">
              <a:rPr lang="sv-SE" smtClean="0"/>
              <a:t>2025-10-09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03633B83-FEB7-A0EA-0914-FE06E5BAF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FDDE0E50-AB03-760A-7A00-18E495A30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76B32-9D8A-4F78-B091-71DF6E6F795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873569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46D0D446-CBF8-13F2-9753-FB2D52068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D7D1C07C-C170-CADE-128D-A6F9370BCE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EE7C957-3B5B-B6C4-8985-AFD5B0141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295251-038B-47DF-AB2A-CF693BFB5DCE}" type="datetimeFigureOut">
              <a:rPr lang="sv-SE" smtClean="0"/>
              <a:t>2025-10-09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7EB37C4F-0155-9F55-17AB-D78AD9C431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0ABC3865-ABEF-2C4E-24AB-48EFF3848F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76B32-9D8A-4F78-B091-71DF6E6F795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609051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1FF6C25A-F44A-A3E1-E171-B7703204E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35B967E2-C41F-1BC9-C94C-A8094E6776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942E99CE-AA26-B16C-CBCF-DA964B5A14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078CD4FB-A5AF-43B6-0088-24DA2DC3F2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295251-038B-47DF-AB2A-CF693BFB5DCE}" type="datetimeFigureOut">
              <a:rPr lang="sv-SE" smtClean="0"/>
              <a:t>2025-10-09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C57BB6CE-C07E-FD34-03E4-1716C8959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>
            <a:extLst>
              <a:ext uri="{FF2B5EF4-FFF2-40B4-BE49-F238E27FC236}">
                <a16:creationId xmlns:a16="http://schemas.microsoft.com/office/drawing/2014/main" id="{40D22C0F-8BE8-9798-5E9B-ADF7182F2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76B32-9D8A-4F78-B091-71DF6E6F795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4450244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5E6595BF-1103-7436-4A66-735474687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7E4EE56F-CC4C-D60D-8ADD-3335DCF4AE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EAB15DA7-2D48-EDA2-7262-D34F3B6F7A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9DFAACF1-84D6-FBC2-FE55-73E08F4588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6" name="Platshållare för innehåll 5">
            <a:extLst>
              <a:ext uri="{FF2B5EF4-FFF2-40B4-BE49-F238E27FC236}">
                <a16:creationId xmlns:a16="http://schemas.microsoft.com/office/drawing/2014/main" id="{330ACAD8-EED9-EE95-8729-AAB53E61AF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7" name="Platshållare för datum 6">
            <a:extLst>
              <a:ext uri="{FF2B5EF4-FFF2-40B4-BE49-F238E27FC236}">
                <a16:creationId xmlns:a16="http://schemas.microsoft.com/office/drawing/2014/main" id="{33481706-18B3-0E0F-E14F-2BA9488BF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295251-038B-47DF-AB2A-CF693BFB5DCE}" type="datetimeFigureOut">
              <a:rPr lang="sv-SE" smtClean="0"/>
              <a:t>2025-10-09</a:t>
            </a:fld>
            <a:endParaRPr lang="sv-SE"/>
          </a:p>
        </p:txBody>
      </p:sp>
      <p:sp>
        <p:nvSpPr>
          <p:cNvPr id="8" name="Platshållare för sidfot 7">
            <a:extLst>
              <a:ext uri="{FF2B5EF4-FFF2-40B4-BE49-F238E27FC236}">
                <a16:creationId xmlns:a16="http://schemas.microsoft.com/office/drawing/2014/main" id="{D60FE058-3F9C-E090-F7AA-A61999CC38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Platshållare för bildnummer 8">
            <a:extLst>
              <a:ext uri="{FF2B5EF4-FFF2-40B4-BE49-F238E27FC236}">
                <a16:creationId xmlns:a16="http://schemas.microsoft.com/office/drawing/2014/main" id="{AAE2C0B0-29C4-95BA-7263-5ED22E9E6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76B32-9D8A-4F78-B091-71DF6E6F795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7506414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28F4A615-81A8-1C3C-EBA4-2D38A19CE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4C2898F5-325A-384E-CCA1-30EE27013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295251-038B-47DF-AB2A-CF693BFB5DCE}" type="datetimeFigureOut">
              <a:rPr lang="sv-SE" smtClean="0"/>
              <a:t>2025-10-09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A6F4D317-8820-5831-1084-24344B195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E33B8E87-8D04-EC11-559E-895CD05E2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76B32-9D8A-4F78-B091-71DF6E6F795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4621907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CC41379E-537F-8BF6-8CC3-83D0AD612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295251-038B-47DF-AB2A-CF693BFB5DCE}" type="datetimeFigureOut">
              <a:rPr lang="sv-SE" smtClean="0"/>
              <a:t>2025-10-09</a:t>
            </a:fld>
            <a:endParaRPr lang="sv-SE"/>
          </a:p>
        </p:txBody>
      </p:sp>
      <p:sp>
        <p:nvSpPr>
          <p:cNvPr id="3" name="Platshållare för sidfot 2">
            <a:extLst>
              <a:ext uri="{FF2B5EF4-FFF2-40B4-BE49-F238E27FC236}">
                <a16:creationId xmlns:a16="http://schemas.microsoft.com/office/drawing/2014/main" id="{320DABF2-6B80-F4CD-0EA7-1204F2126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1FD64357-4109-2D5B-8C10-1C3B947E99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76B32-9D8A-4F78-B091-71DF6E6F795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6411864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2FBFA4DC-3102-29CC-F04F-824CA970B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91A6B46B-2780-51F4-E0A6-6D18E1D48E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D957263F-D63D-AB18-40BA-7F143A49EC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D3053317-357E-EA87-394A-D4532800F9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295251-038B-47DF-AB2A-CF693BFB5DCE}" type="datetimeFigureOut">
              <a:rPr lang="sv-SE" smtClean="0"/>
              <a:t>2025-10-09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57F215D4-04C2-263C-A3BF-1461EFF723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>
            <a:extLst>
              <a:ext uri="{FF2B5EF4-FFF2-40B4-BE49-F238E27FC236}">
                <a16:creationId xmlns:a16="http://schemas.microsoft.com/office/drawing/2014/main" id="{9EF47C7E-3B9F-5132-70C0-DD46506FA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76B32-9D8A-4F78-B091-71DF6E6F795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74448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35F6EDF9-4745-719F-45A0-147CABF4A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bild 2">
            <a:extLst>
              <a:ext uri="{FF2B5EF4-FFF2-40B4-BE49-F238E27FC236}">
                <a16:creationId xmlns:a16="http://schemas.microsoft.com/office/drawing/2014/main" id="{10631C56-9052-08F2-82FA-DC997E8EAE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F4497259-F3E0-C7D6-3089-7EF9ADC06B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260FDE0E-89F9-2A08-D5BE-0C2E71216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295251-038B-47DF-AB2A-CF693BFB5DCE}" type="datetimeFigureOut">
              <a:rPr lang="sv-SE" smtClean="0"/>
              <a:t>2025-10-09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900D5680-C274-3607-7574-4EA08396C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>
            <a:extLst>
              <a:ext uri="{FF2B5EF4-FFF2-40B4-BE49-F238E27FC236}">
                <a16:creationId xmlns:a16="http://schemas.microsoft.com/office/drawing/2014/main" id="{8B880C47-F74D-71D4-6316-A4446CFCE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76B32-9D8A-4F78-B091-71DF6E6F795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982928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CDB09E5F-6124-04DF-A385-6ECD38A4D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lodrät text 2">
            <a:extLst>
              <a:ext uri="{FF2B5EF4-FFF2-40B4-BE49-F238E27FC236}">
                <a16:creationId xmlns:a16="http://schemas.microsoft.com/office/drawing/2014/main" id="{818B3320-B994-E603-BED9-A092366865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48AD1ADF-54AC-3255-6CA7-D6BD907040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295251-038B-47DF-AB2A-CF693BFB5DCE}" type="datetimeFigureOut">
              <a:rPr lang="sv-SE" smtClean="0"/>
              <a:t>2025-10-09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9B1F7190-ED53-26EA-4E78-4EC9EE750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20312C95-3665-6D21-6EA7-D16A790CE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76B32-9D8A-4F78-B091-71DF6E6F795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003725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ät rubrik 1">
            <a:extLst>
              <a:ext uri="{FF2B5EF4-FFF2-40B4-BE49-F238E27FC236}">
                <a16:creationId xmlns:a16="http://schemas.microsoft.com/office/drawing/2014/main" id="{DCDAB480-CCB5-0E0A-8C8C-666B12BC85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lodrät text 2">
            <a:extLst>
              <a:ext uri="{FF2B5EF4-FFF2-40B4-BE49-F238E27FC236}">
                <a16:creationId xmlns:a16="http://schemas.microsoft.com/office/drawing/2014/main" id="{6EEBB215-7030-8964-5957-3228B43319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EB16D456-DD02-8394-B834-934EC293D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295251-038B-47DF-AB2A-CF693BFB5DCE}" type="datetimeFigureOut">
              <a:rPr lang="sv-SE" smtClean="0"/>
              <a:t>2025-10-09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10F124B8-5436-23D0-91D4-D7A4521FF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843AC560-BCD2-AD3A-A1FF-07FACD5E6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76B32-9D8A-4F78-B091-71DF6E6F795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786560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53244033-E2F8-D99F-1D4A-6294EE27BC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AADFDA75-5A93-E0D9-6586-8EF0DD5062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1D769690-A218-102E-CF82-479D2DF829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295251-038B-47DF-AB2A-CF693BFB5DCE}" type="datetimeFigureOut">
              <a:rPr lang="sv-SE" smtClean="0"/>
              <a:t>2025-10-09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AF34495D-CA3B-0318-D0BE-3498DF9D38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D873B743-82EC-2342-2E70-2664D76133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976B32-9D8A-4F78-B091-71DF6E6F795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353992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E1BEB12-92AF-4445-98AD-4C7756E7C9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noProof="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522C2C-7B5C-48A7-A969-03941E5D2E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noProof="0" dirty="0">
              <a:solidFill>
                <a:schemeClr val="tx1"/>
              </a:solidFill>
            </a:endParaRPr>
          </a:p>
        </p:txBody>
      </p:sp>
      <p:sp>
        <p:nvSpPr>
          <p:cNvPr id="12" name="Freeform 13">
            <a:extLst>
              <a:ext uri="{FF2B5EF4-FFF2-40B4-BE49-F238E27FC236}">
                <a16:creationId xmlns:a16="http://schemas.microsoft.com/office/drawing/2014/main" id="{9C682A1A-5B2D-4111-BBD6-620165633E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769476" y="220196"/>
            <a:ext cx="9422524" cy="6637806"/>
          </a:xfrm>
          <a:custGeom>
            <a:avLst/>
            <a:gdLst>
              <a:gd name="connsiteX0" fmla="*/ 4929467 w 8191500"/>
              <a:gd name="connsiteY0" fmla="*/ 0 h 5770597"/>
              <a:gd name="connsiteX1" fmla="*/ 8065066 w 8191500"/>
              <a:gd name="connsiteY1" fmla="*/ 1118513 h 5770597"/>
              <a:gd name="connsiteX2" fmla="*/ 8191500 w 8191500"/>
              <a:gd name="connsiteY2" fmla="*/ 1227339 h 5770597"/>
              <a:gd name="connsiteX3" fmla="*/ 8191500 w 8191500"/>
              <a:gd name="connsiteY3" fmla="*/ 5770597 h 5770597"/>
              <a:gd name="connsiteX4" fmla="*/ 79523 w 8191500"/>
              <a:gd name="connsiteY4" fmla="*/ 5770597 h 5770597"/>
              <a:gd name="connsiteX5" fmla="*/ 56799 w 8191500"/>
              <a:gd name="connsiteY5" fmla="*/ 5644158 h 5770597"/>
              <a:gd name="connsiteX6" fmla="*/ 0 w 8191500"/>
              <a:gd name="connsiteY6" fmla="*/ 4898209 h 5770597"/>
              <a:gd name="connsiteX7" fmla="*/ 4929467 w 8191500"/>
              <a:gd name="connsiteY7" fmla="*/ 0 h 57705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191500" h="5770597">
                <a:moveTo>
                  <a:pt x="4929467" y="0"/>
                </a:moveTo>
                <a:cubicBezTo>
                  <a:pt x="6120547" y="0"/>
                  <a:pt x="7212963" y="419755"/>
                  <a:pt x="8065066" y="1118513"/>
                </a:cubicBezTo>
                <a:lnTo>
                  <a:pt x="8191500" y="1227339"/>
                </a:lnTo>
                <a:lnTo>
                  <a:pt x="8191500" y="5770597"/>
                </a:lnTo>
                <a:lnTo>
                  <a:pt x="79523" y="5770597"/>
                </a:lnTo>
                <a:lnTo>
                  <a:pt x="56799" y="5644158"/>
                </a:lnTo>
                <a:cubicBezTo>
                  <a:pt x="19398" y="5400934"/>
                  <a:pt x="0" y="5151822"/>
                  <a:pt x="0" y="4898209"/>
                </a:cubicBezTo>
                <a:cubicBezTo>
                  <a:pt x="0" y="2193003"/>
                  <a:pt x="2206998" y="0"/>
                  <a:pt x="492946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sv-SE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6EE29F2-D77F-4BD0-A20B-334D316A1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09800" y="2099696"/>
            <a:ext cx="1942241" cy="1889551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sv-SE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22D09ED2-868F-42C6-866E-F92E0CEF31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520172">
            <a:off x="1613162" y="1492572"/>
            <a:ext cx="2987899" cy="2987899"/>
          </a:xfrm>
          <a:prstGeom prst="arc">
            <a:avLst>
              <a:gd name="adj1" fmla="val 14455503"/>
              <a:gd name="adj2" fmla="val 227775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sv-SE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92E07649-2336-06C6-0CF3-3233A3E7B9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38600" y="1939159"/>
            <a:ext cx="7644627" cy="2751086"/>
          </a:xfrm>
        </p:spPr>
        <p:txBody>
          <a:bodyPr>
            <a:normAutofit/>
          </a:bodyPr>
          <a:lstStyle/>
          <a:p>
            <a:pPr algn="r"/>
            <a:r>
              <a:rPr lang="sv-SE" noProof="0" dirty="0"/>
              <a:t>Task 2 – </a:t>
            </a:r>
            <a:r>
              <a:rPr lang="sv-SE" noProof="0" dirty="0" err="1"/>
              <a:t>Seminar</a:t>
            </a:r>
            <a:r>
              <a:rPr lang="sv-SE" noProof="0" dirty="0"/>
              <a:t> 2</a:t>
            </a:r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94CDF9D9-A07F-4C0D-F9B3-1B607534EB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38600" y="4782320"/>
            <a:ext cx="7644627" cy="1329443"/>
          </a:xfrm>
        </p:spPr>
        <p:txBody>
          <a:bodyPr>
            <a:normAutofit/>
          </a:bodyPr>
          <a:lstStyle/>
          <a:p>
            <a:pPr algn="r"/>
            <a:r>
              <a:rPr lang="sv-SE" b="1" noProof="0" dirty="0"/>
              <a:t>The </a:t>
            </a:r>
            <a:r>
              <a:rPr lang="sv-SE" b="1" noProof="0" dirty="0" err="1"/>
              <a:t>Time</a:t>
            </a:r>
            <a:r>
              <a:rPr lang="sv-SE" b="1" noProof="0" dirty="0"/>
              <a:t> Dynamics </a:t>
            </a:r>
            <a:r>
              <a:rPr lang="sv-SE" b="1" noProof="0" dirty="0" err="1"/>
              <a:t>of</a:t>
            </a:r>
            <a:r>
              <a:rPr lang="sv-SE" b="1" noProof="0" dirty="0"/>
              <a:t> </a:t>
            </a:r>
            <a:r>
              <a:rPr lang="sv-SE" b="1" noProof="0" dirty="0" err="1"/>
              <a:t>Fasted</a:t>
            </a:r>
            <a:r>
              <a:rPr lang="sv-SE" b="1" noProof="0" dirty="0"/>
              <a:t> vs. Fed </a:t>
            </a:r>
            <a:r>
              <a:rPr lang="sv-SE" b="1" noProof="0" dirty="0" err="1"/>
              <a:t>Gastric</a:t>
            </a:r>
            <a:r>
              <a:rPr lang="sv-SE" b="1" noProof="0" dirty="0"/>
              <a:t> </a:t>
            </a:r>
            <a:r>
              <a:rPr lang="sv-SE" b="1" noProof="0" dirty="0" err="1"/>
              <a:t>Emptying</a:t>
            </a:r>
            <a:r>
              <a:rPr lang="sv-SE" b="1" noProof="0" dirty="0"/>
              <a:t> in Rat</a:t>
            </a:r>
            <a:endParaRPr lang="sv-SE" noProof="0" dirty="0"/>
          </a:p>
          <a:p>
            <a:pPr algn="r"/>
            <a:endParaRPr lang="sv-SE" noProof="0" dirty="0"/>
          </a:p>
        </p:txBody>
      </p:sp>
    </p:spTree>
    <p:extLst>
      <p:ext uri="{BB962C8B-B14F-4D97-AF65-F5344CB8AC3E}">
        <p14:creationId xmlns:p14="http://schemas.microsoft.com/office/powerpoint/2010/main" val="4288572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7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noProof="0" dirty="0"/>
          </a:p>
        </p:txBody>
      </p:sp>
      <p:sp>
        <p:nvSpPr>
          <p:cNvPr id="25" name="Oval 9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noProof="0" dirty="0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912AC64F-D6D5-429B-EA75-DD67008BDF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r>
              <a:rPr lang="sv-SE" sz="3100" i="1" noProof="0" dirty="0">
                <a:solidFill>
                  <a:srgbClr val="FFFFFF"/>
                </a:solidFill>
              </a:rPr>
              <a:t>Q1. </a:t>
            </a:r>
            <a:r>
              <a:rPr lang="sv-SE" sz="3100" i="1" noProof="0" dirty="0" err="1">
                <a:solidFill>
                  <a:srgbClr val="FFFFFF"/>
                </a:solidFill>
              </a:rPr>
              <a:t>Model</a:t>
            </a:r>
            <a:r>
              <a:rPr lang="sv-SE" sz="3100" i="1" noProof="0" dirty="0">
                <a:solidFill>
                  <a:srgbClr val="FFFFFF"/>
                </a:solidFill>
              </a:rPr>
              <a:t> </a:t>
            </a:r>
            <a:r>
              <a:rPr lang="sv-SE" sz="3100" i="1" noProof="0" dirty="0" err="1">
                <a:solidFill>
                  <a:srgbClr val="FFFFFF"/>
                </a:solidFill>
              </a:rPr>
              <a:t>fasted</a:t>
            </a:r>
            <a:r>
              <a:rPr lang="sv-SE" sz="3100" i="1" noProof="0" dirty="0">
                <a:solidFill>
                  <a:srgbClr val="FFFFFF"/>
                </a:solidFill>
              </a:rPr>
              <a:t> </a:t>
            </a:r>
            <a:r>
              <a:rPr lang="sv-SE" sz="3100" i="1" noProof="0" dirty="0" err="1">
                <a:solidFill>
                  <a:srgbClr val="FFFFFF"/>
                </a:solidFill>
              </a:rPr>
              <a:t>gastric</a:t>
            </a:r>
            <a:r>
              <a:rPr lang="sv-SE" sz="3100" i="1" noProof="0" dirty="0">
                <a:solidFill>
                  <a:srgbClr val="FFFFFF"/>
                </a:solidFill>
              </a:rPr>
              <a:t> </a:t>
            </a:r>
            <a:r>
              <a:rPr lang="sv-SE" sz="3100" i="1" noProof="0" dirty="0" err="1">
                <a:solidFill>
                  <a:srgbClr val="FFFFFF"/>
                </a:solidFill>
              </a:rPr>
              <a:t>emptying</a:t>
            </a:r>
            <a:r>
              <a:rPr lang="sv-SE" sz="3100" i="1" noProof="0" dirty="0">
                <a:solidFill>
                  <a:srgbClr val="FFFFFF"/>
                </a:solidFill>
              </a:rPr>
              <a:t> (</a:t>
            </a:r>
            <a:r>
              <a:rPr lang="sv-SE" sz="3100" i="1" noProof="0" dirty="0" err="1">
                <a:solidFill>
                  <a:srgbClr val="FFFFFF"/>
                </a:solidFill>
              </a:rPr>
              <a:t>GE_fasted</a:t>
            </a:r>
            <a:r>
              <a:rPr lang="sv-SE" sz="3100" i="1" noProof="0" dirty="0">
                <a:solidFill>
                  <a:srgbClr val="FFFFFF"/>
                </a:solidFill>
              </a:rPr>
              <a:t>) to </a:t>
            </a:r>
            <a:r>
              <a:rPr lang="sv-SE" sz="3100" i="1" noProof="0" dirty="0" err="1">
                <a:solidFill>
                  <a:srgbClr val="FFFFFF"/>
                </a:solidFill>
              </a:rPr>
              <a:t>determine</a:t>
            </a:r>
            <a:r>
              <a:rPr lang="sv-SE" sz="3100" i="1" noProof="0" dirty="0">
                <a:solidFill>
                  <a:srgbClr val="FFFFFF"/>
                </a:solidFill>
              </a:rPr>
              <a:t> the rate and </a:t>
            </a:r>
            <a:r>
              <a:rPr lang="sv-SE" sz="3100" i="1" noProof="0" dirty="0" err="1">
                <a:solidFill>
                  <a:srgbClr val="FFFFFF"/>
                </a:solidFill>
              </a:rPr>
              <a:t>half-life</a:t>
            </a:r>
            <a:r>
              <a:rPr lang="sv-SE" sz="3100" i="1" noProof="0" dirty="0">
                <a:solidFill>
                  <a:srgbClr val="FFFFFF"/>
                </a:solidFill>
              </a:rPr>
              <a:t> </a:t>
            </a:r>
            <a:r>
              <a:rPr lang="sv-SE" sz="3100" i="1" noProof="0" dirty="0" err="1">
                <a:solidFill>
                  <a:srgbClr val="FFFFFF"/>
                </a:solidFill>
              </a:rPr>
              <a:t>of</a:t>
            </a:r>
            <a:r>
              <a:rPr lang="sv-SE" sz="3100" i="1" noProof="0" dirty="0">
                <a:solidFill>
                  <a:srgbClr val="FFFFFF"/>
                </a:solidFill>
              </a:rPr>
              <a:t> </a:t>
            </a:r>
            <a:r>
              <a:rPr lang="sv-SE" sz="3100" i="1" noProof="0" dirty="0" err="1">
                <a:solidFill>
                  <a:srgbClr val="FFFFFF"/>
                </a:solidFill>
              </a:rPr>
              <a:t>gastric</a:t>
            </a:r>
            <a:r>
              <a:rPr lang="sv-SE" sz="3100" i="1" noProof="0" dirty="0">
                <a:solidFill>
                  <a:srgbClr val="FFFFFF"/>
                </a:solidFill>
              </a:rPr>
              <a:t> </a:t>
            </a:r>
            <a:r>
              <a:rPr lang="sv-SE" sz="3100" i="1" noProof="0" dirty="0" err="1">
                <a:solidFill>
                  <a:srgbClr val="FFFFFF"/>
                </a:solidFill>
              </a:rPr>
              <a:t>emptying</a:t>
            </a:r>
            <a:r>
              <a:rPr lang="sv-SE" sz="3100" i="1" noProof="0" dirty="0">
                <a:solidFill>
                  <a:srgbClr val="FFFFFF"/>
                </a:solidFill>
              </a:rPr>
              <a:t>.</a:t>
            </a:r>
            <a:br>
              <a:rPr lang="sv-SE" sz="3100" b="0" noProof="0" dirty="0">
                <a:solidFill>
                  <a:srgbClr val="FFFFFF"/>
                </a:solidFill>
                <a:effectLst/>
              </a:rPr>
            </a:br>
            <a:br>
              <a:rPr lang="sv-SE" sz="3100" noProof="0" dirty="0">
                <a:solidFill>
                  <a:srgbClr val="FFFFFF"/>
                </a:solidFill>
              </a:rPr>
            </a:br>
            <a:endParaRPr lang="sv-SE" sz="3100" noProof="0" dirty="0">
              <a:solidFill>
                <a:srgbClr val="FFFFFF"/>
              </a:solidFill>
            </a:endParaRPr>
          </a:p>
        </p:txBody>
      </p:sp>
      <p:sp>
        <p:nvSpPr>
          <p:cNvPr id="26" name="Arc 11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sv-SE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13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048" y="4780992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sv-SE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1A12A270-770E-3C3D-8133-647E5737FC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0153" y="1526033"/>
            <a:ext cx="5536397" cy="3935281"/>
          </a:xfrm>
        </p:spPr>
        <p:txBody>
          <a:bodyPr>
            <a:normAutofit/>
          </a:bodyPr>
          <a:lstStyle/>
          <a:p>
            <a:r>
              <a:rPr lang="en-GB" noProof="0" dirty="0"/>
              <a:t>Visualisation </a:t>
            </a:r>
          </a:p>
          <a:p>
            <a:r>
              <a:rPr lang="en-GB" noProof="0" dirty="0"/>
              <a:t>Fit appropriate model </a:t>
            </a:r>
          </a:p>
          <a:p>
            <a:r>
              <a:rPr lang="en-GB" noProof="0" dirty="0"/>
              <a:t>Analyse output</a:t>
            </a:r>
          </a:p>
          <a:p>
            <a:r>
              <a:rPr lang="en-GB" noProof="0" dirty="0"/>
              <a:t>Predict data with model </a:t>
            </a:r>
          </a:p>
          <a:p>
            <a:r>
              <a:rPr lang="en-GB" noProof="0" dirty="0"/>
              <a:t>Determine parameters </a:t>
            </a:r>
          </a:p>
          <a:p>
            <a:r>
              <a:rPr lang="en-GB" noProof="0" dirty="0"/>
              <a:t>Alternative approach? </a:t>
            </a:r>
          </a:p>
          <a:p>
            <a:r>
              <a:rPr lang="en-GB" dirty="0"/>
              <a:t>Comparing models </a:t>
            </a:r>
            <a:endParaRPr lang="en-GB" noProof="0" dirty="0"/>
          </a:p>
          <a:p>
            <a:endParaRPr lang="sv-SE" noProof="0" dirty="0"/>
          </a:p>
        </p:txBody>
      </p:sp>
    </p:spTree>
    <p:extLst>
      <p:ext uri="{BB962C8B-B14F-4D97-AF65-F5344CB8AC3E}">
        <p14:creationId xmlns:p14="http://schemas.microsoft.com/office/powerpoint/2010/main" val="32061887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3ACE1AD2-3528-F4F4-1C6C-BE86DA46B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7200"/>
            <a:ext cx="10909640" cy="13686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noProof="0"/>
              <a:t>Visualisation </a:t>
            </a:r>
          </a:p>
        </p:txBody>
      </p:sp>
      <p:sp>
        <p:nvSpPr>
          <p:cNvPr id="1035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1850683"/>
            <a:ext cx="3291840" cy="18288"/>
          </a:xfrm>
          <a:custGeom>
            <a:avLst/>
            <a:gdLst>
              <a:gd name="connsiteX0" fmla="*/ 0 w 3291840"/>
              <a:gd name="connsiteY0" fmla="*/ 0 h 18288"/>
              <a:gd name="connsiteX1" fmla="*/ 658368 w 3291840"/>
              <a:gd name="connsiteY1" fmla="*/ 0 h 18288"/>
              <a:gd name="connsiteX2" fmla="*/ 1283818 w 3291840"/>
              <a:gd name="connsiteY2" fmla="*/ 0 h 18288"/>
              <a:gd name="connsiteX3" fmla="*/ 1909267 w 3291840"/>
              <a:gd name="connsiteY3" fmla="*/ 0 h 18288"/>
              <a:gd name="connsiteX4" fmla="*/ 2633472 w 3291840"/>
              <a:gd name="connsiteY4" fmla="*/ 0 h 18288"/>
              <a:gd name="connsiteX5" fmla="*/ 3291840 w 3291840"/>
              <a:gd name="connsiteY5" fmla="*/ 0 h 18288"/>
              <a:gd name="connsiteX6" fmla="*/ 3291840 w 3291840"/>
              <a:gd name="connsiteY6" fmla="*/ 18288 h 18288"/>
              <a:gd name="connsiteX7" fmla="*/ 2633472 w 3291840"/>
              <a:gd name="connsiteY7" fmla="*/ 18288 h 18288"/>
              <a:gd name="connsiteX8" fmla="*/ 2073859 w 3291840"/>
              <a:gd name="connsiteY8" fmla="*/ 18288 h 18288"/>
              <a:gd name="connsiteX9" fmla="*/ 1448410 w 3291840"/>
              <a:gd name="connsiteY9" fmla="*/ 18288 h 18288"/>
              <a:gd name="connsiteX10" fmla="*/ 822960 w 3291840"/>
              <a:gd name="connsiteY10" fmla="*/ 18288 h 18288"/>
              <a:gd name="connsiteX11" fmla="*/ 0 w 3291840"/>
              <a:gd name="connsiteY11" fmla="*/ 18288 h 18288"/>
              <a:gd name="connsiteX12" fmla="*/ 0 w 329184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899B44A3-6A10-0387-531B-F864573BF4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20040" y="2838382"/>
            <a:ext cx="5614416" cy="3214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A6A81916-6686-F716-EB4F-80A63E76130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54496" y="3764760"/>
            <a:ext cx="5614416" cy="1361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46347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50D1D739-EDC4-4BE6-A073-9B157E1F90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57" name="Freeform: Shape 2056">
            <a:extLst>
              <a:ext uri="{FF2B5EF4-FFF2-40B4-BE49-F238E27FC236}">
                <a16:creationId xmlns:a16="http://schemas.microsoft.com/office/drawing/2014/main" id="{6CDD35A4-E546-4AF3-A8B9-AC24C5C9FA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3852070 w 12192000"/>
              <a:gd name="connsiteY1" fmla="*/ 0 h 6858000"/>
              <a:gd name="connsiteX2" fmla="*/ 3878367 w 12192000"/>
              <a:gd name="connsiteY2" fmla="*/ 23504 h 6858000"/>
              <a:gd name="connsiteX3" fmla="*/ 3885324 w 12192000"/>
              <a:gd name="connsiteY3" fmla="*/ 84795 h 6858000"/>
              <a:gd name="connsiteX4" fmla="*/ 3820400 w 12192000"/>
              <a:gd name="connsiteY4" fmla="*/ 131127 h 6858000"/>
              <a:gd name="connsiteX5" fmla="*/ 3631811 w 12192000"/>
              <a:gd name="connsiteY5" fmla="*/ 219929 h 6858000"/>
              <a:gd name="connsiteX6" fmla="*/ 4327428 w 12192000"/>
              <a:gd name="connsiteY6" fmla="*/ 351201 h 6858000"/>
              <a:gd name="connsiteX7" fmla="*/ 4080099 w 12192000"/>
              <a:gd name="connsiteY7" fmla="*/ 432279 h 6858000"/>
              <a:gd name="connsiteX8" fmla="*/ 3823492 w 12192000"/>
              <a:gd name="connsiteY8" fmla="*/ 490194 h 6858000"/>
              <a:gd name="connsiteX9" fmla="*/ 3545246 w 12192000"/>
              <a:gd name="connsiteY9" fmla="*/ 532664 h 6858000"/>
              <a:gd name="connsiteX10" fmla="*/ 3291732 w 12192000"/>
              <a:gd name="connsiteY10" fmla="*/ 617605 h 6858000"/>
              <a:gd name="connsiteX11" fmla="*/ 3953340 w 12192000"/>
              <a:gd name="connsiteY11" fmla="*/ 652353 h 6858000"/>
              <a:gd name="connsiteX12" fmla="*/ 3610170 w 12192000"/>
              <a:gd name="connsiteY12" fmla="*/ 729572 h 6858000"/>
              <a:gd name="connsiteX13" fmla="*/ 3328832 w 12192000"/>
              <a:gd name="connsiteY13" fmla="*/ 829957 h 6858000"/>
              <a:gd name="connsiteX14" fmla="*/ 3130966 w 12192000"/>
              <a:gd name="connsiteY14" fmla="*/ 876288 h 6858000"/>
              <a:gd name="connsiteX15" fmla="*/ 2920736 w 12192000"/>
              <a:gd name="connsiteY15" fmla="*/ 887872 h 6858000"/>
              <a:gd name="connsiteX16" fmla="*/ 2871269 w 12192000"/>
              <a:gd name="connsiteY16" fmla="*/ 961228 h 6858000"/>
              <a:gd name="connsiteX17" fmla="*/ 2936195 w 12192000"/>
              <a:gd name="connsiteY17" fmla="*/ 1038448 h 6858000"/>
              <a:gd name="connsiteX18" fmla="*/ 3035126 w 12192000"/>
              <a:gd name="connsiteY18" fmla="*/ 1046168 h 6858000"/>
              <a:gd name="connsiteX19" fmla="*/ 3625627 w 12192000"/>
              <a:gd name="connsiteY19" fmla="*/ 1065474 h 6858000"/>
              <a:gd name="connsiteX20" fmla="*/ 1733551 w 12192000"/>
              <a:gd name="connsiteY20" fmla="*/ 1235355 h 6858000"/>
              <a:gd name="connsiteX21" fmla="*/ 1990156 w 12192000"/>
              <a:gd name="connsiteY21" fmla="*/ 1339602 h 6858000"/>
              <a:gd name="connsiteX22" fmla="*/ 2076722 w 12192000"/>
              <a:gd name="connsiteY22" fmla="*/ 1625311 h 6858000"/>
              <a:gd name="connsiteX23" fmla="*/ 2392067 w 12192000"/>
              <a:gd name="connsiteY23" fmla="*/ 1787470 h 6858000"/>
              <a:gd name="connsiteX24" fmla="*/ 2596115 w 12192000"/>
              <a:gd name="connsiteY24" fmla="*/ 1845385 h 6858000"/>
              <a:gd name="connsiteX25" fmla="*/ 3062950 w 12192000"/>
              <a:gd name="connsiteY25" fmla="*/ 1930326 h 6858000"/>
              <a:gd name="connsiteX26" fmla="*/ 3130966 w 12192000"/>
              <a:gd name="connsiteY26" fmla="*/ 2069319 h 6858000"/>
              <a:gd name="connsiteX27" fmla="*/ 3189708 w 12192000"/>
              <a:gd name="connsiteY27" fmla="*/ 2223754 h 6858000"/>
              <a:gd name="connsiteX28" fmla="*/ 3313373 w 12192000"/>
              <a:gd name="connsiteY28" fmla="*/ 2324141 h 6858000"/>
              <a:gd name="connsiteX29" fmla="*/ 2351877 w 12192000"/>
              <a:gd name="connsiteY29" fmla="*/ 2308697 h 6858000"/>
              <a:gd name="connsiteX30" fmla="*/ 3437038 w 12192000"/>
              <a:gd name="connsiteY30" fmla="*/ 2633017 h 6858000"/>
              <a:gd name="connsiteX31" fmla="*/ 3341198 w 12192000"/>
              <a:gd name="connsiteY31" fmla="*/ 2760427 h 6858000"/>
              <a:gd name="connsiteX32" fmla="*/ 3934791 w 12192000"/>
              <a:gd name="connsiteY32" fmla="*/ 2934169 h 6858000"/>
              <a:gd name="connsiteX33" fmla="*/ 3616352 w 12192000"/>
              <a:gd name="connsiteY33" fmla="*/ 2953473 h 6858000"/>
              <a:gd name="connsiteX34" fmla="*/ 5468240 w 12192000"/>
              <a:gd name="connsiteY34" fmla="*/ 3679329 h 6858000"/>
              <a:gd name="connsiteX35" fmla="*/ 8111582 w 12192000"/>
              <a:gd name="connsiteY35" fmla="*/ 4204418 h 6858000"/>
              <a:gd name="connsiteX36" fmla="*/ 9144186 w 12192000"/>
              <a:gd name="connsiteY36" fmla="*/ 4304802 h 6858000"/>
              <a:gd name="connsiteX37" fmla="*/ 10319004 w 12192000"/>
              <a:gd name="connsiteY37" fmla="*/ 4273915 h 6858000"/>
              <a:gd name="connsiteX38" fmla="*/ 12053408 w 12192000"/>
              <a:gd name="connsiteY38" fmla="*/ 3907125 h 6858000"/>
              <a:gd name="connsiteX39" fmla="*/ 12192000 w 12192000"/>
              <a:gd name="connsiteY39" fmla="*/ 3841157 h 6858000"/>
              <a:gd name="connsiteX40" fmla="*/ 12192000 w 12192000"/>
              <a:gd name="connsiteY40" fmla="*/ 6858000 h 6858000"/>
              <a:gd name="connsiteX41" fmla="*/ 0 w 12192000"/>
              <a:gd name="connsiteY4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3852070" y="0"/>
                </a:lnTo>
                <a:lnTo>
                  <a:pt x="3878367" y="23504"/>
                </a:lnTo>
                <a:cubicBezTo>
                  <a:pt x="3887642" y="39430"/>
                  <a:pt x="3891507" y="59700"/>
                  <a:pt x="3885324" y="84795"/>
                </a:cubicBezTo>
                <a:cubicBezTo>
                  <a:pt x="3876049" y="123406"/>
                  <a:pt x="3845133" y="123406"/>
                  <a:pt x="3820400" y="131127"/>
                </a:cubicBezTo>
                <a:cubicBezTo>
                  <a:pt x="3764751" y="154292"/>
                  <a:pt x="3696735" y="138849"/>
                  <a:pt x="3631811" y="219929"/>
                </a:cubicBezTo>
                <a:cubicBezTo>
                  <a:pt x="3879141" y="262399"/>
                  <a:pt x="4117198" y="181318"/>
                  <a:pt x="4327428" y="351201"/>
                </a:cubicBezTo>
                <a:cubicBezTo>
                  <a:pt x="4250138" y="436142"/>
                  <a:pt x="4163572" y="416836"/>
                  <a:pt x="4080099" y="432279"/>
                </a:cubicBezTo>
                <a:cubicBezTo>
                  <a:pt x="3993533" y="447725"/>
                  <a:pt x="3910058" y="474751"/>
                  <a:pt x="3823492" y="490194"/>
                </a:cubicBezTo>
                <a:cubicBezTo>
                  <a:pt x="3730743" y="509498"/>
                  <a:pt x="3637993" y="513360"/>
                  <a:pt x="3545246" y="532664"/>
                </a:cubicBezTo>
                <a:cubicBezTo>
                  <a:pt x="3467954" y="548109"/>
                  <a:pt x="3384480" y="521081"/>
                  <a:pt x="3291732" y="617605"/>
                </a:cubicBezTo>
                <a:cubicBezTo>
                  <a:pt x="3520513" y="687103"/>
                  <a:pt x="3727651" y="582857"/>
                  <a:pt x="3953340" y="652353"/>
                </a:cubicBezTo>
                <a:cubicBezTo>
                  <a:pt x="3820400" y="714129"/>
                  <a:pt x="3712194" y="694824"/>
                  <a:pt x="3610170" y="729572"/>
                </a:cubicBezTo>
                <a:cubicBezTo>
                  <a:pt x="3517420" y="764322"/>
                  <a:pt x="3406122" y="725712"/>
                  <a:pt x="3328832" y="829957"/>
                </a:cubicBezTo>
                <a:cubicBezTo>
                  <a:pt x="3270090" y="911035"/>
                  <a:pt x="3208258" y="922618"/>
                  <a:pt x="3130966" y="876288"/>
                </a:cubicBezTo>
                <a:cubicBezTo>
                  <a:pt x="3062950" y="833818"/>
                  <a:pt x="2988752" y="845400"/>
                  <a:pt x="2920736" y="887872"/>
                </a:cubicBezTo>
                <a:cubicBezTo>
                  <a:pt x="2896004" y="903315"/>
                  <a:pt x="2871269" y="922618"/>
                  <a:pt x="2871269" y="961228"/>
                </a:cubicBezTo>
                <a:cubicBezTo>
                  <a:pt x="2871269" y="1015283"/>
                  <a:pt x="2902186" y="1030726"/>
                  <a:pt x="2936195" y="1038448"/>
                </a:cubicBezTo>
                <a:cubicBezTo>
                  <a:pt x="2967111" y="1046168"/>
                  <a:pt x="3004210" y="1053891"/>
                  <a:pt x="3035126" y="1046168"/>
                </a:cubicBezTo>
                <a:cubicBezTo>
                  <a:pt x="3232990" y="1003700"/>
                  <a:pt x="3427764" y="1073194"/>
                  <a:pt x="3625627" y="1065474"/>
                </a:cubicBezTo>
                <a:cubicBezTo>
                  <a:pt x="3004210" y="1231494"/>
                  <a:pt x="2376610" y="1177441"/>
                  <a:pt x="1733551" y="1235355"/>
                </a:cubicBezTo>
                <a:cubicBezTo>
                  <a:pt x="1817025" y="1351183"/>
                  <a:pt x="1925232" y="1254661"/>
                  <a:pt x="1990156" y="1339602"/>
                </a:cubicBezTo>
                <a:cubicBezTo>
                  <a:pt x="1928323" y="1517205"/>
                  <a:pt x="1953057" y="1613728"/>
                  <a:pt x="2076722" y="1625311"/>
                </a:cubicBezTo>
                <a:cubicBezTo>
                  <a:pt x="2197295" y="1636894"/>
                  <a:pt x="2327143" y="1575118"/>
                  <a:pt x="2392067" y="1787470"/>
                </a:cubicBezTo>
                <a:cubicBezTo>
                  <a:pt x="2410617" y="1853106"/>
                  <a:pt x="2525008" y="1833802"/>
                  <a:pt x="2596115" y="1845385"/>
                </a:cubicBezTo>
                <a:cubicBezTo>
                  <a:pt x="2750696" y="1872411"/>
                  <a:pt x="2914554" y="1845385"/>
                  <a:pt x="3062950" y="1930326"/>
                </a:cubicBezTo>
                <a:cubicBezTo>
                  <a:pt x="3121692" y="1961213"/>
                  <a:pt x="3161883" y="1984378"/>
                  <a:pt x="3130966" y="2069319"/>
                </a:cubicBezTo>
                <a:cubicBezTo>
                  <a:pt x="3100050" y="2158121"/>
                  <a:pt x="3140242" y="2189008"/>
                  <a:pt x="3189708" y="2223754"/>
                </a:cubicBezTo>
                <a:cubicBezTo>
                  <a:pt x="3226808" y="2250784"/>
                  <a:pt x="3282457" y="2243060"/>
                  <a:pt x="3313373" y="2324141"/>
                </a:cubicBezTo>
                <a:cubicBezTo>
                  <a:pt x="2988752" y="2312558"/>
                  <a:pt x="2673405" y="2246923"/>
                  <a:pt x="2351877" y="2308697"/>
                </a:cubicBezTo>
                <a:cubicBezTo>
                  <a:pt x="2704323" y="2463134"/>
                  <a:pt x="3090776" y="2455412"/>
                  <a:pt x="3437038" y="2633017"/>
                </a:cubicBezTo>
                <a:cubicBezTo>
                  <a:pt x="3424671" y="2694791"/>
                  <a:pt x="3344289" y="2667764"/>
                  <a:pt x="3341198" y="2760427"/>
                </a:cubicBezTo>
                <a:cubicBezTo>
                  <a:pt x="3523603" y="2856951"/>
                  <a:pt x="3743110" y="2791314"/>
                  <a:pt x="3934791" y="2934169"/>
                </a:cubicBezTo>
                <a:cubicBezTo>
                  <a:pt x="3823492" y="2999805"/>
                  <a:pt x="3721469" y="2891699"/>
                  <a:pt x="3616352" y="2953473"/>
                </a:cubicBezTo>
                <a:cubicBezTo>
                  <a:pt x="3650361" y="3046136"/>
                  <a:pt x="5189993" y="3617555"/>
                  <a:pt x="5468240" y="3679329"/>
                </a:cubicBezTo>
                <a:cubicBezTo>
                  <a:pt x="6034007" y="3806740"/>
                  <a:pt x="7663296" y="4131059"/>
                  <a:pt x="8111582" y="4204418"/>
                </a:cubicBezTo>
                <a:cubicBezTo>
                  <a:pt x="8457844" y="4258470"/>
                  <a:pt x="8801016" y="4300942"/>
                  <a:pt x="9144186" y="4304802"/>
                </a:cubicBezTo>
                <a:cubicBezTo>
                  <a:pt x="9536822" y="4308663"/>
                  <a:pt x="9926368" y="4289359"/>
                  <a:pt x="10319004" y="4273915"/>
                </a:cubicBezTo>
                <a:cubicBezTo>
                  <a:pt x="10906415" y="4250750"/>
                  <a:pt x="11484549" y="4158087"/>
                  <a:pt x="12053408" y="3907125"/>
                </a:cubicBezTo>
                <a:lnTo>
                  <a:pt x="12192000" y="3841157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2BEF7A9C-7335-E393-9654-0E35EC63B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563422"/>
            <a:ext cx="7268147" cy="175437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Fit appropriate model </a:t>
            </a:r>
          </a:p>
        </p:txBody>
      </p:sp>
      <p:sp>
        <p:nvSpPr>
          <p:cNvPr id="4" name="textruta 3">
            <a:extLst>
              <a:ext uri="{FF2B5EF4-FFF2-40B4-BE49-F238E27FC236}">
                <a16:creationId xmlns:a16="http://schemas.microsoft.com/office/drawing/2014/main" id="{86484C84-3AA3-051A-6492-EBADBCC795CD}"/>
              </a:ext>
            </a:extLst>
          </p:cNvPr>
          <p:cNvSpPr txBox="1"/>
          <p:nvPr/>
        </p:nvSpPr>
        <p:spPr>
          <a:xfrm>
            <a:off x="838199" y="5384878"/>
            <a:ext cx="7315200" cy="7754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 assume the data to follow an exponetnial trend 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08675AB-9B94-92E1-45AF-401751574D5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324475" y="1540932"/>
            <a:ext cx="6153150" cy="784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497664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84" name="Rectangle 3078">
            <a:extLst>
              <a:ext uri="{FF2B5EF4-FFF2-40B4-BE49-F238E27FC236}">
                <a16:creationId xmlns:a16="http://schemas.microsoft.com/office/drawing/2014/main" id="{FFB60E8C-7224-44A4-87A0-46A1711DD2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46E1CE03-1555-BB2D-0A53-E3F7A7B7A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5528" y="386930"/>
            <a:ext cx="10141799" cy="1300554"/>
          </a:xfrm>
        </p:spPr>
        <p:txBody>
          <a:bodyPr vert="horz" lIns="91440" tIns="45720" rIns="91440" bIns="45720" rtlCol="0" anchor="b">
            <a:normAutofit/>
          </a:bodyPr>
          <a:lstStyle/>
          <a:p>
            <a:br>
              <a:rPr lang="en-US" sz="2600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2600" kern="1200" noProof="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Analyse</a:t>
            </a:r>
            <a:r>
              <a:rPr lang="en-US" sz="2600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output</a:t>
            </a:r>
            <a:br>
              <a:rPr lang="en-US" sz="2600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endParaRPr lang="en-US" sz="2600" kern="1200" noProof="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086" name="Rectangle 3080">
            <a:extLst>
              <a:ext uri="{FF2B5EF4-FFF2-40B4-BE49-F238E27FC236}">
                <a16:creationId xmlns:a16="http://schemas.microsoft.com/office/drawing/2014/main" id="{5DA32751-37A2-45C0-BE94-63D375E27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3" name="Rectangle 3082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CB23BCAD-EA4C-DECE-4527-B7E92DF7136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35295" y="3145771"/>
            <a:ext cx="5150277" cy="24721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ruta 3">
            <a:extLst>
              <a:ext uri="{FF2B5EF4-FFF2-40B4-BE49-F238E27FC236}">
                <a16:creationId xmlns:a16="http://schemas.microsoft.com/office/drawing/2014/main" id="{2B5D51BF-24CF-4716-FE70-375903CDD75F}"/>
              </a:ext>
            </a:extLst>
          </p:cNvPr>
          <p:cNvSpPr txBox="1"/>
          <p:nvPr/>
        </p:nvSpPr>
        <p:spPr>
          <a:xfrm>
            <a:off x="6406429" y="2599509"/>
            <a:ext cx="4530898" cy="36394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The model summary shows:</a:t>
            </a:r>
            <a:endParaRPr lang="en-US" sz="2000" b="0" dirty="0">
              <a:effectLst/>
            </a:endParaRPr>
          </a:p>
          <a:p>
            <a:pPr indent="-228600" fontAlgn="base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Low standard errors</a:t>
            </a:r>
          </a:p>
          <a:p>
            <a:pPr indent="-228600" fontAlgn="base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High t-values</a:t>
            </a:r>
          </a:p>
          <a:p>
            <a:pPr indent="-228600" fontAlgn="base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Statistically significant p-values</a:t>
            </a:r>
          </a:p>
          <a:p>
            <a:pPr indent="-228600" fontAlgn="base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Low residuals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3085" name="Rectangle 3084">
            <a:extLst>
              <a:ext uri="{FF2B5EF4-FFF2-40B4-BE49-F238E27FC236}">
                <a16:creationId xmlns:a16="http://schemas.microsoft.com/office/drawing/2014/main" id="{5A55FBCD-CD42-40F5-8A1B-3203F9CAEE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1515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3" name="Rectangle 4102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05" name="Rectangle 4104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5C41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09B2919A-47CB-0B0D-BD87-D6B7B26EED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br>
              <a:rPr lang="en-US" sz="2600" kern="1200" noProof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2600" kern="1200" noProof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Analyse output</a:t>
            </a:r>
            <a:br>
              <a:rPr lang="en-US" sz="2600" kern="1200" noProof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endParaRPr lang="en-US" sz="2600" kern="1200" noProof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931B3FCE-B1AC-0C1C-138D-E25943A33DA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038600" y="1342728"/>
            <a:ext cx="7188199" cy="4169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328243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29" name="Rectangle 5128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0589F70D-7397-EB29-F021-2E59A258D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7200"/>
            <a:ext cx="10909640" cy="13686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noProof="0"/>
              <a:t>Predict data with model </a:t>
            </a:r>
            <a:endParaRPr lang="en-US" sz="6600"/>
          </a:p>
        </p:txBody>
      </p:sp>
      <p:sp>
        <p:nvSpPr>
          <p:cNvPr id="5131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1850683"/>
            <a:ext cx="3291840" cy="18288"/>
          </a:xfrm>
          <a:custGeom>
            <a:avLst/>
            <a:gdLst>
              <a:gd name="connsiteX0" fmla="*/ 0 w 3291840"/>
              <a:gd name="connsiteY0" fmla="*/ 0 h 18288"/>
              <a:gd name="connsiteX1" fmla="*/ 658368 w 3291840"/>
              <a:gd name="connsiteY1" fmla="*/ 0 h 18288"/>
              <a:gd name="connsiteX2" fmla="*/ 1283818 w 3291840"/>
              <a:gd name="connsiteY2" fmla="*/ 0 h 18288"/>
              <a:gd name="connsiteX3" fmla="*/ 1909267 w 3291840"/>
              <a:gd name="connsiteY3" fmla="*/ 0 h 18288"/>
              <a:gd name="connsiteX4" fmla="*/ 2633472 w 3291840"/>
              <a:gd name="connsiteY4" fmla="*/ 0 h 18288"/>
              <a:gd name="connsiteX5" fmla="*/ 3291840 w 3291840"/>
              <a:gd name="connsiteY5" fmla="*/ 0 h 18288"/>
              <a:gd name="connsiteX6" fmla="*/ 3291840 w 3291840"/>
              <a:gd name="connsiteY6" fmla="*/ 18288 h 18288"/>
              <a:gd name="connsiteX7" fmla="*/ 2633472 w 3291840"/>
              <a:gd name="connsiteY7" fmla="*/ 18288 h 18288"/>
              <a:gd name="connsiteX8" fmla="*/ 2073859 w 3291840"/>
              <a:gd name="connsiteY8" fmla="*/ 18288 h 18288"/>
              <a:gd name="connsiteX9" fmla="*/ 1448410 w 3291840"/>
              <a:gd name="connsiteY9" fmla="*/ 18288 h 18288"/>
              <a:gd name="connsiteX10" fmla="*/ 822960 w 3291840"/>
              <a:gd name="connsiteY10" fmla="*/ 18288 h 18288"/>
              <a:gd name="connsiteX11" fmla="*/ 0 w 3291840"/>
              <a:gd name="connsiteY11" fmla="*/ 18288 h 18288"/>
              <a:gd name="connsiteX12" fmla="*/ 0 w 329184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83045321-7675-D98B-3C94-73FF2F9C33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20040" y="2838382"/>
            <a:ext cx="5614416" cy="3214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6AA9E572-B1DC-DD40-5AF0-CAF2416A25E6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54496" y="4059517"/>
            <a:ext cx="5614416" cy="771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71378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51" name="Rectangle 6150">
            <a:extLst>
              <a:ext uri="{FF2B5EF4-FFF2-40B4-BE49-F238E27FC236}">
                <a16:creationId xmlns:a16="http://schemas.microsoft.com/office/drawing/2014/main" id="{8B3A2D1A-45FC-4F95-B150-1C13EF2F6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53" name="Freeform: Shape 6152">
            <a:extLst>
              <a:ext uri="{FF2B5EF4-FFF2-40B4-BE49-F238E27FC236}">
                <a16:creationId xmlns:a16="http://schemas.microsoft.com/office/drawing/2014/main" id="{39C3C864-C625-4883-B868-9A4C470F4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291" y="3296652"/>
            <a:ext cx="12202113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C634DC64-C22A-8B9A-B701-B6CA881B5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05833"/>
            <a:ext cx="4215063" cy="2398713"/>
          </a:xfrm>
        </p:spPr>
        <p:txBody>
          <a:bodyPr>
            <a:normAutofit/>
          </a:bodyPr>
          <a:lstStyle/>
          <a:p>
            <a:r>
              <a:rPr lang="sv-SE" noProof="0" dirty="0" err="1"/>
              <a:t>Determine</a:t>
            </a:r>
            <a:r>
              <a:rPr lang="sv-SE" noProof="0" dirty="0"/>
              <a:t> parameters </a:t>
            </a:r>
            <a:endParaRPr lang="sv-SE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C56889B8-0FDB-1BAD-F072-56EED7D19A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158955" y="800568"/>
            <a:ext cx="9875259" cy="19750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287D62E7-2531-EFF5-5349-9D2B4DCB1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30779" y="3884452"/>
            <a:ext cx="5723021" cy="2398713"/>
          </a:xfrm>
        </p:spPr>
        <p:txBody>
          <a:bodyPr anchor="ctr">
            <a:normAutofit/>
          </a:bodyPr>
          <a:lstStyle/>
          <a:p>
            <a:r>
              <a:rPr lang="en-US" sz="2000"/>
              <a:t>From this model we determine:</a:t>
            </a:r>
            <a:endParaRPr lang="en-US" sz="2000" b="0">
              <a:effectLst/>
            </a:endParaRPr>
          </a:p>
          <a:p>
            <a:pPr fontAlgn="base"/>
            <a:r>
              <a:rPr lang="en-US" sz="2000" b="1"/>
              <a:t>Rate constant (k):</a:t>
            </a:r>
            <a:r>
              <a:rPr lang="en-US" sz="2000"/>
              <a:t> 0.0044</a:t>
            </a:r>
          </a:p>
          <a:p>
            <a:r>
              <a:rPr lang="en-US" sz="2000" b="1"/>
              <a:t>Half-life (t₁/₂):</a:t>
            </a:r>
            <a:r>
              <a:rPr lang="en-US" sz="2000"/>
              <a:t> 15.7</a:t>
            </a:r>
            <a:endParaRPr lang="sv-SE" sz="2000"/>
          </a:p>
        </p:txBody>
      </p:sp>
    </p:spTree>
    <p:extLst>
      <p:ext uri="{BB962C8B-B14F-4D97-AF65-F5344CB8AC3E}">
        <p14:creationId xmlns:p14="http://schemas.microsoft.com/office/powerpoint/2010/main" val="2236285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75" name="Rectangle 7174">
            <a:extLst>
              <a:ext uri="{FF2B5EF4-FFF2-40B4-BE49-F238E27FC236}">
                <a16:creationId xmlns:a16="http://schemas.microsoft.com/office/drawing/2014/main" id="{76906711-0AFB-47DD-A4B6-4E94B38B8C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77" name="Freeform: Shape 7176">
            <a:extLst>
              <a:ext uri="{FF2B5EF4-FFF2-40B4-BE49-F238E27FC236}">
                <a16:creationId xmlns:a16="http://schemas.microsoft.com/office/drawing/2014/main" id="{AA91F649-894C-41F6-A21D-3D1AC558E9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877832"/>
          </a:xfrm>
          <a:custGeom>
            <a:avLst/>
            <a:gdLst>
              <a:gd name="connsiteX0" fmla="*/ 6789701 w 12192000"/>
              <a:gd name="connsiteY0" fmla="*/ 2809623 h 2877832"/>
              <a:gd name="connsiteX1" fmla="*/ 6788702 w 12192000"/>
              <a:gd name="connsiteY1" fmla="*/ 2809701 h 2877832"/>
              <a:gd name="connsiteX2" fmla="*/ 6788476 w 12192000"/>
              <a:gd name="connsiteY2" fmla="*/ 2810235 h 2877832"/>
              <a:gd name="connsiteX3" fmla="*/ 0 w 12192000"/>
              <a:gd name="connsiteY3" fmla="*/ 0 h 2877832"/>
              <a:gd name="connsiteX4" fmla="*/ 12192000 w 12192000"/>
              <a:gd name="connsiteY4" fmla="*/ 0 h 2877832"/>
              <a:gd name="connsiteX5" fmla="*/ 12192000 w 12192000"/>
              <a:gd name="connsiteY5" fmla="*/ 1915388 h 2877832"/>
              <a:gd name="connsiteX6" fmla="*/ 12061096 w 12192000"/>
              <a:gd name="connsiteY6" fmla="*/ 1954428 h 2877832"/>
              <a:gd name="connsiteX7" fmla="*/ 11676800 w 12192000"/>
              <a:gd name="connsiteY7" fmla="*/ 2058003 h 2877832"/>
              <a:gd name="connsiteX8" fmla="*/ 10425355 w 12192000"/>
              <a:gd name="connsiteY8" fmla="*/ 2341542 h 2877832"/>
              <a:gd name="connsiteX9" fmla="*/ 9424022 w 12192000"/>
              <a:gd name="connsiteY9" fmla="*/ 2516704 h 2877832"/>
              <a:gd name="connsiteX10" fmla="*/ 8458419 w 12192000"/>
              <a:gd name="connsiteY10" fmla="*/ 2650405 h 2877832"/>
              <a:gd name="connsiteX11" fmla="*/ 7715970 w 12192000"/>
              <a:gd name="connsiteY11" fmla="*/ 2730352 h 2877832"/>
              <a:gd name="connsiteX12" fmla="*/ 6951716 w 12192000"/>
              <a:gd name="connsiteY12" fmla="*/ 2796132 h 2877832"/>
              <a:gd name="connsiteX13" fmla="*/ 6936303 w 12192000"/>
              <a:gd name="connsiteY13" fmla="*/ 2798203 h 2877832"/>
              <a:gd name="connsiteX14" fmla="*/ 6790448 w 12192000"/>
              <a:gd name="connsiteY14" fmla="*/ 2809564 h 2877832"/>
              <a:gd name="connsiteX15" fmla="*/ 6799941 w 12192000"/>
              <a:gd name="connsiteY15" fmla="*/ 2811384 h 2877832"/>
              <a:gd name="connsiteX16" fmla="*/ 6835432 w 12192000"/>
              <a:gd name="connsiteY16" fmla="*/ 2809677 h 2877832"/>
              <a:gd name="connsiteX17" fmla="*/ 6884003 w 12192000"/>
              <a:gd name="connsiteY17" fmla="*/ 2806699 h 2877832"/>
              <a:gd name="connsiteX18" fmla="*/ 7578771 w 12192000"/>
              <a:gd name="connsiteY18" fmla="*/ 2774172 h 2877832"/>
              <a:gd name="connsiteX19" fmla="*/ 8623845 w 12192000"/>
              <a:gd name="connsiteY19" fmla="*/ 2687275 h 2877832"/>
              <a:gd name="connsiteX20" fmla="*/ 9479970 w 12192000"/>
              <a:gd name="connsiteY20" fmla="*/ 2583369 h 2877832"/>
              <a:gd name="connsiteX21" fmla="*/ 10629308 w 12192000"/>
              <a:gd name="connsiteY21" fmla="*/ 2389212 h 2877832"/>
              <a:gd name="connsiteX22" fmla="*/ 11998498 w 12192000"/>
              <a:gd name="connsiteY22" fmla="*/ 2063218 h 2877832"/>
              <a:gd name="connsiteX23" fmla="*/ 12192000 w 12192000"/>
              <a:gd name="connsiteY23" fmla="*/ 2006219 h 2877832"/>
              <a:gd name="connsiteX24" fmla="*/ 12192000 w 12192000"/>
              <a:gd name="connsiteY24" fmla="*/ 2060956 h 2877832"/>
              <a:gd name="connsiteX25" fmla="*/ 11829257 w 12192000"/>
              <a:gd name="connsiteY25" fmla="*/ 2166255 h 2877832"/>
              <a:gd name="connsiteX26" fmla="*/ 10939183 w 12192000"/>
              <a:gd name="connsiteY26" fmla="*/ 2380770 h 2877832"/>
              <a:gd name="connsiteX27" fmla="*/ 9985530 w 12192000"/>
              <a:gd name="connsiteY27" fmla="*/ 2560775 h 2877832"/>
              <a:gd name="connsiteX28" fmla="*/ 9186882 w 12192000"/>
              <a:gd name="connsiteY28" fmla="*/ 2676722 h 2877832"/>
              <a:gd name="connsiteX29" fmla="*/ 8578198 w 12192000"/>
              <a:gd name="connsiteY29" fmla="*/ 2746241 h 2877832"/>
              <a:gd name="connsiteX30" fmla="*/ 7864358 w 12192000"/>
              <a:gd name="connsiteY30" fmla="*/ 2807692 h 2877832"/>
              <a:gd name="connsiteX31" fmla="*/ 6935502 w 12192000"/>
              <a:gd name="connsiteY31" fmla="*/ 2859086 h 2877832"/>
              <a:gd name="connsiteX32" fmla="*/ 6477750 w 12192000"/>
              <a:gd name="connsiteY32" fmla="*/ 2872989 h 2877832"/>
              <a:gd name="connsiteX33" fmla="*/ 6362294 w 12192000"/>
              <a:gd name="connsiteY33" fmla="*/ 2877832 h 2877832"/>
              <a:gd name="connsiteX34" fmla="*/ 6057129 w 12192000"/>
              <a:gd name="connsiteY34" fmla="*/ 2877832 h 2877832"/>
              <a:gd name="connsiteX35" fmla="*/ 5977784 w 12192000"/>
              <a:gd name="connsiteY35" fmla="*/ 2873238 h 2877832"/>
              <a:gd name="connsiteX36" fmla="*/ 5265087 w 12192000"/>
              <a:gd name="connsiteY36" fmla="*/ 2836989 h 2877832"/>
              <a:gd name="connsiteX37" fmla="*/ 4346277 w 12192000"/>
              <a:gd name="connsiteY37" fmla="*/ 2774919 h 2877832"/>
              <a:gd name="connsiteX38" fmla="*/ 3373045 w 12192000"/>
              <a:gd name="connsiteY38" fmla="*/ 2676350 h 2877832"/>
              <a:gd name="connsiteX39" fmla="*/ 2362173 w 12192000"/>
              <a:gd name="connsiteY39" fmla="*/ 2557423 h 2877832"/>
              <a:gd name="connsiteX40" fmla="*/ 1233178 w 12192000"/>
              <a:gd name="connsiteY40" fmla="*/ 2384247 h 2877832"/>
              <a:gd name="connsiteX41" fmla="*/ 68500 w 12192000"/>
              <a:gd name="connsiteY41" fmla="*/ 2144540 h 2877832"/>
              <a:gd name="connsiteX42" fmla="*/ 0 w 12192000"/>
              <a:gd name="connsiteY42" fmla="*/ 2127185 h 2877832"/>
              <a:gd name="connsiteX43" fmla="*/ 0 w 12192000"/>
              <a:gd name="connsiteY43" fmla="*/ 2070696 h 2877832"/>
              <a:gd name="connsiteX44" fmla="*/ 72441 w 12192000"/>
              <a:gd name="connsiteY44" fmla="*/ 2089473 h 2877832"/>
              <a:gd name="connsiteX45" fmla="*/ 600716 w 12192000"/>
              <a:gd name="connsiteY45" fmla="*/ 2207843 h 2877832"/>
              <a:gd name="connsiteX46" fmla="*/ 1769512 w 12192000"/>
              <a:gd name="connsiteY46" fmla="*/ 2418011 h 2877832"/>
              <a:gd name="connsiteX47" fmla="*/ 2613554 w 12192000"/>
              <a:gd name="connsiteY47" fmla="*/ 2534953 h 2877832"/>
              <a:gd name="connsiteX48" fmla="*/ 2581134 w 12192000"/>
              <a:gd name="connsiteY48" fmla="*/ 2525022 h 2877832"/>
              <a:gd name="connsiteX49" fmla="*/ 1112635 w 12192000"/>
              <a:gd name="connsiteY49" fmla="*/ 2192325 h 2877832"/>
              <a:gd name="connsiteX50" fmla="*/ 420412 w 12192000"/>
              <a:gd name="connsiteY50" fmla="*/ 1992892 h 2877832"/>
              <a:gd name="connsiteX51" fmla="*/ 0 w 12192000"/>
              <a:gd name="connsiteY51" fmla="*/ 1853975 h 2877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000" h="2877832">
                <a:moveTo>
                  <a:pt x="6789701" y="2809623"/>
                </a:moveTo>
                <a:lnTo>
                  <a:pt x="6788702" y="2809701"/>
                </a:lnTo>
                <a:lnTo>
                  <a:pt x="6788476" y="2810235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915388"/>
                </a:lnTo>
                <a:lnTo>
                  <a:pt x="12061096" y="1954428"/>
                </a:lnTo>
                <a:cubicBezTo>
                  <a:pt x="11933500" y="1990642"/>
                  <a:pt x="11805390" y="2025171"/>
                  <a:pt x="11676800" y="2058003"/>
                </a:cubicBezTo>
                <a:cubicBezTo>
                  <a:pt x="11262789" y="2165510"/>
                  <a:pt x="10845343" y="2259112"/>
                  <a:pt x="10425355" y="2341542"/>
                </a:cubicBezTo>
                <a:cubicBezTo>
                  <a:pt x="10092810" y="2406753"/>
                  <a:pt x="9759033" y="2465150"/>
                  <a:pt x="9424022" y="2516704"/>
                </a:cubicBezTo>
                <a:cubicBezTo>
                  <a:pt x="9102997" y="2566361"/>
                  <a:pt x="8781133" y="2610928"/>
                  <a:pt x="8458419" y="2650405"/>
                </a:cubicBezTo>
                <a:cubicBezTo>
                  <a:pt x="8211360" y="2680571"/>
                  <a:pt x="7963792" y="2706144"/>
                  <a:pt x="7715970" y="2730352"/>
                </a:cubicBezTo>
                <a:lnTo>
                  <a:pt x="6951716" y="2796132"/>
                </a:lnTo>
                <a:lnTo>
                  <a:pt x="6936303" y="2798203"/>
                </a:lnTo>
                <a:lnTo>
                  <a:pt x="6790448" y="2809564"/>
                </a:lnTo>
                <a:lnTo>
                  <a:pt x="6799941" y="2811384"/>
                </a:lnTo>
                <a:cubicBezTo>
                  <a:pt x="6811623" y="2811850"/>
                  <a:pt x="6823734" y="2809677"/>
                  <a:pt x="6835432" y="2809677"/>
                </a:cubicBezTo>
                <a:cubicBezTo>
                  <a:pt x="6851580" y="2809677"/>
                  <a:pt x="6867729" y="2807070"/>
                  <a:pt x="6884003" y="2806699"/>
                </a:cubicBezTo>
                <a:cubicBezTo>
                  <a:pt x="7115805" y="2801237"/>
                  <a:pt x="7347351" y="2789070"/>
                  <a:pt x="7578771" y="2774172"/>
                </a:cubicBezTo>
                <a:cubicBezTo>
                  <a:pt x="7927552" y="2751704"/>
                  <a:pt x="8276080" y="2723525"/>
                  <a:pt x="8623845" y="2687275"/>
                </a:cubicBezTo>
                <a:cubicBezTo>
                  <a:pt x="8909939" y="2657977"/>
                  <a:pt x="9195310" y="2623342"/>
                  <a:pt x="9479970" y="2583369"/>
                </a:cubicBezTo>
                <a:cubicBezTo>
                  <a:pt x="9864901" y="2528995"/>
                  <a:pt x="10248014" y="2464281"/>
                  <a:pt x="10629308" y="2389212"/>
                </a:cubicBezTo>
                <a:cubicBezTo>
                  <a:pt x="11090114" y="2298092"/>
                  <a:pt x="11546975" y="2190586"/>
                  <a:pt x="11998498" y="2063218"/>
                </a:cubicBezTo>
                <a:lnTo>
                  <a:pt x="12192000" y="2006219"/>
                </a:lnTo>
                <a:lnTo>
                  <a:pt x="12192000" y="2060956"/>
                </a:lnTo>
                <a:lnTo>
                  <a:pt x="11829257" y="2166255"/>
                </a:lnTo>
                <a:cubicBezTo>
                  <a:pt x="11534769" y="2245952"/>
                  <a:pt x="11238120" y="2316838"/>
                  <a:pt x="10939183" y="2380770"/>
                </a:cubicBezTo>
                <a:cubicBezTo>
                  <a:pt x="10622824" y="2448552"/>
                  <a:pt x="10304941" y="2508549"/>
                  <a:pt x="9985530" y="2560775"/>
                </a:cubicBezTo>
                <a:cubicBezTo>
                  <a:pt x="9720036" y="2604224"/>
                  <a:pt x="9453814" y="2642869"/>
                  <a:pt x="9186882" y="2676722"/>
                </a:cubicBezTo>
                <a:cubicBezTo>
                  <a:pt x="8984197" y="2702296"/>
                  <a:pt x="8781514" y="2726379"/>
                  <a:pt x="8578198" y="2746241"/>
                </a:cubicBezTo>
                <a:cubicBezTo>
                  <a:pt x="8340547" y="2768961"/>
                  <a:pt x="8102644" y="2790436"/>
                  <a:pt x="7864358" y="2807692"/>
                </a:cubicBezTo>
                <a:cubicBezTo>
                  <a:pt x="7554994" y="2830036"/>
                  <a:pt x="7245502" y="2847914"/>
                  <a:pt x="6935502" y="2859086"/>
                </a:cubicBezTo>
                <a:cubicBezTo>
                  <a:pt x="6782917" y="2864549"/>
                  <a:pt x="6630334" y="2868397"/>
                  <a:pt x="6477750" y="2872989"/>
                </a:cubicBezTo>
                <a:cubicBezTo>
                  <a:pt x="6439195" y="2870905"/>
                  <a:pt x="6400529" y="2872530"/>
                  <a:pt x="6362294" y="2877832"/>
                </a:cubicBezTo>
                <a:lnTo>
                  <a:pt x="6057129" y="2877832"/>
                </a:lnTo>
                <a:lnTo>
                  <a:pt x="5977784" y="2873238"/>
                </a:lnTo>
                <a:cubicBezTo>
                  <a:pt x="5740261" y="2860825"/>
                  <a:pt x="5502739" y="2847046"/>
                  <a:pt x="5265087" y="2836989"/>
                </a:cubicBezTo>
                <a:cubicBezTo>
                  <a:pt x="4958267" y="2824573"/>
                  <a:pt x="4651826" y="2804093"/>
                  <a:pt x="4346277" y="2774919"/>
                </a:cubicBezTo>
                <a:cubicBezTo>
                  <a:pt x="4021654" y="2744007"/>
                  <a:pt x="3697795" y="2709372"/>
                  <a:pt x="3373045" y="2676350"/>
                </a:cubicBezTo>
                <a:cubicBezTo>
                  <a:pt x="3035412" y="2642088"/>
                  <a:pt x="2698456" y="2602449"/>
                  <a:pt x="2362173" y="2557423"/>
                </a:cubicBezTo>
                <a:cubicBezTo>
                  <a:pt x="1984692" y="2507270"/>
                  <a:pt x="1608364" y="2449544"/>
                  <a:pt x="1233178" y="2384247"/>
                </a:cubicBezTo>
                <a:cubicBezTo>
                  <a:pt x="842181" y="2315534"/>
                  <a:pt x="453758" y="2237046"/>
                  <a:pt x="68500" y="2144540"/>
                </a:cubicBezTo>
                <a:lnTo>
                  <a:pt x="0" y="2127185"/>
                </a:lnTo>
                <a:lnTo>
                  <a:pt x="0" y="2070696"/>
                </a:lnTo>
                <a:lnTo>
                  <a:pt x="72441" y="2089473"/>
                </a:lnTo>
                <a:cubicBezTo>
                  <a:pt x="247961" y="2131651"/>
                  <a:pt x="424164" y="2170911"/>
                  <a:pt x="600716" y="2207843"/>
                </a:cubicBezTo>
                <a:cubicBezTo>
                  <a:pt x="988279" y="2288657"/>
                  <a:pt x="1378133" y="2357555"/>
                  <a:pt x="1769512" y="2418011"/>
                </a:cubicBezTo>
                <a:cubicBezTo>
                  <a:pt x="2052426" y="2461587"/>
                  <a:pt x="2335725" y="2501684"/>
                  <a:pt x="2613554" y="2534953"/>
                </a:cubicBezTo>
                <a:cubicBezTo>
                  <a:pt x="2605544" y="2537560"/>
                  <a:pt x="2594611" y="2527504"/>
                  <a:pt x="2581134" y="2525022"/>
                </a:cubicBezTo>
                <a:cubicBezTo>
                  <a:pt x="2087178" y="2433070"/>
                  <a:pt x="1597684" y="2322177"/>
                  <a:pt x="1112635" y="2192325"/>
                </a:cubicBezTo>
                <a:cubicBezTo>
                  <a:pt x="880453" y="2130254"/>
                  <a:pt x="649713" y="2063776"/>
                  <a:pt x="420412" y="1992892"/>
                </a:cubicBezTo>
                <a:lnTo>
                  <a:pt x="0" y="185397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CFC8C553-AF07-085D-6F31-46B8F9E690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390525"/>
            <a:ext cx="10909640" cy="151030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 noProof="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Alternative approach? </a:t>
            </a:r>
            <a:endParaRPr lang="en-US" sz="6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5F33387A-8E61-7855-AC96-070D8B3464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95601" y="1900826"/>
            <a:ext cx="6396204" cy="66254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en-US" sz="24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Log-transforming the data</a:t>
            </a:r>
          </a:p>
        </p:txBody>
      </p:sp>
      <p:sp>
        <p:nvSpPr>
          <p:cNvPr id="7179" name="sketch line">
            <a:extLst>
              <a:ext uri="{FF2B5EF4-FFF2-40B4-BE49-F238E27FC236}">
                <a16:creationId xmlns:a16="http://schemas.microsoft.com/office/drawing/2014/main" id="{56037404-66BD-46B5-9323-1B53131967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4206" y="1753266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563791 w 4243589"/>
              <a:gd name="connsiteY1" fmla="*/ 0 h 18288"/>
              <a:gd name="connsiteX2" fmla="*/ 1042710 w 4243589"/>
              <a:gd name="connsiteY2" fmla="*/ 0 h 18288"/>
              <a:gd name="connsiteX3" fmla="*/ 1564066 w 4243589"/>
              <a:gd name="connsiteY3" fmla="*/ 0 h 18288"/>
              <a:gd name="connsiteX4" fmla="*/ 2212729 w 4243589"/>
              <a:gd name="connsiteY4" fmla="*/ 0 h 18288"/>
              <a:gd name="connsiteX5" fmla="*/ 2776520 w 4243589"/>
              <a:gd name="connsiteY5" fmla="*/ 0 h 18288"/>
              <a:gd name="connsiteX6" fmla="*/ 3297875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637362 w 4243589"/>
              <a:gd name="connsiteY9" fmla="*/ 18288 h 18288"/>
              <a:gd name="connsiteX10" fmla="*/ 3116007 w 4243589"/>
              <a:gd name="connsiteY10" fmla="*/ 18288 h 18288"/>
              <a:gd name="connsiteX11" fmla="*/ 2424908 w 4243589"/>
              <a:gd name="connsiteY11" fmla="*/ 18288 h 18288"/>
              <a:gd name="connsiteX12" fmla="*/ 1861117 w 4243589"/>
              <a:gd name="connsiteY12" fmla="*/ 18288 h 18288"/>
              <a:gd name="connsiteX13" fmla="*/ 1382198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rgbClr val="FFFFFF"/>
          </a:solidFill>
          <a:ln w="38100" cap="rnd">
            <a:solidFill>
              <a:srgbClr val="FFFFFF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BE78A4BD-7CD2-A03B-2E6A-BAA5147EFE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35177" y="3906462"/>
            <a:ext cx="10118598" cy="1340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111152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199" name="Rectangle 8198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111E81C1-FCEB-BC93-969E-77A6AA5F8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sv-SE" sz="5400" noProof="0" dirty="0"/>
              <a:t>Alternative approach? </a:t>
            </a:r>
            <a:endParaRPr lang="sv-SE" sz="5400" dirty="0"/>
          </a:p>
        </p:txBody>
      </p:sp>
      <p:sp>
        <p:nvSpPr>
          <p:cNvPr id="8201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5A9D6D12-6DC0-93F6-882B-96A1BC2AA8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r>
              <a:rPr lang="sv-SE" sz="2200" noProof="0" dirty="0" err="1"/>
              <a:t>Visualisation</a:t>
            </a:r>
            <a:r>
              <a:rPr lang="sv-SE" sz="2200" noProof="0" dirty="0"/>
              <a:t> -&gt; </a:t>
            </a:r>
            <a:r>
              <a:rPr lang="sv-SE" sz="2200" noProof="0" dirty="0" err="1"/>
              <a:t>linear</a:t>
            </a:r>
            <a:endParaRPr lang="sv-SE" sz="2200" noProof="0" dirty="0"/>
          </a:p>
          <a:p>
            <a:endParaRPr lang="sv-SE" sz="2200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D177EF45-5C94-C964-11B8-D22AF609DD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654296" y="1539107"/>
            <a:ext cx="6903720" cy="37797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664261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234" name="Rectangle 922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B746FD41-803C-11E6-8F1F-6DA368ED6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sv-SE" sz="5000" dirty="0"/>
              <a:t>Alternative approach? </a:t>
            </a:r>
          </a:p>
        </p:txBody>
      </p:sp>
      <p:sp>
        <p:nvSpPr>
          <p:cNvPr id="9235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0ABE9D30-6BE5-00CF-BECE-5BEF5CE34A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r>
              <a:rPr lang="sv-SE" sz="2200" dirty="0"/>
              <a:t>Fit a </a:t>
            </a:r>
            <a:r>
              <a:rPr lang="sv-SE" sz="2200" dirty="0" err="1"/>
              <a:t>linear</a:t>
            </a:r>
            <a:r>
              <a:rPr lang="sv-SE" sz="2200" dirty="0"/>
              <a:t> </a:t>
            </a:r>
            <a:r>
              <a:rPr lang="sv-SE" sz="2200" dirty="0" err="1"/>
              <a:t>model</a:t>
            </a:r>
            <a:r>
              <a:rPr lang="sv-SE" sz="2200" dirty="0"/>
              <a:t> -&gt;</a:t>
            </a:r>
          </a:p>
          <a:p>
            <a:r>
              <a:rPr lang="en-US" sz="2200" dirty="0"/>
              <a:t>The residuals are normally distributed</a:t>
            </a:r>
          </a:p>
          <a:p>
            <a:r>
              <a:rPr lang="en-US" sz="2200" dirty="0"/>
              <a:t>Standard errors are low</a:t>
            </a:r>
          </a:p>
          <a:p>
            <a:r>
              <a:rPr lang="en-US" sz="2200" dirty="0"/>
              <a:t>R² value is close to 1. </a:t>
            </a:r>
            <a:endParaRPr lang="sv-SE" sz="2200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0C85FAC7-7573-D0F7-5FE1-440BF98435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099048" y="1777662"/>
            <a:ext cx="5458968" cy="3302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595461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247" name="Rectangle 10246">
            <a:extLst>
              <a:ext uri="{FF2B5EF4-FFF2-40B4-BE49-F238E27FC236}">
                <a16:creationId xmlns:a16="http://schemas.microsoft.com/office/drawing/2014/main" id="{50D1D739-EDC4-4BE6-A073-9B157E1F90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49" name="Freeform: Shape 10248">
            <a:extLst>
              <a:ext uri="{FF2B5EF4-FFF2-40B4-BE49-F238E27FC236}">
                <a16:creationId xmlns:a16="http://schemas.microsoft.com/office/drawing/2014/main" id="{6CDD35A4-E546-4AF3-A8B9-AC24C5C9FA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3852070 w 12192000"/>
              <a:gd name="connsiteY1" fmla="*/ 0 h 6858000"/>
              <a:gd name="connsiteX2" fmla="*/ 3878367 w 12192000"/>
              <a:gd name="connsiteY2" fmla="*/ 23504 h 6858000"/>
              <a:gd name="connsiteX3" fmla="*/ 3885324 w 12192000"/>
              <a:gd name="connsiteY3" fmla="*/ 84795 h 6858000"/>
              <a:gd name="connsiteX4" fmla="*/ 3820400 w 12192000"/>
              <a:gd name="connsiteY4" fmla="*/ 131127 h 6858000"/>
              <a:gd name="connsiteX5" fmla="*/ 3631811 w 12192000"/>
              <a:gd name="connsiteY5" fmla="*/ 219929 h 6858000"/>
              <a:gd name="connsiteX6" fmla="*/ 4327428 w 12192000"/>
              <a:gd name="connsiteY6" fmla="*/ 351201 h 6858000"/>
              <a:gd name="connsiteX7" fmla="*/ 4080099 w 12192000"/>
              <a:gd name="connsiteY7" fmla="*/ 432279 h 6858000"/>
              <a:gd name="connsiteX8" fmla="*/ 3823492 w 12192000"/>
              <a:gd name="connsiteY8" fmla="*/ 490194 h 6858000"/>
              <a:gd name="connsiteX9" fmla="*/ 3545246 w 12192000"/>
              <a:gd name="connsiteY9" fmla="*/ 532664 h 6858000"/>
              <a:gd name="connsiteX10" fmla="*/ 3291732 w 12192000"/>
              <a:gd name="connsiteY10" fmla="*/ 617605 h 6858000"/>
              <a:gd name="connsiteX11" fmla="*/ 3953340 w 12192000"/>
              <a:gd name="connsiteY11" fmla="*/ 652353 h 6858000"/>
              <a:gd name="connsiteX12" fmla="*/ 3610170 w 12192000"/>
              <a:gd name="connsiteY12" fmla="*/ 729572 h 6858000"/>
              <a:gd name="connsiteX13" fmla="*/ 3328832 w 12192000"/>
              <a:gd name="connsiteY13" fmla="*/ 829957 h 6858000"/>
              <a:gd name="connsiteX14" fmla="*/ 3130966 w 12192000"/>
              <a:gd name="connsiteY14" fmla="*/ 876288 h 6858000"/>
              <a:gd name="connsiteX15" fmla="*/ 2920736 w 12192000"/>
              <a:gd name="connsiteY15" fmla="*/ 887872 h 6858000"/>
              <a:gd name="connsiteX16" fmla="*/ 2871269 w 12192000"/>
              <a:gd name="connsiteY16" fmla="*/ 961228 h 6858000"/>
              <a:gd name="connsiteX17" fmla="*/ 2936195 w 12192000"/>
              <a:gd name="connsiteY17" fmla="*/ 1038448 h 6858000"/>
              <a:gd name="connsiteX18" fmla="*/ 3035126 w 12192000"/>
              <a:gd name="connsiteY18" fmla="*/ 1046168 h 6858000"/>
              <a:gd name="connsiteX19" fmla="*/ 3625627 w 12192000"/>
              <a:gd name="connsiteY19" fmla="*/ 1065474 h 6858000"/>
              <a:gd name="connsiteX20" fmla="*/ 1733551 w 12192000"/>
              <a:gd name="connsiteY20" fmla="*/ 1235355 h 6858000"/>
              <a:gd name="connsiteX21" fmla="*/ 1990156 w 12192000"/>
              <a:gd name="connsiteY21" fmla="*/ 1339602 h 6858000"/>
              <a:gd name="connsiteX22" fmla="*/ 2076722 w 12192000"/>
              <a:gd name="connsiteY22" fmla="*/ 1625311 h 6858000"/>
              <a:gd name="connsiteX23" fmla="*/ 2392067 w 12192000"/>
              <a:gd name="connsiteY23" fmla="*/ 1787470 h 6858000"/>
              <a:gd name="connsiteX24" fmla="*/ 2596115 w 12192000"/>
              <a:gd name="connsiteY24" fmla="*/ 1845385 h 6858000"/>
              <a:gd name="connsiteX25" fmla="*/ 3062950 w 12192000"/>
              <a:gd name="connsiteY25" fmla="*/ 1930326 h 6858000"/>
              <a:gd name="connsiteX26" fmla="*/ 3130966 w 12192000"/>
              <a:gd name="connsiteY26" fmla="*/ 2069319 h 6858000"/>
              <a:gd name="connsiteX27" fmla="*/ 3189708 w 12192000"/>
              <a:gd name="connsiteY27" fmla="*/ 2223754 h 6858000"/>
              <a:gd name="connsiteX28" fmla="*/ 3313373 w 12192000"/>
              <a:gd name="connsiteY28" fmla="*/ 2324141 h 6858000"/>
              <a:gd name="connsiteX29" fmla="*/ 2351877 w 12192000"/>
              <a:gd name="connsiteY29" fmla="*/ 2308697 h 6858000"/>
              <a:gd name="connsiteX30" fmla="*/ 3437038 w 12192000"/>
              <a:gd name="connsiteY30" fmla="*/ 2633017 h 6858000"/>
              <a:gd name="connsiteX31" fmla="*/ 3341198 w 12192000"/>
              <a:gd name="connsiteY31" fmla="*/ 2760427 h 6858000"/>
              <a:gd name="connsiteX32" fmla="*/ 3934791 w 12192000"/>
              <a:gd name="connsiteY32" fmla="*/ 2934169 h 6858000"/>
              <a:gd name="connsiteX33" fmla="*/ 3616352 w 12192000"/>
              <a:gd name="connsiteY33" fmla="*/ 2953473 h 6858000"/>
              <a:gd name="connsiteX34" fmla="*/ 5468240 w 12192000"/>
              <a:gd name="connsiteY34" fmla="*/ 3679329 h 6858000"/>
              <a:gd name="connsiteX35" fmla="*/ 8111582 w 12192000"/>
              <a:gd name="connsiteY35" fmla="*/ 4204418 h 6858000"/>
              <a:gd name="connsiteX36" fmla="*/ 9144186 w 12192000"/>
              <a:gd name="connsiteY36" fmla="*/ 4304802 h 6858000"/>
              <a:gd name="connsiteX37" fmla="*/ 10319004 w 12192000"/>
              <a:gd name="connsiteY37" fmla="*/ 4273915 h 6858000"/>
              <a:gd name="connsiteX38" fmla="*/ 12053408 w 12192000"/>
              <a:gd name="connsiteY38" fmla="*/ 3907125 h 6858000"/>
              <a:gd name="connsiteX39" fmla="*/ 12192000 w 12192000"/>
              <a:gd name="connsiteY39" fmla="*/ 3841157 h 6858000"/>
              <a:gd name="connsiteX40" fmla="*/ 12192000 w 12192000"/>
              <a:gd name="connsiteY40" fmla="*/ 6858000 h 6858000"/>
              <a:gd name="connsiteX41" fmla="*/ 0 w 12192000"/>
              <a:gd name="connsiteY4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3852070" y="0"/>
                </a:lnTo>
                <a:lnTo>
                  <a:pt x="3878367" y="23504"/>
                </a:lnTo>
                <a:cubicBezTo>
                  <a:pt x="3887642" y="39430"/>
                  <a:pt x="3891507" y="59700"/>
                  <a:pt x="3885324" y="84795"/>
                </a:cubicBezTo>
                <a:cubicBezTo>
                  <a:pt x="3876049" y="123406"/>
                  <a:pt x="3845133" y="123406"/>
                  <a:pt x="3820400" y="131127"/>
                </a:cubicBezTo>
                <a:cubicBezTo>
                  <a:pt x="3764751" y="154292"/>
                  <a:pt x="3696735" y="138849"/>
                  <a:pt x="3631811" y="219929"/>
                </a:cubicBezTo>
                <a:cubicBezTo>
                  <a:pt x="3879141" y="262399"/>
                  <a:pt x="4117198" y="181318"/>
                  <a:pt x="4327428" y="351201"/>
                </a:cubicBezTo>
                <a:cubicBezTo>
                  <a:pt x="4250138" y="436142"/>
                  <a:pt x="4163572" y="416836"/>
                  <a:pt x="4080099" y="432279"/>
                </a:cubicBezTo>
                <a:cubicBezTo>
                  <a:pt x="3993533" y="447725"/>
                  <a:pt x="3910058" y="474751"/>
                  <a:pt x="3823492" y="490194"/>
                </a:cubicBezTo>
                <a:cubicBezTo>
                  <a:pt x="3730743" y="509498"/>
                  <a:pt x="3637993" y="513360"/>
                  <a:pt x="3545246" y="532664"/>
                </a:cubicBezTo>
                <a:cubicBezTo>
                  <a:pt x="3467954" y="548109"/>
                  <a:pt x="3384480" y="521081"/>
                  <a:pt x="3291732" y="617605"/>
                </a:cubicBezTo>
                <a:cubicBezTo>
                  <a:pt x="3520513" y="687103"/>
                  <a:pt x="3727651" y="582857"/>
                  <a:pt x="3953340" y="652353"/>
                </a:cubicBezTo>
                <a:cubicBezTo>
                  <a:pt x="3820400" y="714129"/>
                  <a:pt x="3712194" y="694824"/>
                  <a:pt x="3610170" y="729572"/>
                </a:cubicBezTo>
                <a:cubicBezTo>
                  <a:pt x="3517420" y="764322"/>
                  <a:pt x="3406122" y="725712"/>
                  <a:pt x="3328832" y="829957"/>
                </a:cubicBezTo>
                <a:cubicBezTo>
                  <a:pt x="3270090" y="911035"/>
                  <a:pt x="3208258" y="922618"/>
                  <a:pt x="3130966" y="876288"/>
                </a:cubicBezTo>
                <a:cubicBezTo>
                  <a:pt x="3062950" y="833818"/>
                  <a:pt x="2988752" y="845400"/>
                  <a:pt x="2920736" y="887872"/>
                </a:cubicBezTo>
                <a:cubicBezTo>
                  <a:pt x="2896004" y="903315"/>
                  <a:pt x="2871269" y="922618"/>
                  <a:pt x="2871269" y="961228"/>
                </a:cubicBezTo>
                <a:cubicBezTo>
                  <a:pt x="2871269" y="1015283"/>
                  <a:pt x="2902186" y="1030726"/>
                  <a:pt x="2936195" y="1038448"/>
                </a:cubicBezTo>
                <a:cubicBezTo>
                  <a:pt x="2967111" y="1046168"/>
                  <a:pt x="3004210" y="1053891"/>
                  <a:pt x="3035126" y="1046168"/>
                </a:cubicBezTo>
                <a:cubicBezTo>
                  <a:pt x="3232990" y="1003700"/>
                  <a:pt x="3427764" y="1073194"/>
                  <a:pt x="3625627" y="1065474"/>
                </a:cubicBezTo>
                <a:cubicBezTo>
                  <a:pt x="3004210" y="1231494"/>
                  <a:pt x="2376610" y="1177441"/>
                  <a:pt x="1733551" y="1235355"/>
                </a:cubicBezTo>
                <a:cubicBezTo>
                  <a:pt x="1817025" y="1351183"/>
                  <a:pt x="1925232" y="1254661"/>
                  <a:pt x="1990156" y="1339602"/>
                </a:cubicBezTo>
                <a:cubicBezTo>
                  <a:pt x="1928323" y="1517205"/>
                  <a:pt x="1953057" y="1613728"/>
                  <a:pt x="2076722" y="1625311"/>
                </a:cubicBezTo>
                <a:cubicBezTo>
                  <a:pt x="2197295" y="1636894"/>
                  <a:pt x="2327143" y="1575118"/>
                  <a:pt x="2392067" y="1787470"/>
                </a:cubicBezTo>
                <a:cubicBezTo>
                  <a:pt x="2410617" y="1853106"/>
                  <a:pt x="2525008" y="1833802"/>
                  <a:pt x="2596115" y="1845385"/>
                </a:cubicBezTo>
                <a:cubicBezTo>
                  <a:pt x="2750696" y="1872411"/>
                  <a:pt x="2914554" y="1845385"/>
                  <a:pt x="3062950" y="1930326"/>
                </a:cubicBezTo>
                <a:cubicBezTo>
                  <a:pt x="3121692" y="1961213"/>
                  <a:pt x="3161883" y="1984378"/>
                  <a:pt x="3130966" y="2069319"/>
                </a:cubicBezTo>
                <a:cubicBezTo>
                  <a:pt x="3100050" y="2158121"/>
                  <a:pt x="3140242" y="2189008"/>
                  <a:pt x="3189708" y="2223754"/>
                </a:cubicBezTo>
                <a:cubicBezTo>
                  <a:pt x="3226808" y="2250784"/>
                  <a:pt x="3282457" y="2243060"/>
                  <a:pt x="3313373" y="2324141"/>
                </a:cubicBezTo>
                <a:cubicBezTo>
                  <a:pt x="2988752" y="2312558"/>
                  <a:pt x="2673405" y="2246923"/>
                  <a:pt x="2351877" y="2308697"/>
                </a:cubicBezTo>
                <a:cubicBezTo>
                  <a:pt x="2704323" y="2463134"/>
                  <a:pt x="3090776" y="2455412"/>
                  <a:pt x="3437038" y="2633017"/>
                </a:cubicBezTo>
                <a:cubicBezTo>
                  <a:pt x="3424671" y="2694791"/>
                  <a:pt x="3344289" y="2667764"/>
                  <a:pt x="3341198" y="2760427"/>
                </a:cubicBezTo>
                <a:cubicBezTo>
                  <a:pt x="3523603" y="2856951"/>
                  <a:pt x="3743110" y="2791314"/>
                  <a:pt x="3934791" y="2934169"/>
                </a:cubicBezTo>
                <a:cubicBezTo>
                  <a:pt x="3823492" y="2999805"/>
                  <a:pt x="3721469" y="2891699"/>
                  <a:pt x="3616352" y="2953473"/>
                </a:cubicBezTo>
                <a:cubicBezTo>
                  <a:pt x="3650361" y="3046136"/>
                  <a:pt x="5189993" y="3617555"/>
                  <a:pt x="5468240" y="3679329"/>
                </a:cubicBezTo>
                <a:cubicBezTo>
                  <a:pt x="6034007" y="3806740"/>
                  <a:pt x="7663296" y="4131059"/>
                  <a:pt x="8111582" y="4204418"/>
                </a:cubicBezTo>
                <a:cubicBezTo>
                  <a:pt x="8457844" y="4258470"/>
                  <a:pt x="8801016" y="4300942"/>
                  <a:pt x="9144186" y="4304802"/>
                </a:cubicBezTo>
                <a:cubicBezTo>
                  <a:pt x="9536822" y="4308663"/>
                  <a:pt x="9926368" y="4289359"/>
                  <a:pt x="10319004" y="4273915"/>
                </a:cubicBezTo>
                <a:cubicBezTo>
                  <a:pt x="10906415" y="4250750"/>
                  <a:pt x="11484549" y="4158087"/>
                  <a:pt x="12053408" y="3907125"/>
                </a:cubicBezTo>
                <a:lnTo>
                  <a:pt x="12192000" y="3841157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C4705916-44C8-F035-5ADE-327365FE4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563422"/>
            <a:ext cx="7268147" cy="175437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Comparing models 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ABD71671-0A84-D2AE-B91C-EB0C2E6DBB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5384878"/>
            <a:ext cx="7315200" cy="775494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Akaike Information Criterion (AIC)</a:t>
            </a:r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4E9224A1-9B28-4372-E4C0-2D1EA35E71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324475" y="648043"/>
            <a:ext cx="6153150" cy="2570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476684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noProof="0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noProof="0" dirty="0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9C0FC2A4-7C40-0944-38C5-6EF09711D6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br>
              <a:rPr lang="sv-SE" sz="3400" b="0" noProof="0" dirty="0">
                <a:solidFill>
                  <a:srgbClr val="FFFFFF"/>
                </a:solidFill>
                <a:effectLst/>
              </a:rPr>
            </a:br>
            <a:br>
              <a:rPr lang="sv-SE" sz="3400" b="0" noProof="0" dirty="0">
                <a:solidFill>
                  <a:srgbClr val="FFFFFF"/>
                </a:solidFill>
                <a:effectLst/>
              </a:rPr>
            </a:br>
            <a:r>
              <a:rPr lang="sv-SE" sz="3400" i="1" noProof="0" dirty="0">
                <a:solidFill>
                  <a:srgbClr val="FFFFFF"/>
                </a:solidFill>
              </a:rPr>
              <a:t>Q2. </a:t>
            </a:r>
            <a:r>
              <a:rPr lang="sv-SE" sz="3400" i="1" noProof="0" dirty="0" err="1">
                <a:solidFill>
                  <a:srgbClr val="FFFFFF"/>
                </a:solidFill>
              </a:rPr>
              <a:t>Model</a:t>
            </a:r>
            <a:r>
              <a:rPr lang="sv-SE" sz="3400" i="1" noProof="0" dirty="0">
                <a:solidFill>
                  <a:srgbClr val="FFFFFF"/>
                </a:solidFill>
              </a:rPr>
              <a:t> the </a:t>
            </a:r>
            <a:r>
              <a:rPr lang="sv-SE" sz="3400" i="1" noProof="0" dirty="0" err="1">
                <a:solidFill>
                  <a:srgbClr val="FFFFFF"/>
                </a:solidFill>
              </a:rPr>
              <a:t>fed</a:t>
            </a:r>
            <a:r>
              <a:rPr lang="sv-SE" sz="3400" i="1" noProof="0" dirty="0">
                <a:solidFill>
                  <a:srgbClr val="FFFFFF"/>
                </a:solidFill>
              </a:rPr>
              <a:t> </a:t>
            </a:r>
            <a:r>
              <a:rPr lang="sv-SE" sz="3400" i="1" noProof="0" dirty="0" err="1">
                <a:solidFill>
                  <a:srgbClr val="FFFFFF"/>
                </a:solidFill>
              </a:rPr>
              <a:t>state</a:t>
            </a:r>
            <a:r>
              <a:rPr lang="sv-SE" sz="3400" i="1" noProof="0" dirty="0">
                <a:solidFill>
                  <a:srgbClr val="FFFFFF"/>
                </a:solidFill>
              </a:rPr>
              <a:t> </a:t>
            </a:r>
            <a:r>
              <a:rPr lang="sv-SE" sz="3400" i="1" noProof="0" dirty="0" err="1">
                <a:solidFill>
                  <a:srgbClr val="FFFFFF"/>
                </a:solidFill>
              </a:rPr>
              <a:t>gastric</a:t>
            </a:r>
            <a:r>
              <a:rPr lang="sv-SE" sz="3400" i="1" noProof="0" dirty="0">
                <a:solidFill>
                  <a:srgbClr val="FFFFFF"/>
                </a:solidFill>
              </a:rPr>
              <a:t> </a:t>
            </a:r>
            <a:r>
              <a:rPr lang="sv-SE" sz="3400" i="1" noProof="0" dirty="0" err="1">
                <a:solidFill>
                  <a:srgbClr val="FFFFFF"/>
                </a:solidFill>
              </a:rPr>
              <a:t>emptying</a:t>
            </a:r>
            <a:r>
              <a:rPr lang="sv-SE" sz="3400" i="1" noProof="0" dirty="0">
                <a:solidFill>
                  <a:srgbClr val="FFFFFF"/>
                </a:solidFill>
              </a:rPr>
              <a:t> </a:t>
            </a:r>
            <a:r>
              <a:rPr lang="sv-SE" sz="3400" i="1" noProof="0" dirty="0" err="1">
                <a:solidFill>
                  <a:srgbClr val="FFFFFF"/>
                </a:solidFill>
              </a:rPr>
              <a:t>profile</a:t>
            </a:r>
            <a:r>
              <a:rPr lang="sv-SE" sz="3400" i="1" noProof="0" dirty="0">
                <a:solidFill>
                  <a:srgbClr val="FFFFFF"/>
                </a:solidFill>
              </a:rPr>
              <a:t>.</a:t>
            </a:r>
            <a:br>
              <a:rPr lang="sv-SE" sz="3400" b="0" noProof="0" dirty="0">
                <a:solidFill>
                  <a:srgbClr val="FFFFFF"/>
                </a:solidFill>
                <a:effectLst/>
              </a:rPr>
            </a:br>
            <a:br>
              <a:rPr lang="sv-SE" sz="3400" noProof="0" dirty="0">
                <a:solidFill>
                  <a:srgbClr val="FFFFFF"/>
                </a:solidFill>
              </a:rPr>
            </a:br>
            <a:endParaRPr lang="sv-SE" sz="3400" noProof="0" dirty="0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sv-SE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048" y="4780992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sv-SE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CB1F78FC-94D5-D576-53CD-ABFFE79AD4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0153" y="1526033"/>
            <a:ext cx="5536397" cy="3935281"/>
          </a:xfrm>
        </p:spPr>
        <p:txBody>
          <a:bodyPr>
            <a:normAutofit/>
          </a:bodyPr>
          <a:lstStyle/>
          <a:p>
            <a:r>
              <a:rPr lang="sv-SE" noProof="0" dirty="0" err="1"/>
              <a:t>Preprocessing</a:t>
            </a:r>
            <a:r>
              <a:rPr lang="sv-SE" noProof="0" dirty="0"/>
              <a:t> </a:t>
            </a:r>
            <a:r>
              <a:rPr lang="sv-SE" noProof="0" dirty="0" err="1"/>
              <a:t>of</a:t>
            </a:r>
            <a:r>
              <a:rPr lang="sv-SE" noProof="0" dirty="0"/>
              <a:t> data</a:t>
            </a:r>
          </a:p>
          <a:p>
            <a:r>
              <a:rPr lang="sv-SE" noProof="0" dirty="0" err="1"/>
              <a:t>Visualisation</a:t>
            </a:r>
            <a:r>
              <a:rPr lang="sv-SE" noProof="0" dirty="0"/>
              <a:t> </a:t>
            </a:r>
            <a:r>
              <a:rPr lang="sv-SE" noProof="0" dirty="0" err="1"/>
              <a:t>of</a:t>
            </a:r>
            <a:r>
              <a:rPr lang="sv-SE" noProof="0" dirty="0"/>
              <a:t> data </a:t>
            </a:r>
          </a:p>
          <a:p>
            <a:r>
              <a:rPr lang="sv-SE" noProof="0" dirty="0"/>
              <a:t>Fit </a:t>
            </a:r>
            <a:r>
              <a:rPr lang="sv-SE" noProof="0" dirty="0" err="1"/>
              <a:t>appropriate</a:t>
            </a:r>
            <a:r>
              <a:rPr lang="sv-SE" noProof="0" dirty="0"/>
              <a:t> </a:t>
            </a:r>
            <a:r>
              <a:rPr lang="sv-SE" noProof="0" dirty="0" err="1"/>
              <a:t>model</a:t>
            </a:r>
            <a:endParaRPr lang="sv-SE" noProof="0" dirty="0"/>
          </a:p>
          <a:p>
            <a:r>
              <a:rPr lang="sv-SE" noProof="0" dirty="0" err="1"/>
              <a:t>Analyse</a:t>
            </a:r>
            <a:r>
              <a:rPr lang="sv-SE" noProof="0" dirty="0"/>
              <a:t> output</a:t>
            </a:r>
          </a:p>
          <a:p>
            <a:r>
              <a:rPr lang="sv-SE" noProof="0" dirty="0" err="1"/>
              <a:t>Predict</a:t>
            </a:r>
            <a:r>
              <a:rPr lang="sv-SE" noProof="0" dirty="0"/>
              <a:t> data </a:t>
            </a:r>
            <a:r>
              <a:rPr lang="sv-SE" noProof="0" dirty="0" err="1"/>
              <a:t>with</a:t>
            </a:r>
            <a:r>
              <a:rPr lang="sv-SE" noProof="0" dirty="0"/>
              <a:t> </a:t>
            </a:r>
            <a:r>
              <a:rPr lang="sv-SE" noProof="0" dirty="0" err="1"/>
              <a:t>model</a:t>
            </a:r>
            <a:r>
              <a:rPr lang="sv-SE" noProof="0" dirty="0"/>
              <a:t> </a:t>
            </a:r>
          </a:p>
          <a:p>
            <a:endParaRPr lang="sv-SE" noProof="0" dirty="0"/>
          </a:p>
          <a:p>
            <a:endParaRPr lang="sv-SE" noProof="0" dirty="0"/>
          </a:p>
        </p:txBody>
      </p:sp>
    </p:spTree>
    <p:extLst>
      <p:ext uri="{BB962C8B-B14F-4D97-AF65-F5344CB8AC3E}">
        <p14:creationId xmlns:p14="http://schemas.microsoft.com/office/powerpoint/2010/main" val="24642925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275" name="Rectangle 11270">
            <a:extLst>
              <a:ext uri="{FF2B5EF4-FFF2-40B4-BE49-F238E27FC236}">
                <a16:creationId xmlns:a16="http://schemas.microsoft.com/office/drawing/2014/main" id="{5AC1364A-3E3D-4F0D-8776-78AF3A270D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D3EBC5A0-0490-1849-B7A1-3C6F63958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7501" y="329184"/>
            <a:ext cx="6755626" cy="1783080"/>
          </a:xfrm>
        </p:spPr>
        <p:txBody>
          <a:bodyPr anchor="b">
            <a:normAutofit/>
          </a:bodyPr>
          <a:lstStyle/>
          <a:p>
            <a:r>
              <a:rPr lang="sv-SE" sz="5400" noProof="0"/>
              <a:t>Preprocessing of data</a:t>
            </a:r>
            <a:endParaRPr lang="sv-SE" sz="5400"/>
          </a:p>
        </p:txBody>
      </p:sp>
      <p:pic>
        <p:nvPicPr>
          <p:cNvPr id="5" name="Bildobjekt 4">
            <a:extLst>
              <a:ext uri="{FF2B5EF4-FFF2-40B4-BE49-F238E27FC236}">
                <a16:creationId xmlns:a16="http://schemas.microsoft.com/office/drawing/2014/main" id="{A96F61FC-3700-2883-CC6B-FC6B7DDAEF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1309"/>
            <a:ext cx="4014216" cy="3744917"/>
          </a:xfrm>
          <a:prstGeom prst="rect">
            <a:avLst/>
          </a:prstGeom>
        </p:spPr>
      </p:pic>
      <p:sp>
        <p:nvSpPr>
          <p:cNvPr id="11276" name="sketchy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97494" y="2395728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F5C79810-FC79-A7DF-8288-B24CDCF703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20040" y="4974228"/>
            <a:ext cx="3995928" cy="449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48C11ED6-A44E-C04E-89A2-845BC4E7B9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7494" y="2706624"/>
            <a:ext cx="6755626" cy="3483864"/>
          </a:xfrm>
        </p:spPr>
        <p:txBody>
          <a:bodyPr>
            <a:normAutofit/>
          </a:bodyPr>
          <a:lstStyle/>
          <a:p>
            <a:r>
              <a:rPr lang="en-GB" sz="2200" noProof="0"/>
              <a:t>Remove data that is not physically possible </a:t>
            </a:r>
          </a:p>
        </p:txBody>
      </p:sp>
    </p:spTree>
    <p:extLst>
      <p:ext uri="{BB962C8B-B14F-4D97-AF65-F5344CB8AC3E}">
        <p14:creationId xmlns:p14="http://schemas.microsoft.com/office/powerpoint/2010/main" val="14196186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295" name="Rectangle 12294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CF331A4C-0188-8FAD-7705-218725D36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2" y="639193"/>
            <a:ext cx="3571810" cy="357351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100" kern="1200" noProof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Visualisation of data </a:t>
            </a:r>
            <a:endParaRPr lang="en-US" sz="51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2297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4409267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E9BCF741-1DB6-72E4-F138-84F76E525DC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654296" y="1485374"/>
            <a:ext cx="7214616" cy="3859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07700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DB1CE07C-B57B-6279-C652-32C86A8EE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Fit appropriate model</a:t>
            </a:r>
            <a:endParaRPr lang="en-US" sz="66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B937F7B5-F246-3A41-45D0-798E47D7A4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881" y="1809541"/>
            <a:ext cx="10909643" cy="68740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en-US" sz="20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 We fit a Weibull model, which incorporates a lag parameter.</a:t>
            </a:r>
            <a:br>
              <a:rPr lang="en-US" sz="20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endParaRPr lang="en-US" sz="20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Bildobjekt 6">
            <a:extLst>
              <a:ext uri="{FF2B5EF4-FFF2-40B4-BE49-F238E27FC236}">
                <a16:creationId xmlns:a16="http://schemas.microsoft.com/office/drawing/2014/main" id="{CFFC9986-3FA3-85CF-5CCC-98A6D22C42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3223293"/>
            <a:ext cx="11548872" cy="2406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99595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319" name="Rectangle 13318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70CD0322-9AA5-62A5-6803-1704440EA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sv-SE" sz="5400" noProof="0" dirty="0" err="1"/>
              <a:t>Analyse</a:t>
            </a:r>
            <a:r>
              <a:rPr lang="sv-SE" sz="5400" noProof="0" dirty="0"/>
              <a:t> output</a:t>
            </a:r>
            <a:endParaRPr lang="sv-SE" sz="5400" dirty="0"/>
          </a:p>
        </p:txBody>
      </p:sp>
      <p:sp>
        <p:nvSpPr>
          <p:cNvPr id="13321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E5BC4CE5-D1AD-7117-B935-4291BCE68B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r>
              <a:rPr lang="en-US" sz="2200"/>
              <a:t>The Weibull model shows:</a:t>
            </a:r>
            <a:endParaRPr lang="en-US" sz="2200" b="0">
              <a:effectLst/>
            </a:endParaRPr>
          </a:p>
          <a:p>
            <a:pPr fontAlgn="base"/>
            <a:r>
              <a:rPr lang="en-US" sz="2200"/>
              <a:t>Low standard errors</a:t>
            </a:r>
          </a:p>
          <a:p>
            <a:pPr fontAlgn="base"/>
            <a:r>
              <a:rPr lang="en-US" sz="2200"/>
              <a:t>Statistically significant p-values</a:t>
            </a:r>
          </a:p>
          <a:p>
            <a:pPr fontAlgn="base"/>
            <a:r>
              <a:rPr lang="en-US" sz="2200"/>
              <a:t>Low residuals</a:t>
            </a:r>
          </a:p>
          <a:p>
            <a:endParaRPr lang="sv-SE" sz="2200"/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9269440C-ECE4-D084-E198-F626BD3C30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099048" y="2221204"/>
            <a:ext cx="5458968" cy="2415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9341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45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77868BF7-8E8E-D997-66B6-24FF31F85C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Analyse output</a:t>
            </a:r>
          </a:p>
        </p:txBody>
      </p:sp>
      <p:pic>
        <p:nvPicPr>
          <p:cNvPr id="14340" name="Picture 4">
            <a:extLst>
              <a:ext uri="{FF2B5EF4-FFF2-40B4-BE49-F238E27FC236}">
                <a16:creationId xmlns:a16="http://schemas.microsoft.com/office/drawing/2014/main" id="{ECCBF823-6843-CEA2-3EB5-54B893CF799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777316" y="1571619"/>
            <a:ext cx="6780700" cy="3712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71272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374" name="Rectangle 15368">
            <a:extLst>
              <a:ext uri="{FF2B5EF4-FFF2-40B4-BE49-F238E27FC236}">
                <a16:creationId xmlns:a16="http://schemas.microsoft.com/office/drawing/2014/main" id="{96646FC9-C66D-4EC7-8310-0DD4ACC49C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5375" name="Rectangle 15370">
            <a:extLst>
              <a:ext uri="{FF2B5EF4-FFF2-40B4-BE49-F238E27FC236}">
                <a16:creationId xmlns:a16="http://schemas.microsoft.com/office/drawing/2014/main" id="{A3473CF9-37EB-43E7-89EF-D2D1C53D1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88FD91BD-26B5-4BD2-7C05-3611A0397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3121" y="310343"/>
            <a:ext cx="7985759" cy="86882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000" noProof="0"/>
              <a:t>Predict data with model </a:t>
            </a:r>
            <a:endParaRPr lang="en-US" sz="4000"/>
          </a:p>
        </p:txBody>
      </p:sp>
      <p:sp>
        <p:nvSpPr>
          <p:cNvPr id="15373" name="Rectangle: Rounded Corners 15372">
            <a:extLst>
              <a:ext uri="{FF2B5EF4-FFF2-40B4-BE49-F238E27FC236}">
                <a16:creationId xmlns:a16="http://schemas.microsoft.com/office/drawing/2014/main" id="{586B4EF9-43BA-4655-A6FF-1D8E21574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Avenir Next LT Pro"/>
            </a:endParaRPr>
          </a:p>
        </p:txBody>
      </p:sp>
      <p:pic>
        <p:nvPicPr>
          <p:cNvPr id="15364" name="Picture 4">
            <a:extLst>
              <a:ext uri="{FF2B5EF4-FFF2-40B4-BE49-F238E27FC236}">
                <a16:creationId xmlns:a16="http://schemas.microsoft.com/office/drawing/2014/main" id="{5B55F87F-4625-9EB2-3322-8D376581D7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5572" y="2620824"/>
            <a:ext cx="5596128" cy="3133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2" name="Picture 2">
            <a:extLst>
              <a:ext uri="{FF2B5EF4-FFF2-40B4-BE49-F238E27FC236}">
                <a16:creationId xmlns:a16="http://schemas.microsoft.com/office/drawing/2014/main" id="{85FE912A-9040-66F7-1963-8716749D46D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10302" y="3558175"/>
            <a:ext cx="5596128" cy="12591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274178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0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18D8B6B2-F50A-29E4-BC8E-086D01E12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7101" y="735283"/>
            <a:ext cx="4978399" cy="3165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500" kern="1200" noProof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Q3. In larger studies we normally depend on secondary parameters (such as half-life) rather than the time-dynamic profiles. For the fed state gastric emptying profile, how informative is half-life for describing the time-dynamics? Can you propose alternative secondary parameters? </a:t>
            </a:r>
          </a:p>
        </p:txBody>
      </p:sp>
      <p:pic>
        <p:nvPicPr>
          <p:cNvPr id="39" name="Graphic 25" descr="Arrow Circle">
            <a:extLst>
              <a:ext uri="{FF2B5EF4-FFF2-40B4-BE49-F238E27FC236}">
                <a16:creationId xmlns:a16="http://schemas.microsoft.com/office/drawing/2014/main" id="{02B9C287-DE52-FF11-86D1-165716DBDF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549" y="2776619"/>
            <a:ext cx="1289051" cy="1289051"/>
          </a:xfrm>
          <a:prstGeom prst="rect">
            <a:avLst/>
          </a:prstGeom>
        </p:spPr>
      </p:pic>
      <p:pic>
        <p:nvPicPr>
          <p:cNvPr id="28" name="Graphic 27" descr="Arrow Circle">
            <a:extLst>
              <a:ext uri="{FF2B5EF4-FFF2-40B4-BE49-F238E27FC236}">
                <a16:creationId xmlns:a16="http://schemas.microsoft.com/office/drawing/2014/main" id="{75C8B926-85A4-4708-8FAD-23D5E3301B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38369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27FB6466-43F5-94D4-17A2-8AD5B6E3D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sz="3700" dirty="0">
                <a:solidFill>
                  <a:srgbClr val="FFFFFF"/>
                </a:solidFill>
              </a:rPr>
              <a:t>half-life is not always informative for the fed state </a:t>
            </a:r>
            <a:endParaRPr lang="sv-SE" sz="3700" dirty="0">
              <a:solidFill>
                <a:srgbClr val="FFFFFF"/>
              </a:solidFill>
            </a:endParaRPr>
          </a:p>
        </p:txBody>
      </p:sp>
      <p:graphicFrame>
        <p:nvGraphicFramePr>
          <p:cNvPr id="12" name="Platshållare för innehåll 2">
            <a:extLst>
              <a:ext uri="{FF2B5EF4-FFF2-40B4-BE49-F238E27FC236}">
                <a16:creationId xmlns:a16="http://schemas.microsoft.com/office/drawing/2014/main" id="{227ED15F-52B1-4860-B90D-823DEBE738A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86594890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460003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393" name="Rectangle 16392">
            <a:extLst>
              <a:ext uri="{FF2B5EF4-FFF2-40B4-BE49-F238E27FC236}">
                <a16:creationId xmlns:a16="http://schemas.microsoft.com/office/drawing/2014/main" id="{04695F26-39DB-450E-B464-9C76CD233B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95" name="Rectangle 16394">
            <a:extLst>
              <a:ext uri="{FF2B5EF4-FFF2-40B4-BE49-F238E27FC236}">
                <a16:creationId xmlns:a16="http://schemas.microsoft.com/office/drawing/2014/main" id="{2F42E55F-A297-474F-AF2D-6D3A15822B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9611" y="-1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17C2DDB1-12CD-5477-C191-103CEF1EC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338328"/>
            <a:ext cx="5011473" cy="1773936"/>
          </a:xfrm>
        </p:spPr>
        <p:txBody>
          <a:bodyPr>
            <a:normAutofit/>
          </a:bodyPr>
          <a:lstStyle/>
          <a:p>
            <a:r>
              <a:rPr lang="sv-SE" sz="3600">
                <a:solidFill>
                  <a:schemeClr val="tx2"/>
                </a:solidFill>
              </a:rPr>
              <a:t>Comparing half life </a:t>
            </a:r>
          </a:p>
        </p:txBody>
      </p:sp>
      <p:grpSp>
        <p:nvGrpSpPr>
          <p:cNvPr id="16397" name="Group 16396">
            <a:extLst>
              <a:ext uri="{FF2B5EF4-FFF2-40B4-BE49-F238E27FC236}">
                <a16:creationId xmlns:a16="http://schemas.microsoft.com/office/drawing/2014/main" id="{972070F7-E065-4D60-8938-9FB8CDB8AC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 flipH="1">
            <a:off x="-179919" y="170310"/>
            <a:ext cx="2514948" cy="2174333"/>
            <a:chOff x="-305" y="-4155"/>
            <a:chExt cx="2514948" cy="2174333"/>
          </a:xfrm>
        </p:grpSpPr>
        <p:sp>
          <p:nvSpPr>
            <p:cNvPr id="16398" name="Freeform: Shape 16397">
              <a:extLst>
                <a:ext uri="{FF2B5EF4-FFF2-40B4-BE49-F238E27FC236}">
                  <a16:creationId xmlns:a16="http://schemas.microsoft.com/office/drawing/2014/main" id="{4F672C03-E63A-4F6B-96BD-0C4E3F1B82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99" name="Freeform: Shape 16398">
              <a:extLst>
                <a:ext uri="{FF2B5EF4-FFF2-40B4-BE49-F238E27FC236}">
                  <a16:creationId xmlns:a16="http://schemas.microsoft.com/office/drawing/2014/main" id="{9BB94CDF-5C33-4B0A-B53F-50762639C1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00" name="Freeform: Shape 16399">
              <a:extLst>
                <a:ext uri="{FF2B5EF4-FFF2-40B4-BE49-F238E27FC236}">
                  <a16:creationId xmlns:a16="http://schemas.microsoft.com/office/drawing/2014/main" id="{D3C92F9D-544D-4691-94A7-B937CF4BE3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16401" name="Freeform: Shape 16400">
              <a:extLst>
                <a:ext uri="{FF2B5EF4-FFF2-40B4-BE49-F238E27FC236}">
                  <a16:creationId xmlns:a16="http://schemas.microsoft.com/office/drawing/2014/main" id="{DCA4DEE4-B7B4-47F4-A9C5-31AED8369A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7122FEDA-DEB6-F5C9-6488-A230C9916F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5641" y="338328"/>
            <a:ext cx="5029200" cy="1773936"/>
          </a:xfrm>
        </p:spPr>
        <p:txBody>
          <a:bodyPr anchor="ctr">
            <a:normAutofit/>
          </a:bodyPr>
          <a:lstStyle/>
          <a:p>
            <a:pPr fontAlgn="base"/>
            <a:r>
              <a:rPr lang="sv-SE" sz="1800" b="1">
                <a:solidFill>
                  <a:schemeClr val="tx2"/>
                </a:solidFill>
              </a:rPr>
              <a:t>T₁/₂ (fasted):</a:t>
            </a:r>
            <a:r>
              <a:rPr lang="sv-SE" sz="1800">
                <a:solidFill>
                  <a:schemeClr val="tx2"/>
                </a:solidFill>
              </a:rPr>
              <a:t> 15.7</a:t>
            </a:r>
          </a:p>
          <a:p>
            <a:r>
              <a:rPr lang="sv-SE" sz="1800" b="1">
                <a:solidFill>
                  <a:schemeClr val="tx2"/>
                </a:solidFill>
              </a:rPr>
              <a:t>T₁/₂ (fed):</a:t>
            </a:r>
            <a:r>
              <a:rPr lang="sv-SE" sz="1800">
                <a:solidFill>
                  <a:schemeClr val="tx2"/>
                </a:solidFill>
              </a:rPr>
              <a:t> 30.2</a:t>
            </a:r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201A067B-E1EA-33F0-738E-CAF22BC3E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99051" y="3364198"/>
            <a:ext cx="4708256" cy="2695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B2F38033-853E-5A47-ECCC-0E1F7814EF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419685" y="3364198"/>
            <a:ext cx="5038271" cy="2695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01981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445" name="Rectangle 17444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52055E66-7140-3E56-CBC4-7E5974C3B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/>
              <a:t>Example of another parameter</a:t>
            </a:r>
          </a:p>
        </p:txBody>
      </p:sp>
      <p:sp>
        <p:nvSpPr>
          <p:cNvPr id="17447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AD4E6F6A-9F32-160D-0E37-F093BC7C68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6894576" cy="3483864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200" dirty="0"/>
              <a:t>T-lag25- time until 25% of gastric volume is emptied</a:t>
            </a:r>
          </a:p>
        </p:txBody>
      </p:sp>
      <p:pic>
        <p:nvPicPr>
          <p:cNvPr id="17410" name="Picture 2">
            <a:extLst>
              <a:ext uri="{FF2B5EF4-FFF2-40B4-BE49-F238E27FC236}">
                <a16:creationId xmlns:a16="http://schemas.microsoft.com/office/drawing/2014/main" id="{BDAEACB6-BB56-68AE-ABAF-9D29E7E199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863840" y="1677870"/>
            <a:ext cx="4014216" cy="73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412" name="Picture 4">
            <a:extLst>
              <a:ext uri="{FF2B5EF4-FFF2-40B4-BE49-F238E27FC236}">
                <a16:creationId xmlns:a16="http://schemas.microsoft.com/office/drawing/2014/main" id="{956AD1B4-B9E2-8524-3294-85F62309F4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863840" y="4847655"/>
            <a:ext cx="3995928" cy="639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36565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9A320C9-9735-4D13-8279-C1C6748413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92544CF4-9B52-4A7B-A4B3-88C72729B7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7126"/>
            <a:ext cx="11167447" cy="2018806"/>
          </a:xfrm>
          <a:prstGeom prst="rect">
            <a:avLst/>
          </a:prstGeom>
          <a:ln w="9525">
            <a:solidFill>
              <a:srgbClr val="DEDEDE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E75862C5-5C00-4421-BC7B-9B7B86DBC8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49E91935-C94D-5F65-C288-95167FA35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sv-SE" sz="4000"/>
              <a:t>Other paramter examples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9440EF-9BE9-4AE9-8C28-00B02296CD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Platshållare för innehåll 2">
            <a:extLst>
              <a:ext uri="{FF2B5EF4-FFF2-40B4-BE49-F238E27FC236}">
                <a16:creationId xmlns:a16="http://schemas.microsoft.com/office/drawing/2014/main" id="{A0C2EBF7-4983-64BC-C879-F7A6796B365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55627081"/>
              </p:ext>
            </p:extLst>
          </p:nvPr>
        </p:nvGraphicFramePr>
        <p:xfrm>
          <a:off x="1115568" y="2269730"/>
          <a:ext cx="10168128" cy="39939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194194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56E9B3E6-E277-4D68-BA48-9CB43FFBD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" name="Group 10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2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76ECC2FF-5CE1-ADA4-87E7-2558050CD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10173010" cy="1554480"/>
          </a:xfrm>
        </p:spPr>
        <p:txBody>
          <a:bodyPr anchor="ctr">
            <a:normAutofit/>
          </a:bodyPr>
          <a:lstStyle/>
          <a:p>
            <a:r>
              <a:rPr lang="sv-SE" sz="4800" noProof="0" dirty="0" err="1"/>
              <a:t>Conclusion</a:t>
            </a:r>
            <a:r>
              <a:rPr lang="sv-SE" sz="4800" noProof="0" dirty="0"/>
              <a:t> 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0" name="Platshållare för innehåll 2">
            <a:extLst>
              <a:ext uri="{FF2B5EF4-FFF2-40B4-BE49-F238E27FC236}">
                <a16:creationId xmlns:a16="http://schemas.microsoft.com/office/drawing/2014/main" id="{325CC2EA-E96B-F8F3-AAA7-E7F10B6462E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24386447"/>
              </p:ext>
            </p:extLst>
          </p:nvPr>
        </p:nvGraphicFramePr>
        <p:xfrm>
          <a:off x="904602" y="3017519"/>
          <a:ext cx="10378440" cy="32099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22667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278</TotalTime>
  <Words>474</Words>
  <Application>Microsoft Office PowerPoint</Application>
  <PresentationFormat>Bredbild</PresentationFormat>
  <Paragraphs>71</Paragraphs>
  <Slides>25</Slides>
  <Notes>0</Notes>
  <HiddenSlides>0</HiddenSlides>
  <MMClips>0</MMClips>
  <ScaleCrop>false</ScaleCrop>
  <HeadingPairs>
    <vt:vector size="6" baseType="variant">
      <vt:variant>
        <vt:lpstr>Använt teckensnitt</vt:lpstr>
      </vt:variant>
      <vt:variant>
        <vt:i4>5</vt:i4>
      </vt:variant>
      <vt:variant>
        <vt:lpstr>Tema</vt:lpstr>
      </vt:variant>
      <vt:variant>
        <vt:i4>1</vt:i4>
      </vt:variant>
      <vt:variant>
        <vt:lpstr>Bildrubriker</vt:lpstr>
      </vt:variant>
      <vt:variant>
        <vt:i4>25</vt:i4>
      </vt:variant>
    </vt:vector>
  </HeadingPairs>
  <TitlesOfParts>
    <vt:vector size="31" baseType="lpstr">
      <vt:lpstr>Aptos</vt:lpstr>
      <vt:lpstr>Aptos Display</vt:lpstr>
      <vt:lpstr>Arial</vt:lpstr>
      <vt:lpstr>Avenir Next LT Pro</vt:lpstr>
      <vt:lpstr>Calibri</vt:lpstr>
      <vt:lpstr>Office-tema</vt:lpstr>
      <vt:lpstr>Task 2 – Seminar 2</vt:lpstr>
      <vt:lpstr>Q1. Model fasted gastric emptying (GE_fasted) to determine the rate and half-life of gastric emptying.  </vt:lpstr>
      <vt:lpstr>Visualisation </vt:lpstr>
      <vt:lpstr>Fit appropriate model </vt:lpstr>
      <vt:lpstr> Analyse output </vt:lpstr>
      <vt:lpstr> Analyse output </vt:lpstr>
      <vt:lpstr>Predict data with model </vt:lpstr>
      <vt:lpstr>Determine parameters </vt:lpstr>
      <vt:lpstr>Alternative approach? </vt:lpstr>
      <vt:lpstr>Alternative approach? </vt:lpstr>
      <vt:lpstr>Alternative approach? </vt:lpstr>
      <vt:lpstr>Comparing models </vt:lpstr>
      <vt:lpstr>  Q2. Model the fed state gastric emptying profile.  </vt:lpstr>
      <vt:lpstr>Preprocessing of data</vt:lpstr>
      <vt:lpstr>Visualisation of data </vt:lpstr>
      <vt:lpstr>Fit appropriate model</vt:lpstr>
      <vt:lpstr>Analyse output</vt:lpstr>
      <vt:lpstr>Analyse output</vt:lpstr>
      <vt:lpstr>Predict data with model </vt:lpstr>
      <vt:lpstr>Q3. In larger studies we normally depend on secondary parameters (such as half-life) rather than the time-dynamic profiles. For the fed state gastric emptying profile, how informative is half-life for describing the time-dynamics? Can you propose alternative secondary parameters? </vt:lpstr>
      <vt:lpstr>half-life is not always informative for the fed state </vt:lpstr>
      <vt:lpstr>Comparing half life </vt:lpstr>
      <vt:lpstr>Example of another parameter</vt:lpstr>
      <vt:lpstr>Other paramter examples</vt:lpstr>
      <vt:lpstr>Conclusion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Mert Affan</dc:creator>
  <cp:lastModifiedBy>Mert Affan</cp:lastModifiedBy>
  <cp:revision>4</cp:revision>
  <dcterms:created xsi:type="dcterms:W3CDTF">2025-10-06T13:50:38Z</dcterms:created>
  <dcterms:modified xsi:type="dcterms:W3CDTF">2025-10-09T11:12:38Z</dcterms:modified>
</cp:coreProperties>
</file>